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7d6fa5dcbab00f4838647a6358433f8bdc0bbef6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4238" b="3423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2C3138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458913"/>
            <a:ext cx="2657475" cy="495300"/>
          </a:xfrm>
          <a:custGeom>
            <a:avLst/>
            <a:gdLst/>
            <a:ahLst/>
            <a:cxnLst/>
            <a:rect l="l" t="t" r="r" b="b"/>
            <a:pathLst>
              <a:path w="2657475" h="495300">
                <a:moveTo>
                  <a:pt x="0" y="0"/>
                </a:moveTo>
                <a:lnTo>
                  <a:pt x="2657475" y="0"/>
                </a:lnTo>
                <a:lnTo>
                  <a:pt x="2657475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A99A8D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458913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" name="Text 3"/>
          <p:cNvSpPr/>
          <p:nvPr/>
        </p:nvSpPr>
        <p:spPr>
          <a:xfrm>
            <a:off x="647700" y="1573213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259013"/>
            <a:ext cx="1188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Shopping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92613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Insights for Business Growth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902325"/>
            <a:ext cx="11430000" cy="6350"/>
          </a:xfrm>
          <a:custGeom>
            <a:avLst/>
            <a:gdLst/>
            <a:ahLst/>
            <a:cxnLst/>
            <a:rect l="l" t="t" r="r" b="b"/>
            <a:pathLst>
              <a:path w="11430000" h="6350">
                <a:moveTo>
                  <a:pt x="0" y="0"/>
                </a:moveTo>
                <a:lnTo>
                  <a:pt x="11430000" y="0"/>
                </a:lnTo>
                <a:lnTo>
                  <a:pt x="11430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5E6D55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23863" y="6229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1" name="Text 8"/>
          <p:cNvSpPr/>
          <p:nvPr/>
        </p:nvSpPr>
        <p:spPr>
          <a:xfrm>
            <a:off x="781050" y="6210300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3,900 Transactions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01528" y="6229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3" name="Text 10"/>
          <p:cNvSpPr/>
          <p:nvPr/>
        </p:nvSpPr>
        <p:spPr>
          <a:xfrm>
            <a:off x="3073003" y="62103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 Data Points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19513" y="62293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5" name="Text 12"/>
          <p:cNvSpPr/>
          <p:nvPr/>
        </p:nvSpPr>
        <p:spPr>
          <a:xfrm>
            <a:off x="4919564" y="6210300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48665" y="621030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January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318" y="362318"/>
            <a:ext cx="11548886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b="1" spc="128" kern="0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2318" y="724636"/>
            <a:ext cx="11739103" cy="54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79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434" y="1557967"/>
            <a:ext cx="5606871" cy="1956517"/>
          </a:xfrm>
          <a:custGeom>
            <a:avLst/>
            <a:gdLst/>
            <a:ahLst/>
            <a:cxnLst/>
            <a:rect l="l" t="t" r="r" b="b"/>
            <a:pathLst>
              <a:path w="5606871" h="1956517">
                <a:moveTo>
                  <a:pt x="36232" y="0"/>
                </a:moveTo>
                <a:lnTo>
                  <a:pt x="5534401" y="0"/>
                </a:lnTo>
                <a:cubicBezTo>
                  <a:pt x="5574425" y="0"/>
                  <a:pt x="5606871" y="32446"/>
                  <a:pt x="5606871" y="72469"/>
                </a:cubicBezTo>
                <a:lnTo>
                  <a:pt x="5606871" y="1884048"/>
                </a:lnTo>
                <a:cubicBezTo>
                  <a:pt x="5606871" y="1924071"/>
                  <a:pt x="5574425" y="1956517"/>
                  <a:pt x="5534401" y="1956517"/>
                </a:cubicBezTo>
                <a:lnTo>
                  <a:pt x="36232" y="1956517"/>
                </a:lnTo>
                <a:cubicBezTo>
                  <a:pt x="16222" y="1956517"/>
                  <a:pt x="0" y="1940296"/>
                  <a:pt x="0" y="1920285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5" name="Shape 3"/>
          <p:cNvSpPr/>
          <p:nvPr/>
        </p:nvSpPr>
        <p:spPr>
          <a:xfrm>
            <a:off x="380434" y="1557967"/>
            <a:ext cx="36232" cy="1956517"/>
          </a:xfrm>
          <a:custGeom>
            <a:avLst/>
            <a:gdLst/>
            <a:ahLst/>
            <a:cxnLst/>
            <a:rect l="l" t="t" r="r" b="b"/>
            <a:pathLst>
              <a:path w="36232" h="1956517">
                <a:moveTo>
                  <a:pt x="36232" y="0"/>
                </a:moveTo>
                <a:lnTo>
                  <a:pt x="36232" y="0"/>
                </a:lnTo>
                <a:lnTo>
                  <a:pt x="36232" y="1956517"/>
                </a:lnTo>
                <a:lnTo>
                  <a:pt x="36232" y="1956517"/>
                </a:lnTo>
                <a:cubicBezTo>
                  <a:pt x="16222" y="1956517"/>
                  <a:pt x="0" y="1940296"/>
                  <a:pt x="0" y="1920285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" name="Shape 4"/>
          <p:cNvSpPr/>
          <p:nvPr/>
        </p:nvSpPr>
        <p:spPr>
          <a:xfrm>
            <a:off x="615941" y="1775358"/>
            <a:ext cx="579709" cy="579709"/>
          </a:xfrm>
          <a:custGeom>
            <a:avLst/>
            <a:gdLst/>
            <a:ahLst/>
            <a:cxnLst/>
            <a:rect l="l" t="t" r="r" b="b"/>
            <a:pathLst>
              <a:path w="579709" h="579709">
                <a:moveTo>
                  <a:pt x="72464" y="0"/>
                </a:moveTo>
                <a:lnTo>
                  <a:pt x="507245" y="0"/>
                </a:lnTo>
                <a:cubicBezTo>
                  <a:pt x="547266" y="0"/>
                  <a:pt x="579709" y="32443"/>
                  <a:pt x="579709" y="72464"/>
                </a:cubicBezTo>
                <a:lnTo>
                  <a:pt x="579709" y="507245"/>
                </a:lnTo>
                <a:cubicBezTo>
                  <a:pt x="579709" y="547266"/>
                  <a:pt x="547266" y="579709"/>
                  <a:pt x="507245" y="579709"/>
                </a:cubicBezTo>
                <a:lnTo>
                  <a:pt x="72464" y="579709"/>
                </a:lnTo>
                <a:cubicBezTo>
                  <a:pt x="32443" y="579709"/>
                  <a:pt x="0" y="547266"/>
                  <a:pt x="0" y="507245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7" name="Text 5"/>
          <p:cNvSpPr/>
          <p:nvPr/>
        </p:nvSpPr>
        <p:spPr>
          <a:xfrm>
            <a:off x="548006" y="1775358"/>
            <a:ext cx="715578" cy="57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0577" y="1775358"/>
            <a:ext cx="4538033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Context &amp;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0577" y="2173908"/>
            <a:ext cx="4510859" cy="79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4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changing customer purchasing patterns and identifying factors that drive consumer decisions and repeat purchases.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58692" y="3113670"/>
            <a:ext cx="144927" cy="144927"/>
          </a:xfrm>
          <a:custGeom>
            <a:avLst/>
            <a:gdLst/>
            <a:ahLst/>
            <a:cxnLst/>
            <a:rect l="l" t="t" r="r" b="b"/>
            <a:pathLst>
              <a:path w="144927" h="144927">
                <a:moveTo>
                  <a:pt x="126811" y="72464"/>
                </a:moveTo>
                <a:cubicBezTo>
                  <a:pt x="126811" y="42468"/>
                  <a:pt x="102459" y="18116"/>
                  <a:pt x="72464" y="18116"/>
                </a:cubicBezTo>
                <a:cubicBezTo>
                  <a:pt x="42468" y="18116"/>
                  <a:pt x="18116" y="42468"/>
                  <a:pt x="18116" y="72464"/>
                </a:cubicBezTo>
                <a:cubicBezTo>
                  <a:pt x="18116" y="102459"/>
                  <a:pt x="42468" y="126811"/>
                  <a:pt x="72464" y="126811"/>
                </a:cubicBezTo>
                <a:cubicBezTo>
                  <a:pt x="102459" y="126811"/>
                  <a:pt x="126811" y="102459"/>
                  <a:pt x="126811" y="72464"/>
                </a:cubicBezTo>
                <a:close/>
                <a:moveTo>
                  <a:pt x="0" y="72464"/>
                </a:moveTo>
                <a:cubicBezTo>
                  <a:pt x="0" y="32470"/>
                  <a:pt x="32470" y="0"/>
                  <a:pt x="72464" y="0"/>
                </a:cubicBezTo>
                <a:cubicBezTo>
                  <a:pt x="112457" y="0"/>
                  <a:pt x="144927" y="32470"/>
                  <a:pt x="144927" y="72464"/>
                </a:cubicBezTo>
                <a:cubicBezTo>
                  <a:pt x="144927" y="112457"/>
                  <a:pt x="112457" y="144927"/>
                  <a:pt x="72464" y="144927"/>
                </a:cubicBezTo>
                <a:cubicBezTo>
                  <a:pt x="32470" y="144927"/>
                  <a:pt x="0" y="112457"/>
                  <a:pt x="0" y="72464"/>
                </a:cubicBezTo>
                <a:close/>
                <a:moveTo>
                  <a:pt x="72464" y="95108"/>
                </a:moveTo>
                <a:cubicBezTo>
                  <a:pt x="84962" y="95108"/>
                  <a:pt x="95108" y="84962"/>
                  <a:pt x="95108" y="72464"/>
                </a:cubicBezTo>
                <a:cubicBezTo>
                  <a:pt x="95108" y="59966"/>
                  <a:pt x="84962" y="49819"/>
                  <a:pt x="72464" y="49819"/>
                </a:cubicBezTo>
                <a:cubicBezTo>
                  <a:pt x="59966" y="49819"/>
                  <a:pt x="49819" y="59966"/>
                  <a:pt x="49819" y="72464"/>
                </a:cubicBezTo>
                <a:cubicBezTo>
                  <a:pt x="49819" y="84962"/>
                  <a:pt x="59966" y="95108"/>
                  <a:pt x="72464" y="95108"/>
                </a:cubicBezTo>
                <a:close/>
                <a:moveTo>
                  <a:pt x="72464" y="31703"/>
                </a:moveTo>
                <a:cubicBezTo>
                  <a:pt x="94960" y="31703"/>
                  <a:pt x="113224" y="49967"/>
                  <a:pt x="113224" y="72464"/>
                </a:cubicBezTo>
                <a:cubicBezTo>
                  <a:pt x="113224" y="94960"/>
                  <a:pt x="94960" y="113224"/>
                  <a:pt x="72464" y="113224"/>
                </a:cubicBezTo>
                <a:cubicBezTo>
                  <a:pt x="49967" y="113224"/>
                  <a:pt x="31703" y="94960"/>
                  <a:pt x="31703" y="72464"/>
                </a:cubicBezTo>
                <a:cubicBezTo>
                  <a:pt x="31703" y="49967"/>
                  <a:pt x="49967" y="31703"/>
                  <a:pt x="72464" y="31703"/>
                </a:cubicBezTo>
                <a:close/>
                <a:moveTo>
                  <a:pt x="63406" y="72464"/>
                </a:moveTo>
                <a:cubicBezTo>
                  <a:pt x="63406" y="67464"/>
                  <a:pt x="67464" y="63406"/>
                  <a:pt x="72464" y="63406"/>
                </a:cubicBezTo>
                <a:cubicBezTo>
                  <a:pt x="77463" y="63406"/>
                  <a:pt x="81522" y="67464"/>
                  <a:pt x="81522" y="72464"/>
                </a:cubicBezTo>
                <a:cubicBezTo>
                  <a:pt x="81522" y="77463"/>
                  <a:pt x="77463" y="81522"/>
                  <a:pt x="72464" y="81522"/>
                </a:cubicBezTo>
                <a:cubicBezTo>
                  <a:pt x="67464" y="81522"/>
                  <a:pt x="63406" y="77463"/>
                  <a:pt x="63406" y="72464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1" name="Text 9"/>
          <p:cNvSpPr/>
          <p:nvPr/>
        </p:nvSpPr>
        <p:spPr>
          <a:xfrm>
            <a:off x="1594199" y="3077438"/>
            <a:ext cx="1023548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Focus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21774" y="1557967"/>
            <a:ext cx="5606871" cy="1956517"/>
          </a:xfrm>
          <a:custGeom>
            <a:avLst/>
            <a:gdLst/>
            <a:ahLst/>
            <a:cxnLst/>
            <a:rect l="l" t="t" r="r" b="b"/>
            <a:pathLst>
              <a:path w="5606871" h="1956517">
                <a:moveTo>
                  <a:pt x="36232" y="0"/>
                </a:moveTo>
                <a:lnTo>
                  <a:pt x="5534401" y="0"/>
                </a:lnTo>
                <a:cubicBezTo>
                  <a:pt x="5574425" y="0"/>
                  <a:pt x="5606871" y="32446"/>
                  <a:pt x="5606871" y="72469"/>
                </a:cubicBezTo>
                <a:lnTo>
                  <a:pt x="5606871" y="1884048"/>
                </a:lnTo>
                <a:cubicBezTo>
                  <a:pt x="5606871" y="1924071"/>
                  <a:pt x="5574425" y="1956517"/>
                  <a:pt x="5534401" y="1956517"/>
                </a:cubicBezTo>
                <a:lnTo>
                  <a:pt x="36232" y="1956517"/>
                </a:lnTo>
                <a:cubicBezTo>
                  <a:pt x="16222" y="1956517"/>
                  <a:pt x="0" y="1940296"/>
                  <a:pt x="0" y="1920285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1774" y="1557967"/>
            <a:ext cx="36232" cy="1956517"/>
          </a:xfrm>
          <a:custGeom>
            <a:avLst/>
            <a:gdLst/>
            <a:ahLst/>
            <a:cxnLst/>
            <a:rect l="l" t="t" r="r" b="b"/>
            <a:pathLst>
              <a:path w="36232" h="1956517">
                <a:moveTo>
                  <a:pt x="36232" y="0"/>
                </a:moveTo>
                <a:lnTo>
                  <a:pt x="36232" y="0"/>
                </a:lnTo>
                <a:lnTo>
                  <a:pt x="36232" y="1956517"/>
                </a:lnTo>
                <a:lnTo>
                  <a:pt x="36232" y="1956517"/>
                </a:lnTo>
                <a:cubicBezTo>
                  <a:pt x="16222" y="1956517"/>
                  <a:pt x="0" y="1940296"/>
                  <a:pt x="0" y="1920285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57280" y="1775358"/>
            <a:ext cx="579709" cy="579709"/>
          </a:xfrm>
          <a:custGeom>
            <a:avLst/>
            <a:gdLst/>
            <a:ahLst/>
            <a:cxnLst/>
            <a:rect l="l" t="t" r="r" b="b"/>
            <a:pathLst>
              <a:path w="579709" h="579709">
                <a:moveTo>
                  <a:pt x="72464" y="0"/>
                </a:moveTo>
                <a:lnTo>
                  <a:pt x="507245" y="0"/>
                </a:lnTo>
                <a:cubicBezTo>
                  <a:pt x="547266" y="0"/>
                  <a:pt x="579709" y="32443"/>
                  <a:pt x="579709" y="72464"/>
                </a:cubicBezTo>
                <a:lnTo>
                  <a:pt x="579709" y="507245"/>
                </a:lnTo>
                <a:cubicBezTo>
                  <a:pt x="579709" y="547266"/>
                  <a:pt x="547266" y="579709"/>
                  <a:pt x="507245" y="579709"/>
                </a:cubicBezTo>
                <a:lnTo>
                  <a:pt x="72464" y="579709"/>
                </a:lnTo>
                <a:cubicBezTo>
                  <a:pt x="32443" y="579709"/>
                  <a:pt x="0" y="547266"/>
                  <a:pt x="0" y="507245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5" name="Text 13"/>
          <p:cNvSpPr/>
          <p:nvPr/>
        </p:nvSpPr>
        <p:spPr>
          <a:xfrm>
            <a:off x="6389346" y="1775358"/>
            <a:ext cx="715578" cy="57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0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81916" y="1775358"/>
            <a:ext cx="4538033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Foundation &amp; Methodology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81916" y="2173908"/>
            <a:ext cx="4510859" cy="53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4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 of 3,900 transactions using Python, SQL, and Power BI to extract actionable business insights.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00032" y="2848725"/>
            <a:ext cx="144927" cy="144927"/>
          </a:xfrm>
          <a:custGeom>
            <a:avLst/>
            <a:gdLst/>
            <a:ahLst/>
            <a:cxnLst/>
            <a:rect l="l" t="t" r="r" b="b"/>
            <a:pathLst>
              <a:path w="144927" h="144927">
                <a:moveTo>
                  <a:pt x="49819" y="0"/>
                </a:moveTo>
                <a:cubicBezTo>
                  <a:pt x="42318" y="0"/>
                  <a:pt x="36232" y="6086"/>
                  <a:pt x="36232" y="13587"/>
                </a:cubicBezTo>
                <a:lnTo>
                  <a:pt x="36232" y="72464"/>
                </a:lnTo>
                <a:cubicBezTo>
                  <a:pt x="36232" y="79965"/>
                  <a:pt x="42318" y="86051"/>
                  <a:pt x="49819" y="86051"/>
                </a:cubicBezTo>
                <a:lnTo>
                  <a:pt x="67935" y="86051"/>
                </a:lnTo>
                <a:cubicBezTo>
                  <a:pt x="75436" y="86051"/>
                  <a:pt x="81522" y="79965"/>
                  <a:pt x="81522" y="72464"/>
                </a:cubicBezTo>
                <a:lnTo>
                  <a:pt x="81522" y="54348"/>
                </a:lnTo>
                <a:lnTo>
                  <a:pt x="90579" y="54348"/>
                </a:lnTo>
                <a:cubicBezTo>
                  <a:pt x="110592" y="54348"/>
                  <a:pt x="126811" y="70567"/>
                  <a:pt x="126811" y="90579"/>
                </a:cubicBezTo>
                <a:cubicBezTo>
                  <a:pt x="126811" y="110592"/>
                  <a:pt x="110592" y="126811"/>
                  <a:pt x="90579" y="126811"/>
                </a:cubicBezTo>
                <a:lnTo>
                  <a:pt x="9058" y="126811"/>
                </a:lnTo>
                <a:cubicBezTo>
                  <a:pt x="4048" y="126811"/>
                  <a:pt x="0" y="130859"/>
                  <a:pt x="0" y="135869"/>
                </a:cubicBezTo>
                <a:cubicBezTo>
                  <a:pt x="0" y="140879"/>
                  <a:pt x="4048" y="144927"/>
                  <a:pt x="9058" y="144927"/>
                </a:cubicBezTo>
                <a:lnTo>
                  <a:pt x="135869" y="144927"/>
                </a:lnTo>
                <a:cubicBezTo>
                  <a:pt x="140879" y="144927"/>
                  <a:pt x="144927" y="140879"/>
                  <a:pt x="144927" y="135869"/>
                </a:cubicBezTo>
                <a:cubicBezTo>
                  <a:pt x="144927" y="130859"/>
                  <a:pt x="140879" y="126811"/>
                  <a:pt x="135869" y="126811"/>
                </a:cubicBezTo>
                <a:lnTo>
                  <a:pt x="131086" y="126811"/>
                </a:lnTo>
                <a:cubicBezTo>
                  <a:pt x="139691" y="117187"/>
                  <a:pt x="144927" y="104506"/>
                  <a:pt x="144927" y="90579"/>
                </a:cubicBezTo>
                <a:cubicBezTo>
                  <a:pt x="144927" y="60575"/>
                  <a:pt x="120584" y="36232"/>
                  <a:pt x="90579" y="36232"/>
                </a:cubicBezTo>
                <a:lnTo>
                  <a:pt x="81522" y="36232"/>
                </a:lnTo>
                <a:lnTo>
                  <a:pt x="81522" y="13587"/>
                </a:lnTo>
                <a:cubicBezTo>
                  <a:pt x="81522" y="6086"/>
                  <a:pt x="75436" y="0"/>
                  <a:pt x="67935" y="0"/>
                </a:cubicBezTo>
                <a:lnTo>
                  <a:pt x="49819" y="0"/>
                </a:lnTo>
                <a:close/>
                <a:moveTo>
                  <a:pt x="33967" y="99637"/>
                </a:moveTo>
                <a:cubicBezTo>
                  <a:pt x="30203" y="99637"/>
                  <a:pt x="27174" y="102666"/>
                  <a:pt x="27174" y="106431"/>
                </a:cubicBezTo>
                <a:cubicBezTo>
                  <a:pt x="27174" y="110196"/>
                  <a:pt x="30203" y="113224"/>
                  <a:pt x="33967" y="113224"/>
                </a:cubicBezTo>
                <a:lnTo>
                  <a:pt x="83786" y="113224"/>
                </a:lnTo>
                <a:cubicBezTo>
                  <a:pt x="87551" y="113224"/>
                  <a:pt x="90579" y="110196"/>
                  <a:pt x="90579" y="106431"/>
                </a:cubicBezTo>
                <a:cubicBezTo>
                  <a:pt x="90579" y="102666"/>
                  <a:pt x="87551" y="99637"/>
                  <a:pt x="83786" y="99637"/>
                </a:cubicBezTo>
                <a:lnTo>
                  <a:pt x="33967" y="99637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9" name="Text 17"/>
          <p:cNvSpPr/>
          <p:nvPr/>
        </p:nvSpPr>
        <p:spPr>
          <a:xfrm>
            <a:off x="7435539" y="2812493"/>
            <a:ext cx="1041664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Rigor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0434" y="3729611"/>
            <a:ext cx="5606871" cy="1956517"/>
          </a:xfrm>
          <a:custGeom>
            <a:avLst/>
            <a:gdLst/>
            <a:ahLst/>
            <a:cxnLst/>
            <a:rect l="l" t="t" r="r" b="b"/>
            <a:pathLst>
              <a:path w="5606871" h="1956517">
                <a:moveTo>
                  <a:pt x="36232" y="0"/>
                </a:moveTo>
                <a:lnTo>
                  <a:pt x="5534401" y="0"/>
                </a:lnTo>
                <a:cubicBezTo>
                  <a:pt x="5574425" y="0"/>
                  <a:pt x="5606871" y="32446"/>
                  <a:pt x="5606871" y="72469"/>
                </a:cubicBezTo>
                <a:lnTo>
                  <a:pt x="5606871" y="1884048"/>
                </a:lnTo>
                <a:cubicBezTo>
                  <a:pt x="5606871" y="1924071"/>
                  <a:pt x="5574425" y="1956517"/>
                  <a:pt x="5534401" y="1956517"/>
                </a:cubicBezTo>
                <a:lnTo>
                  <a:pt x="36232" y="1956517"/>
                </a:lnTo>
                <a:cubicBezTo>
                  <a:pt x="16222" y="1956517"/>
                  <a:pt x="0" y="1940296"/>
                  <a:pt x="0" y="1920285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21" name="Shape 19"/>
          <p:cNvSpPr/>
          <p:nvPr/>
        </p:nvSpPr>
        <p:spPr>
          <a:xfrm>
            <a:off x="380434" y="3729611"/>
            <a:ext cx="36232" cy="1956517"/>
          </a:xfrm>
          <a:custGeom>
            <a:avLst/>
            <a:gdLst/>
            <a:ahLst/>
            <a:cxnLst/>
            <a:rect l="l" t="t" r="r" b="b"/>
            <a:pathLst>
              <a:path w="36232" h="1956517">
                <a:moveTo>
                  <a:pt x="36232" y="0"/>
                </a:moveTo>
                <a:lnTo>
                  <a:pt x="36232" y="0"/>
                </a:lnTo>
                <a:lnTo>
                  <a:pt x="36232" y="1956517"/>
                </a:lnTo>
                <a:lnTo>
                  <a:pt x="36232" y="1956517"/>
                </a:lnTo>
                <a:cubicBezTo>
                  <a:pt x="16222" y="1956517"/>
                  <a:pt x="0" y="1940296"/>
                  <a:pt x="0" y="1920285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2" name="Shape 20"/>
          <p:cNvSpPr/>
          <p:nvPr/>
        </p:nvSpPr>
        <p:spPr>
          <a:xfrm>
            <a:off x="615941" y="3947001"/>
            <a:ext cx="579709" cy="579709"/>
          </a:xfrm>
          <a:custGeom>
            <a:avLst/>
            <a:gdLst/>
            <a:ahLst/>
            <a:cxnLst/>
            <a:rect l="l" t="t" r="r" b="b"/>
            <a:pathLst>
              <a:path w="579709" h="579709">
                <a:moveTo>
                  <a:pt x="72464" y="0"/>
                </a:moveTo>
                <a:lnTo>
                  <a:pt x="507245" y="0"/>
                </a:lnTo>
                <a:cubicBezTo>
                  <a:pt x="547266" y="0"/>
                  <a:pt x="579709" y="32443"/>
                  <a:pt x="579709" y="72464"/>
                </a:cubicBezTo>
                <a:lnTo>
                  <a:pt x="579709" y="507245"/>
                </a:lnTo>
                <a:cubicBezTo>
                  <a:pt x="579709" y="547266"/>
                  <a:pt x="547266" y="579709"/>
                  <a:pt x="507245" y="579709"/>
                </a:cubicBezTo>
                <a:lnTo>
                  <a:pt x="72464" y="579709"/>
                </a:lnTo>
                <a:cubicBezTo>
                  <a:pt x="32443" y="579709"/>
                  <a:pt x="0" y="547266"/>
                  <a:pt x="0" y="507245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006" y="3947001"/>
            <a:ext cx="715578" cy="57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40577" y="3947001"/>
            <a:ext cx="4538033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Customer Insights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40577" y="4345551"/>
            <a:ext cx="4510859" cy="79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4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segmentation, spending patterns, product preferences, and behavioral drivers that shape purchasing decisions.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76808" y="5285314"/>
            <a:ext cx="108695" cy="144927"/>
          </a:xfrm>
          <a:custGeom>
            <a:avLst/>
            <a:gdLst/>
            <a:ahLst/>
            <a:cxnLst/>
            <a:rect l="l" t="t" r="r" b="b"/>
            <a:pathLst>
              <a:path w="108695" h="144927">
                <a:moveTo>
                  <a:pt x="82909" y="108695"/>
                </a:moveTo>
                <a:cubicBezTo>
                  <a:pt x="84975" y="102383"/>
                  <a:pt x="89108" y="96665"/>
                  <a:pt x="93778" y="91740"/>
                </a:cubicBezTo>
                <a:cubicBezTo>
                  <a:pt x="103034" y="82003"/>
                  <a:pt x="108695" y="68840"/>
                  <a:pt x="108695" y="54348"/>
                </a:cubicBezTo>
                <a:cubicBezTo>
                  <a:pt x="108695" y="24343"/>
                  <a:pt x="84352" y="0"/>
                  <a:pt x="54348" y="0"/>
                </a:cubicBezTo>
                <a:cubicBezTo>
                  <a:pt x="24343" y="0"/>
                  <a:pt x="0" y="24343"/>
                  <a:pt x="0" y="54348"/>
                </a:cubicBezTo>
                <a:cubicBezTo>
                  <a:pt x="0" y="68840"/>
                  <a:pt x="5661" y="82003"/>
                  <a:pt x="14917" y="91740"/>
                </a:cubicBezTo>
                <a:cubicBezTo>
                  <a:pt x="19588" y="96665"/>
                  <a:pt x="23749" y="102383"/>
                  <a:pt x="25787" y="108695"/>
                </a:cubicBezTo>
                <a:lnTo>
                  <a:pt x="82880" y="108695"/>
                </a:lnTo>
                <a:close/>
                <a:moveTo>
                  <a:pt x="81522" y="122282"/>
                </a:moveTo>
                <a:lnTo>
                  <a:pt x="27174" y="122282"/>
                </a:lnTo>
                <a:lnTo>
                  <a:pt x="27174" y="126811"/>
                </a:lnTo>
                <a:cubicBezTo>
                  <a:pt x="27174" y="139323"/>
                  <a:pt x="37307" y="149456"/>
                  <a:pt x="49819" y="149456"/>
                </a:cubicBezTo>
                <a:lnTo>
                  <a:pt x="58877" y="149456"/>
                </a:lnTo>
                <a:cubicBezTo>
                  <a:pt x="71388" y="149456"/>
                  <a:pt x="81522" y="139323"/>
                  <a:pt x="81522" y="126811"/>
                </a:cubicBezTo>
                <a:lnTo>
                  <a:pt x="81522" y="122282"/>
                </a:lnTo>
                <a:close/>
                <a:moveTo>
                  <a:pt x="52083" y="31703"/>
                </a:moveTo>
                <a:cubicBezTo>
                  <a:pt x="40817" y="31703"/>
                  <a:pt x="31703" y="40817"/>
                  <a:pt x="31703" y="52083"/>
                </a:cubicBezTo>
                <a:cubicBezTo>
                  <a:pt x="31703" y="55848"/>
                  <a:pt x="28674" y="58877"/>
                  <a:pt x="24909" y="58877"/>
                </a:cubicBezTo>
                <a:cubicBezTo>
                  <a:pt x="21145" y="58877"/>
                  <a:pt x="18116" y="55848"/>
                  <a:pt x="18116" y="52083"/>
                </a:cubicBezTo>
                <a:cubicBezTo>
                  <a:pt x="18116" y="33316"/>
                  <a:pt x="33316" y="18116"/>
                  <a:pt x="52083" y="18116"/>
                </a:cubicBezTo>
                <a:cubicBezTo>
                  <a:pt x="55848" y="18116"/>
                  <a:pt x="58877" y="21145"/>
                  <a:pt x="58877" y="24909"/>
                </a:cubicBezTo>
                <a:cubicBezTo>
                  <a:pt x="58877" y="28674"/>
                  <a:pt x="55848" y="31703"/>
                  <a:pt x="52083" y="31703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7" name="Text 25"/>
          <p:cNvSpPr/>
          <p:nvPr/>
        </p:nvSpPr>
        <p:spPr>
          <a:xfrm>
            <a:off x="1594199" y="5249082"/>
            <a:ext cx="1440214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Intelligence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21774" y="3729611"/>
            <a:ext cx="5606871" cy="1956517"/>
          </a:xfrm>
          <a:custGeom>
            <a:avLst/>
            <a:gdLst/>
            <a:ahLst/>
            <a:cxnLst/>
            <a:rect l="l" t="t" r="r" b="b"/>
            <a:pathLst>
              <a:path w="5606871" h="1956517">
                <a:moveTo>
                  <a:pt x="36232" y="0"/>
                </a:moveTo>
                <a:lnTo>
                  <a:pt x="5534401" y="0"/>
                </a:lnTo>
                <a:cubicBezTo>
                  <a:pt x="5574425" y="0"/>
                  <a:pt x="5606871" y="32446"/>
                  <a:pt x="5606871" y="72469"/>
                </a:cubicBezTo>
                <a:lnTo>
                  <a:pt x="5606871" y="1884048"/>
                </a:lnTo>
                <a:cubicBezTo>
                  <a:pt x="5606871" y="1924071"/>
                  <a:pt x="5574425" y="1956517"/>
                  <a:pt x="5534401" y="1956517"/>
                </a:cubicBezTo>
                <a:lnTo>
                  <a:pt x="36232" y="1956517"/>
                </a:lnTo>
                <a:cubicBezTo>
                  <a:pt x="16222" y="1956517"/>
                  <a:pt x="0" y="1940296"/>
                  <a:pt x="0" y="1920285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29" name="Shape 27"/>
          <p:cNvSpPr/>
          <p:nvPr/>
        </p:nvSpPr>
        <p:spPr>
          <a:xfrm>
            <a:off x="6221774" y="3729611"/>
            <a:ext cx="36232" cy="1956517"/>
          </a:xfrm>
          <a:custGeom>
            <a:avLst/>
            <a:gdLst/>
            <a:ahLst/>
            <a:cxnLst/>
            <a:rect l="l" t="t" r="r" b="b"/>
            <a:pathLst>
              <a:path w="36232" h="1956517">
                <a:moveTo>
                  <a:pt x="36232" y="0"/>
                </a:moveTo>
                <a:lnTo>
                  <a:pt x="36232" y="0"/>
                </a:lnTo>
                <a:lnTo>
                  <a:pt x="36232" y="1956517"/>
                </a:lnTo>
                <a:lnTo>
                  <a:pt x="36232" y="1956517"/>
                </a:lnTo>
                <a:cubicBezTo>
                  <a:pt x="16222" y="1956517"/>
                  <a:pt x="0" y="1940296"/>
                  <a:pt x="0" y="1920285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0" name="Shape 28"/>
          <p:cNvSpPr/>
          <p:nvPr/>
        </p:nvSpPr>
        <p:spPr>
          <a:xfrm>
            <a:off x="6457280" y="3947001"/>
            <a:ext cx="579709" cy="579709"/>
          </a:xfrm>
          <a:custGeom>
            <a:avLst/>
            <a:gdLst/>
            <a:ahLst/>
            <a:cxnLst/>
            <a:rect l="l" t="t" r="r" b="b"/>
            <a:pathLst>
              <a:path w="579709" h="579709">
                <a:moveTo>
                  <a:pt x="72464" y="0"/>
                </a:moveTo>
                <a:lnTo>
                  <a:pt x="507245" y="0"/>
                </a:lnTo>
                <a:cubicBezTo>
                  <a:pt x="547266" y="0"/>
                  <a:pt x="579709" y="32443"/>
                  <a:pt x="579709" y="72464"/>
                </a:cubicBezTo>
                <a:lnTo>
                  <a:pt x="579709" y="507245"/>
                </a:lnTo>
                <a:cubicBezTo>
                  <a:pt x="579709" y="547266"/>
                  <a:pt x="547266" y="579709"/>
                  <a:pt x="507245" y="579709"/>
                </a:cubicBezTo>
                <a:lnTo>
                  <a:pt x="72464" y="579709"/>
                </a:lnTo>
                <a:cubicBezTo>
                  <a:pt x="32443" y="579709"/>
                  <a:pt x="0" y="547266"/>
                  <a:pt x="0" y="507245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1" name="Text 29"/>
          <p:cNvSpPr/>
          <p:nvPr/>
        </p:nvSpPr>
        <p:spPr>
          <a:xfrm>
            <a:off x="6389346" y="3947001"/>
            <a:ext cx="715578" cy="57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0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81916" y="3947001"/>
            <a:ext cx="4538033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Performance Analysis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81916" y="4345551"/>
            <a:ext cx="4510859" cy="53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4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dive into revenue drivers, segment performance, and optimization opportunities across customer cohorts.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90974" y="5020368"/>
            <a:ext cx="163043" cy="144927"/>
          </a:xfrm>
          <a:custGeom>
            <a:avLst/>
            <a:gdLst/>
            <a:ahLst/>
            <a:cxnLst/>
            <a:rect l="l" t="t" r="r" b="b"/>
            <a:pathLst>
              <a:path w="163043" h="144927">
                <a:moveTo>
                  <a:pt x="145040" y="67935"/>
                </a:moveTo>
                <a:lnTo>
                  <a:pt x="95222" y="67935"/>
                </a:lnTo>
                <a:cubicBezTo>
                  <a:pt x="90212" y="67935"/>
                  <a:pt x="86164" y="63887"/>
                  <a:pt x="86164" y="58877"/>
                </a:cubicBezTo>
                <a:lnTo>
                  <a:pt x="86164" y="9058"/>
                </a:lnTo>
                <a:cubicBezTo>
                  <a:pt x="86164" y="4048"/>
                  <a:pt x="90240" y="-57"/>
                  <a:pt x="95193" y="594"/>
                </a:cubicBezTo>
                <a:cubicBezTo>
                  <a:pt x="125481" y="4614"/>
                  <a:pt x="149484" y="28617"/>
                  <a:pt x="153504" y="58905"/>
                </a:cubicBezTo>
                <a:cubicBezTo>
                  <a:pt x="154155" y="63859"/>
                  <a:pt x="150051" y="67935"/>
                  <a:pt x="145040" y="67935"/>
                </a:cubicBezTo>
                <a:close/>
                <a:moveTo>
                  <a:pt x="63009" y="10530"/>
                </a:moveTo>
                <a:cubicBezTo>
                  <a:pt x="68133" y="9454"/>
                  <a:pt x="72577" y="13644"/>
                  <a:pt x="72577" y="18880"/>
                </a:cubicBezTo>
                <a:lnTo>
                  <a:pt x="72577" y="74728"/>
                </a:lnTo>
                <a:cubicBezTo>
                  <a:pt x="72577" y="76313"/>
                  <a:pt x="73143" y="77842"/>
                  <a:pt x="74134" y="79059"/>
                </a:cubicBezTo>
                <a:lnTo>
                  <a:pt x="111526" y="124179"/>
                </a:lnTo>
                <a:cubicBezTo>
                  <a:pt x="114838" y="128170"/>
                  <a:pt x="114130" y="134199"/>
                  <a:pt x="109573" y="136662"/>
                </a:cubicBezTo>
                <a:cubicBezTo>
                  <a:pt x="99921" y="141927"/>
                  <a:pt x="88853" y="144927"/>
                  <a:pt x="77106" y="144927"/>
                </a:cubicBezTo>
                <a:cubicBezTo>
                  <a:pt x="39600" y="144927"/>
                  <a:pt x="9171" y="114498"/>
                  <a:pt x="9171" y="76993"/>
                </a:cubicBezTo>
                <a:cubicBezTo>
                  <a:pt x="9171" y="44299"/>
                  <a:pt x="32241" y="17012"/>
                  <a:pt x="63009" y="10530"/>
                </a:cubicBezTo>
                <a:close/>
                <a:moveTo>
                  <a:pt x="135247" y="81522"/>
                </a:moveTo>
                <a:lnTo>
                  <a:pt x="153362" y="81522"/>
                </a:lnTo>
                <a:cubicBezTo>
                  <a:pt x="158599" y="81522"/>
                  <a:pt x="162788" y="85966"/>
                  <a:pt x="161713" y="91089"/>
                </a:cubicBezTo>
                <a:cubicBezTo>
                  <a:pt x="158825" y="104789"/>
                  <a:pt x="151806" y="116961"/>
                  <a:pt x="142012" y="126245"/>
                </a:cubicBezTo>
                <a:cubicBezTo>
                  <a:pt x="138530" y="129557"/>
                  <a:pt x="133067" y="128849"/>
                  <a:pt x="130010" y="125141"/>
                </a:cubicBezTo>
                <a:lnTo>
                  <a:pt x="106120" y="96354"/>
                </a:lnTo>
                <a:cubicBezTo>
                  <a:pt x="101223" y="90438"/>
                  <a:pt x="105440" y="81522"/>
                  <a:pt x="113083" y="81522"/>
                </a:cubicBezTo>
                <a:lnTo>
                  <a:pt x="135218" y="81522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5" name="Text 33"/>
          <p:cNvSpPr/>
          <p:nvPr/>
        </p:nvSpPr>
        <p:spPr>
          <a:xfrm>
            <a:off x="7435539" y="4984137"/>
            <a:ext cx="1086954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Impact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5337" y="5904273"/>
            <a:ext cx="11455287" cy="948065"/>
          </a:xfrm>
          <a:custGeom>
            <a:avLst/>
            <a:gdLst/>
            <a:ahLst/>
            <a:cxnLst/>
            <a:rect l="l" t="t" r="r" b="b"/>
            <a:pathLst>
              <a:path w="11455287" h="948065">
                <a:moveTo>
                  <a:pt x="72461" y="0"/>
                </a:moveTo>
                <a:lnTo>
                  <a:pt x="11382826" y="0"/>
                </a:lnTo>
                <a:cubicBezTo>
                  <a:pt x="11422845" y="0"/>
                  <a:pt x="11455287" y="32442"/>
                  <a:pt x="11455287" y="72461"/>
                </a:cubicBezTo>
                <a:lnTo>
                  <a:pt x="11455287" y="875605"/>
                </a:lnTo>
                <a:cubicBezTo>
                  <a:pt x="11455287" y="915624"/>
                  <a:pt x="11422845" y="948065"/>
                  <a:pt x="11382826" y="948065"/>
                </a:cubicBezTo>
                <a:lnTo>
                  <a:pt x="72461" y="948065"/>
                </a:lnTo>
                <a:cubicBezTo>
                  <a:pt x="32469" y="948065"/>
                  <a:pt x="0" y="915597"/>
                  <a:pt x="0" y="875605"/>
                </a:cubicBezTo>
                <a:lnTo>
                  <a:pt x="0" y="72461"/>
                </a:lnTo>
                <a:cubicBezTo>
                  <a:pt x="0" y="32442"/>
                  <a:pt x="32442" y="0"/>
                  <a:pt x="72461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5E6D55">
                  <a:alpha val="20000"/>
                </a:srgbClr>
              </a:gs>
            </a:gsLst>
            <a:lin ang="0" scaled="1"/>
          </a:gradFill>
          <a:ln w="8467">
            <a:solidFill>
              <a:srgbClr val="A99A8D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9516" y="6124684"/>
            <a:ext cx="507245" cy="507245"/>
          </a:xfrm>
          <a:custGeom>
            <a:avLst/>
            <a:gdLst/>
            <a:ahLst/>
            <a:cxnLst/>
            <a:rect l="l" t="t" r="r" b="b"/>
            <a:pathLst>
              <a:path w="507245" h="507245">
                <a:moveTo>
                  <a:pt x="72465" y="0"/>
                </a:moveTo>
                <a:lnTo>
                  <a:pt x="434780" y="0"/>
                </a:lnTo>
                <a:cubicBezTo>
                  <a:pt x="474775" y="0"/>
                  <a:pt x="507245" y="32470"/>
                  <a:pt x="507245" y="72465"/>
                </a:cubicBezTo>
                <a:lnTo>
                  <a:pt x="507245" y="434780"/>
                </a:lnTo>
                <a:cubicBezTo>
                  <a:pt x="507245" y="474801"/>
                  <a:pt x="474801" y="507245"/>
                  <a:pt x="434780" y="507245"/>
                </a:cubicBezTo>
                <a:lnTo>
                  <a:pt x="72465" y="507245"/>
                </a:lnTo>
                <a:cubicBezTo>
                  <a:pt x="32470" y="507245"/>
                  <a:pt x="0" y="474775"/>
                  <a:pt x="0" y="434780"/>
                </a:cubicBezTo>
                <a:lnTo>
                  <a:pt x="0" y="72465"/>
                </a:lnTo>
                <a:cubicBezTo>
                  <a:pt x="0" y="32470"/>
                  <a:pt x="32470" y="0"/>
                  <a:pt x="72465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38" name="Text 36"/>
          <p:cNvSpPr/>
          <p:nvPr/>
        </p:nvSpPr>
        <p:spPr>
          <a:xfrm>
            <a:off x="495168" y="6124684"/>
            <a:ext cx="615941" cy="50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01688" y="6088452"/>
            <a:ext cx="9356862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01688" y="6414539"/>
            <a:ext cx="9329688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strategies to boost subscriptions, enhance loyalty, and optimize marketing effectiveness.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621578" y="6269611"/>
            <a:ext cx="217391" cy="217391"/>
          </a:xfrm>
          <a:custGeom>
            <a:avLst/>
            <a:gdLst/>
            <a:ahLst/>
            <a:cxnLst/>
            <a:rect l="l" t="t" r="r" b="b"/>
            <a:pathLst>
              <a:path w="217391" h="217391">
                <a:moveTo>
                  <a:pt x="54348" y="135869"/>
                </a:moveTo>
                <a:lnTo>
                  <a:pt x="10402" y="135869"/>
                </a:lnTo>
                <a:cubicBezTo>
                  <a:pt x="-170" y="135869"/>
                  <a:pt x="-6666" y="124363"/>
                  <a:pt x="-1231" y="115277"/>
                </a:cubicBezTo>
                <a:lnTo>
                  <a:pt x="21230" y="77828"/>
                </a:lnTo>
                <a:cubicBezTo>
                  <a:pt x="24924" y="71671"/>
                  <a:pt x="31547" y="67935"/>
                  <a:pt x="38723" y="67935"/>
                </a:cubicBezTo>
                <a:lnTo>
                  <a:pt x="79059" y="67935"/>
                </a:lnTo>
                <a:cubicBezTo>
                  <a:pt x="111370" y="13205"/>
                  <a:pt x="159561" y="10445"/>
                  <a:pt x="191788" y="15158"/>
                </a:cubicBezTo>
                <a:cubicBezTo>
                  <a:pt x="197223" y="15965"/>
                  <a:pt x="201469" y="20211"/>
                  <a:pt x="202233" y="25603"/>
                </a:cubicBezTo>
                <a:cubicBezTo>
                  <a:pt x="206946" y="57829"/>
                  <a:pt x="204186" y="106020"/>
                  <a:pt x="149456" y="138332"/>
                </a:cubicBezTo>
                <a:lnTo>
                  <a:pt x="149456" y="178668"/>
                </a:lnTo>
                <a:cubicBezTo>
                  <a:pt x="149456" y="185844"/>
                  <a:pt x="145720" y="192467"/>
                  <a:pt x="139563" y="196161"/>
                </a:cubicBezTo>
                <a:lnTo>
                  <a:pt x="102114" y="218622"/>
                </a:lnTo>
                <a:cubicBezTo>
                  <a:pt x="93070" y="224057"/>
                  <a:pt x="81522" y="217518"/>
                  <a:pt x="81522" y="206988"/>
                </a:cubicBezTo>
                <a:lnTo>
                  <a:pt x="81522" y="163043"/>
                </a:lnTo>
                <a:cubicBezTo>
                  <a:pt x="81522" y="148055"/>
                  <a:pt x="69336" y="135869"/>
                  <a:pt x="54348" y="135869"/>
                </a:cubicBezTo>
                <a:lnTo>
                  <a:pt x="54305" y="135869"/>
                </a:lnTo>
                <a:close/>
                <a:moveTo>
                  <a:pt x="169837" y="67935"/>
                </a:moveTo>
                <a:cubicBezTo>
                  <a:pt x="169837" y="56686"/>
                  <a:pt x="160704" y="47554"/>
                  <a:pt x="149456" y="47554"/>
                </a:cubicBezTo>
                <a:cubicBezTo>
                  <a:pt x="138208" y="47554"/>
                  <a:pt x="129076" y="56686"/>
                  <a:pt x="129076" y="67935"/>
                </a:cubicBezTo>
                <a:cubicBezTo>
                  <a:pt x="129076" y="79183"/>
                  <a:pt x="138208" y="88315"/>
                  <a:pt x="149456" y="88315"/>
                </a:cubicBezTo>
                <a:cubicBezTo>
                  <a:pt x="160704" y="88315"/>
                  <a:pt x="169837" y="79183"/>
                  <a:pt x="169837" y="67935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2" name="Text 40"/>
          <p:cNvSpPr/>
          <p:nvPr/>
        </p:nvSpPr>
        <p:spPr>
          <a:xfrm>
            <a:off x="10938606" y="6269611"/>
            <a:ext cx="769926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Plan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512" y="361512"/>
            <a:ext cx="1154127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spc="114" kern="0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512" y="650722"/>
            <a:ext cx="11685883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6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Context &amp; Strategic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588" y="1192990"/>
            <a:ext cx="5648629" cy="1554503"/>
          </a:xfrm>
          <a:custGeom>
            <a:avLst/>
            <a:gdLst/>
            <a:ahLst/>
            <a:cxnLst/>
            <a:rect l="l" t="t" r="r" b="b"/>
            <a:pathLst>
              <a:path w="5648629" h="1554503">
                <a:moveTo>
                  <a:pt x="36151" y="0"/>
                </a:moveTo>
                <a:lnTo>
                  <a:pt x="5576329" y="0"/>
                </a:lnTo>
                <a:cubicBezTo>
                  <a:pt x="5616259" y="0"/>
                  <a:pt x="5648629" y="32370"/>
                  <a:pt x="5648629" y="72300"/>
                </a:cubicBezTo>
                <a:lnTo>
                  <a:pt x="5648629" y="1482203"/>
                </a:lnTo>
                <a:cubicBezTo>
                  <a:pt x="5648629" y="1522133"/>
                  <a:pt x="5616259" y="1554503"/>
                  <a:pt x="5576329" y="1554503"/>
                </a:cubicBezTo>
                <a:lnTo>
                  <a:pt x="36151" y="1554503"/>
                </a:lnTo>
                <a:cubicBezTo>
                  <a:pt x="16185" y="1554503"/>
                  <a:pt x="0" y="1538317"/>
                  <a:pt x="0" y="15183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5" name="Shape 3"/>
          <p:cNvSpPr/>
          <p:nvPr/>
        </p:nvSpPr>
        <p:spPr>
          <a:xfrm>
            <a:off x="379588" y="1192990"/>
            <a:ext cx="36151" cy="1554503"/>
          </a:xfrm>
          <a:custGeom>
            <a:avLst/>
            <a:gdLst/>
            <a:ahLst/>
            <a:cxnLst/>
            <a:rect l="l" t="t" r="r" b="b"/>
            <a:pathLst>
              <a:path w="36151" h="1554503">
                <a:moveTo>
                  <a:pt x="36151" y="0"/>
                </a:moveTo>
                <a:lnTo>
                  <a:pt x="36151" y="0"/>
                </a:lnTo>
                <a:lnTo>
                  <a:pt x="36151" y="1554503"/>
                </a:lnTo>
                <a:lnTo>
                  <a:pt x="36151" y="1554503"/>
                </a:lnTo>
                <a:cubicBezTo>
                  <a:pt x="16185" y="1554503"/>
                  <a:pt x="0" y="1538317"/>
                  <a:pt x="0" y="15183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" name="Shape 4"/>
          <p:cNvSpPr/>
          <p:nvPr/>
        </p:nvSpPr>
        <p:spPr>
          <a:xfrm>
            <a:off x="542268" y="1337595"/>
            <a:ext cx="433815" cy="433815"/>
          </a:xfrm>
          <a:custGeom>
            <a:avLst/>
            <a:gdLst/>
            <a:ahLst/>
            <a:cxnLst/>
            <a:rect l="l" t="t" r="r" b="b"/>
            <a:pathLst>
              <a:path w="433815" h="433815">
                <a:moveTo>
                  <a:pt x="216907" y="0"/>
                </a:moveTo>
                <a:lnTo>
                  <a:pt x="216907" y="0"/>
                </a:lnTo>
                <a:cubicBezTo>
                  <a:pt x="336622" y="0"/>
                  <a:pt x="433815" y="97193"/>
                  <a:pt x="433815" y="216907"/>
                </a:cubicBezTo>
                <a:lnTo>
                  <a:pt x="433815" y="216907"/>
                </a:lnTo>
                <a:cubicBezTo>
                  <a:pt x="433815" y="336622"/>
                  <a:pt x="336622" y="433815"/>
                  <a:pt x="216907" y="433815"/>
                </a:cubicBezTo>
                <a:lnTo>
                  <a:pt x="216907" y="433815"/>
                </a:lnTo>
                <a:cubicBezTo>
                  <a:pt x="97193" y="433815"/>
                  <a:pt x="0" y="336622"/>
                  <a:pt x="0" y="216907"/>
                </a:cubicBezTo>
                <a:lnTo>
                  <a:pt x="0" y="216907"/>
                </a:lnTo>
                <a:cubicBezTo>
                  <a:pt x="0" y="97193"/>
                  <a:pt x="97193" y="0"/>
                  <a:pt x="216907" y="0"/>
                </a:cubicBezTo>
                <a:close/>
              </a:path>
            </a:pathLst>
          </a:custGeom>
          <a:solidFill>
            <a:srgbClr val="A99A8D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8798" y="1464125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22595" y="22595"/>
                </a:moveTo>
                <a:cubicBezTo>
                  <a:pt x="22595" y="16346"/>
                  <a:pt x="17546" y="11297"/>
                  <a:pt x="11297" y="11297"/>
                </a:cubicBezTo>
                <a:cubicBezTo>
                  <a:pt x="5048" y="11297"/>
                  <a:pt x="0" y="16346"/>
                  <a:pt x="0" y="22595"/>
                </a:cubicBezTo>
                <a:lnTo>
                  <a:pt x="0" y="141216"/>
                </a:lnTo>
                <a:cubicBezTo>
                  <a:pt x="0" y="156820"/>
                  <a:pt x="12639" y="169459"/>
                  <a:pt x="28243" y="169459"/>
                </a:cubicBezTo>
                <a:lnTo>
                  <a:pt x="169459" y="169459"/>
                </a:lnTo>
                <a:cubicBezTo>
                  <a:pt x="175708" y="169459"/>
                  <a:pt x="180756" y="164410"/>
                  <a:pt x="180756" y="158162"/>
                </a:cubicBezTo>
                <a:cubicBezTo>
                  <a:pt x="180756" y="151913"/>
                  <a:pt x="175708" y="146864"/>
                  <a:pt x="169459" y="146864"/>
                </a:cubicBezTo>
                <a:lnTo>
                  <a:pt x="28243" y="146864"/>
                </a:lnTo>
                <a:cubicBezTo>
                  <a:pt x="25136" y="146864"/>
                  <a:pt x="22595" y="144322"/>
                  <a:pt x="22595" y="141216"/>
                </a:cubicBezTo>
                <a:lnTo>
                  <a:pt x="22595" y="22595"/>
                </a:lnTo>
                <a:close/>
                <a:moveTo>
                  <a:pt x="166140" y="53168"/>
                </a:moveTo>
                <a:cubicBezTo>
                  <a:pt x="170553" y="48755"/>
                  <a:pt x="170553" y="41588"/>
                  <a:pt x="166140" y="37175"/>
                </a:cubicBezTo>
                <a:cubicBezTo>
                  <a:pt x="161727" y="32762"/>
                  <a:pt x="154561" y="32762"/>
                  <a:pt x="150148" y="37175"/>
                </a:cubicBezTo>
                <a:lnTo>
                  <a:pt x="112973" y="74385"/>
                </a:lnTo>
                <a:lnTo>
                  <a:pt x="92708" y="54156"/>
                </a:lnTo>
                <a:cubicBezTo>
                  <a:pt x="88295" y="49743"/>
                  <a:pt x="81128" y="49743"/>
                  <a:pt x="76715" y="54156"/>
                </a:cubicBezTo>
                <a:lnTo>
                  <a:pt x="42824" y="88048"/>
                </a:lnTo>
                <a:cubicBezTo>
                  <a:pt x="38411" y="92461"/>
                  <a:pt x="38411" y="99628"/>
                  <a:pt x="42824" y="104041"/>
                </a:cubicBezTo>
                <a:cubicBezTo>
                  <a:pt x="47237" y="108454"/>
                  <a:pt x="54403" y="108454"/>
                  <a:pt x="58816" y="104041"/>
                </a:cubicBezTo>
                <a:lnTo>
                  <a:pt x="84729" y="78128"/>
                </a:lnTo>
                <a:lnTo>
                  <a:pt x="104994" y="98392"/>
                </a:lnTo>
                <a:cubicBezTo>
                  <a:pt x="109407" y="102805"/>
                  <a:pt x="116574" y="102805"/>
                  <a:pt x="120987" y="98392"/>
                </a:cubicBezTo>
                <a:lnTo>
                  <a:pt x="166176" y="53203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8" name="Text 6"/>
          <p:cNvSpPr/>
          <p:nvPr/>
        </p:nvSpPr>
        <p:spPr>
          <a:xfrm>
            <a:off x="1084537" y="1337595"/>
            <a:ext cx="4889453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4537" y="1662956"/>
            <a:ext cx="4871377" cy="93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leading retail company is experiencing shifts in purchasing patterns across demographics, product categories, and sales channels. Management needs to understand which factors drive consumer decisions and repeat purchases.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9588" y="2896711"/>
            <a:ext cx="5648629" cy="1952166"/>
          </a:xfrm>
          <a:custGeom>
            <a:avLst/>
            <a:gdLst/>
            <a:ahLst/>
            <a:cxnLst/>
            <a:rect l="l" t="t" r="r" b="b"/>
            <a:pathLst>
              <a:path w="5648629" h="1952166">
                <a:moveTo>
                  <a:pt x="36151" y="0"/>
                </a:moveTo>
                <a:lnTo>
                  <a:pt x="5576320" y="0"/>
                </a:lnTo>
                <a:cubicBezTo>
                  <a:pt x="5616255" y="0"/>
                  <a:pt x="5648629" y="32373"/>
                  <a:pt x="5648629" y="72308"/>
                </a:cubicBezTo>
                <a:lnTo>
                  <a:pt x="5648629" y="1879858"/>
                </a:lnTo>
                <a:cubicBezTo>
                  <a:pt x="5648629" y="1919793"/>
                  <a:pt x="5616255" y="1952166"/>
                  <a:pt x="5576320" y="1952166"/>
                </a:cubicBezTo>
                <a:lnTo>
                  <a:pt x="36151" y="1952166"/>
                </a:lnTo>
                <a:cubicBezTo>
                  <a:pt x="16185" y="1952166"/>
                  <a:pt x="0" y="1935981"/>
                  <a:pt x="0" y="1916015"/>
                </a:cubicBezTo>
                <a:lnTo>
                  <a:pt x="0" y="36151"/>
                </a:lnTo>
                <a:cubicBezTo>
                  <a:pt x="0" y="16199"/>
                  <a:pt x="16199" y="0"/>
                  <a:pt x="36151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11" name="Shape 9"/>
          <p:cNvSpPr/>
          <p:nvPr/>
        </p:nvSpPr>
        <p:spPr>
          <a:xfrm>
            <a:off x="379588" y="2896711"/>
            <a:ext cx="36151" cy="1952166"/>
          </a:xfrm>
          <a:custGeom>
            <a:avLst/>
            <a:gdLst/>
            <a:ahLst/>
            <a:cxnLst/>
            <a:rect l="l" t="t" r="r" b="b"/>
            <a:pathLst>
              <a:path w="36151" h="1952166">
                <a:moveTo>
                  <a:pt x="36151" y="0"/>
                </a:moveTo>
                <a:lnTo>
                  <a:pt x="36151" y="0"/>
                </a:lnTo>
                <a:lnTo>
                  <a:pt x="36151" y="1952166"/>
                </a:lnTo>
                <a:lnTo>
                  <a:pt x="36151" y="1952166"/>
                </a:lnTo>
                <a:cubicBezTo>
                  <a:pt x="16185" y="1952166"/>
                  <a:pt x="0" y="1935981"/>
                  <a:pt x="0" y="1916015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2" name="Shape 10"/>
          <p:cNvSpPr/>
          <p:nvPr/>
        </p:nvSpPr>
        <p:spPr>
          <a:xfrm>
            <a:off x="542268" y="3041315"/>
            <a:ext cx="433815" cy="433815"/>
          </a:xfrm>
          <a:custGeom>
            <a:avLst/>
            <a:gdLst/>
            <a:ahLst/>
            <a:cxnLst/>
            <a:rect l="l" t="t" r="r" b="b"/>
            <a:pathLst>
              <a:path w="433815" h="433815">
                <a:moveTo>
                  <a:pt x="216907" y="0"/>
                </a:moveTo>
                <a:lnTo>
                  <a:pt x="216907" y="0"/>
                </a:lnTo>
                <a:cubicBezTo>
                  <a:pt x="336622" y="0"/>
                  <a:pt x="433815" y="97193"/>
                  <a:pt x="433815" y="216907"/>
                </a:cubicBezTo>
                <a:lnTo>
                  <a:pt x="433815" y="216907"/>
                </a:lnTo>
                <a:cubicBezTo>
                  <a:pt x="433815" y="336622"/>
                  <a:pt x="336622" y="433815"/>
                  <a:pt x="216907" y="433815"/>
                </a:cubicBezTo>
                <a:lnTo>
                  <a:pt x="216907" y="433815"/>
                </a:lnTo>
                <a:cubicBezTo>
                  <a:pt x="97193" y="433815"/>
                  <a:pt x="0" y="336622"/>
                  <a:pt x="0" y="216907"/>
                </a:cubicBezTo>
                <a:lnTo>
                  <a:pt x="0" y="216907"/>
                </a:lnTo>
                <a:cubicBezTo>
                  <a:pt x="0" y="97193"/>
                  <a:pt x="97193" y="0"/>
                  <a:pt x="216907" y="0"/>
                </a:cubicBezTo>
                <a:close/>
              </a:path>
            </a:pathLst>
          </a:custGeom>
          <a:solidFill>
            <a:srgbClr val="5E6D55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8798" y="3167845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158162" y="90378"/>
                </a:moveTo>
                <a:cubicBezTo>
                  <a:pt x="158162" y="52967"/>
                  <a:pt x="127789" y="22595"/>
                  <a:pt x="90378" y="22595"/>
                </a:cubicBezTo>
                <a:cubicBezTo>
                  <a:pt x="52967" y="22595"/>
                  <a:pt x="22595" y="52967"/>
                  <a:pt x="22595" y="90378"/>
                </a:cubicBezTo>
                <a:cubicBezTo>
                  <a:pt x="22595" y="127789"/>
                  <a:pt x="52967" y="158162"/>
                  <a:pt x="90378" y="158162"/>
                </a:cubicBezTo>
                <a:cubicBezTo>
                  <a:pt x="127789" y="158162"/>
                  <a:pt x="158162" y="127789"/>
                  <a:pt x="158162" y="90378"/>
                </a:cubicBezTo>
                <a:close/>
                <a:moveTo>
                  <a:pt x="0" y="90378"/>
                </a:moveTo>
                <a:cubicBezTo>
                  <a:pt x="0" y="40497"/>
                  <a:pt x="40497" y="0"/>
                  <a:pt x="90378" y="0"/>
                </a:cubicBezTo>
                <a:cubicBezTo>
                  <a:pt x="140259" y="0"/>
                  <a:pt x="180756" y="40497"/>
                  <a:pt x="180756" y="90378"/>
                </a:cubicBezTo>
                <a:cubicBezTo>
                  <a:pt x="180756" y="140259"/>
                  <a:pt x="140259" y="180756"/>
                  <a:pt x="90378" y="180756"/>
                </a:cubicBezTo>
                <a:cubicBezTo>
                  <a:pt x="40497" y="180756"/>
                  <a:pt x="0" y="140259"/>
                  <a:pt x="0" y="90378"/>
                </a:cubicBezTo>
                <a:close/>
                <a:moveTo>
                  <a:pt x="90378" y="118621"/>
                </a:moveTo>
                <a:cubicBezTo>
                  <a:pt x="105966" y="118621"/>
                  <a:pt x="118621" y="105966"/>
                  <a:pt x="118621" y="90378"/>
                </a:cubicBezTo>
                <a:cubicBezTo>
                  <a:pt x="118621" y="74790"/>
                  <a:pt x="105966" y="62135"/>
                  <a:pt x="90378" y="62135"/>
                </a:cubicBezTo>
                <a:cubicBezTo>
                  <a:pt x="74790" y="62135"/>
                  <a:pt x="62135" y="74790"/>
                  <a:pt x="62135" y="90378"/>
                </a:cubicBezTo>
                <a:cubicBezTo>
                  <a:pt x="62135" y="105966"/>
                  <a:pt x="74790" y="118621"/>
                  <a:pt x="90378" y="118621"/>
                </a:cubicBezTo>
                <a:close/>
                <a:moveTo>
                  <a:pt x="90378" y="39540"/>
                </a:moveTo>
                <a:cubicBezTo>
                  <a:pt x="118436" y="39540"/>
                  <a:pt x="141216" y="62320"/>
                  <a:pt x="141216" y="90378"/>
                </a:cubicBezTo>
                <a:cubicBezTo>
                  <a:pt x="141216" y="118436"/>
                  <a:pt x="118436" y="141216"/>
                  <a:pt x="90378" y="141216"/>
                </a:cubicBezTo>
                <a:cubicBezTo>
                  <a:pt x="62320" y="141216"/>
                  <a:pt x="39540" y="118436"/>
                  <a:pt x="39540" y="90378"/>
                </a:cubicBezTo>
                <a:cubicBezTo>
                  <a:pt x="39540" y="62320"/>
                  <a:pt x="62320" y="39540"/>
                  <a:pt x="90378" y="39540"/>
                </a:cubicBezTo>
                <a:close/>
                <a:moveTo>
                  <a:pt x="79081" y="90378"/>
                </a:moveTo>
                <a:cubicBezTo>
                  <a:pt x="79081" y="84143"/>
                  <a:pt x="84143" y="79081"/>
                  <a:pt x="90378" y="79081"/>
                </a:cubicBezTo>
                <a:cubicBezTo>
                  <a:pt x="96613" y="79081"/>
                  <a:pt x="101675" y="84143"/>
                  <a:pt x="101675" y="90378"/>
                </a:cubicBezTo>
                <a:cubicBezTo>
                  <a:pt x="101675" y="96613"/>
                  <a:pt x="96613" y="101675"/>
                  <a:pt x="90378" y="101675"/>
                </a:cubicBezTo>
                <a:cubicBezTo>
                  <a:pt x="84143" y="101675"/>
                  <a:pt x="79081" y="96613"/>
                  <a:pt x="79081" y="90378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4" name="Text 12"/>
          <p:cNvSpPr/>
          <p:nvPr/>
        </p:nvSpPr>
        <p:spPr>
          <a:xfrm>
            <a:off x="1084537" y="3041315"/>
            <a:ext cx="4889453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Overarching Business Question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84537" y="3366676"/>
            <a:ext cx="4880415" cy="795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 can the company leverage consumer shopping data to identify trends, improve customer engagement, and optimize marketing and product strategies?"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4537" y="4232046"/>
            <a:ext cx="4871377" cy="46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question guides our entire analytical approach and frames the strategic importance of understanding customer behavior.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9588" y="4995836"/>
            <a:ext cx="5648629" cy="1319520"/>
          </a:xfrm>
          <a:custGeom>
            <a:avLst/>
            <a:gdLst/>
            <a:ahLst/>
            <a:cxnLst/>
            <a:rect l="l" t="t" r="r" b="b"/>
            <a:pathLst>
              <a:path w="5648629" h="1319520">
                <a:moveTo>
                  <a:pt x="36151" y="0"/>
                </a:moveTo>
                <a:lnTo>
                  <a:pt x="5576332" y="0"/>
                </a:lnTo>
                <a:cubicBezTo>
                  <a:pt x="5616260" y="0"/>
                  <a:pt x="5648629" y="32368"/>
                  <a:pt x="5648629" y="72296"/>
                </a:cubicBezTo>
                <a:lnTo>
                  <a:pt x="5648629" y="1247223"/>
                </a:lnTo>
                <a:cubicBezTo>
                  <a:pt x="5648629" y="1287151"/>
                  <a:pt x="5616260" y="1319520"/>
                  <a:pt x="5576332" y="1319520"/>
                </a:cubicBezTo>
                <a:lnTo>
                  <a:pt x="36151" y="1319520"/>
                </a:lnTo>
                <a:cubicBezTo>
                  <a:pt x="16185" y="1319520"/>
                  <a:pt x="0" y="1303334"/>
                  <a:pt x="0" y="1283368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18" name="Shape 16"/>
          <p:cNvSpPr/>
          <p:nvPr/>
        </p:nvSpPr>
        <p:spPr>
          <a:xfrm>
            <a:off x="379588" y="4995836"/>
            <a:ext cx="36151" cy="1319520"/>
          </a:xfrm>
          <a:custGeom>
            <a:avLst/>
            <a:gdLst/>
            <a:ahLst/>
            <a:cxnLst/>
            <a:rect l="l" t="t" r="r" b="b"/>
            <a:pathLst>
              <a:path w="36151" h="1319520">
                <a:moveTo>
                  <a:pt x="36151" y="0"/>
                </a:moveTo>
                <a:lnTo>
                  <a:pt x="36151" y="0"/>
                </a:lnTo>
                <a:lnTo>
                  <a:pt x="36151" y="1319520"/>
                </a:lnTo>
                <a:lnTo>
                  <a:pt x="36151" y="1319520"/>
                </a:lnTo>
                <a:cubicBezTo>
                  <a:pt x="16185" y="1319520"/>
                  <a:pt x="0" y="1303334"/>
                  <a:pt x="0" y="1283368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9" name="Shape 17"/>
          <p:cNvSpPr/>
          <p:nvPr/>
        </p:nvSpPr>
        <p:spPr>
          <a:xfrm>
            <a:off x="542268" y="5140441"/>
            <a:ext cx="433815" cy="433815"/>
          </a:xfrm>
          <a:custGeom>
            <a:avLst/>
            <a:gdLst/>
            <a:ahLst/>
            <a:cxnLst/>
            <a:rect l="l" t="t" r="r" b="b"/>
            <a:pathLst>
              <a:path w="433815" h="433815">
                <a:moveTo>
                  <a:pt x="216907" y="0"/>
                </a:moveTo>
                <a:lnTo>
                  <a:pt x="216907" y="0"/>
                </a:lnTo>
                <a:cubicBezTo>
                  <a:pt x="336622" y="0"/>
                  <a:pt x="433815" y="97193"/>
                  <a:pt x="433815" y="216907"/>
                </a:cubicBezTo>
                <a:lnTo>
                  <a:pt x="433815" y="216907"/>
                </a:lnTo>
                <a:cubicBezTo>
                  <a:pt x="433815" y="336622"/>
                  <a:pt x="336622" y="433815"/>
                  <a:pt x="216907" y="433815"/>
                </a:cubicBezTo>
                <a:lnTo>
                  <a:pt x="216907" y="433815"/>
                </a:lnTo>
                <a:cubicBezTo>
                  <a:pt x="97193" y="433815"/>
                  <a:pt x="0" y="336622"/>
                  <a:pt x="0" y="216907"/>
                </a:cubicBezTo>
                <a:lnTo>
                  <a:pt x="0" y="216907"/>
                </a:lnTo>
                <a:cubicBezTo>
                  <a:pt x="0" y="97193"/>
                  <a:pt x="97193" y="0"/>
                  <a:pt x="216907" y="0"/>
                </a:cubicBezTo>
                <a:close/>
              </a:path>
            </a:pathLst>
          </a:custGeom>
          <a:solidFill>
            <a:srgbClr val="A99A8D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80095" y="5266970"/>
            <a:ext cx="158162" cy="180756"/>
          </a:xfrm>
          <a:custGeom>
            <a:avLst/>
            <a:gdLst/>
            <a:ahLst/>
            <a:cxnLst/>
            <a:rect l="l" t="t" r="r" b="b"/>
            <a:pathLst>
              <a:path w="158162" h="180756">
                <a:moveTo>
                  <a:pt x="11297" y="0"/>
                </a:moveTo>
                <a:cubicBezTo>
                  <a:pt x="17546" y="0"/>
                  <a:pt x="22595" y="5048"/>
                  <a:pt x="22595" y="11297"/>
                </a:cubicBezTo>
                <a:lnTo>
                  <a:pt x="22595" y="16946"/>
                </a:lnTo>
                <a:lnTo>
                  <a:pt x="46954" y="10874"/>
                </a:lnTo>
                <a:cubicBezTo>
                  <a:pt x="60405" y="7520"/>
                  <a:pt x="74597" y="9073"/>
                  <a:pt x="87024" y="15287"/>
                </a:cubicBezTo>
                <a:cubicBezTo>
                  <a:pt x="103370" y="23477"/>
                  <a:pt x="122611" y="23477"/>
                  <a:pt x="138956" y="15287"/>
                </a:cubicBezTo>
                <a:lnTo>
                  <a:pt x="142345" y="13592"/>
                </a:lnTo>
                <a:cubicBezTo>
                  <a:pt x="149618" y="9920"/>
                  <a:pt x="158162" y="15216"/>
                  <a:pt x="158162" y="23336"/>
                </a:cubicBezTo>
                <a:lnTo>
                  <a:pt x="158162" y="122081"/>
                </a:lnTo>
                <a:cubicBezTo>
                  <a:pt x="158162" y="126776"/>
                  <a:pt x="155231" y="131013"/>
                  <a:pt x="150818" y="132672"/>
                </a:cubicBezTo>
                <a:lnTo>
                  <a:pt x="138568" y="137262"/>
                </a:lnTo>
                <a:cubicBezTo>
                  <a:pt x="122258" y="143369"/>
                  <a:pt x="104111" y="142416"/>
                  <a:pt x="88542" y="134649"/>
                </a:cubicBezTo>
                <a:cubicBezTo>
                  <a:pt x="75162" y="127941"/>
                  <a:pt x="59805" y="126282"/>
                  <a:pt x="45295" y="129918"/>
                </a:cubicBezTo>
                <a:lnTo>
                  <a:pt x="22595" y="135567"/>
                </a:lnTo>
                <a:lnTo>
                  <a:pt x="22595" y="169459"/>
                </a:lnTo>
                <a:cubicBezTo>
                  <a:pt x="22595" y="175708"/>
                  <a:pt x="17546" y="180756"/>
                  <a:pt x="11297" y="180756"/>
                </a:cubicBezTo>
                <a:cubicBezTo>
                  <a:pt x="5048" y="180756"/>
                  <a:pt x="0" y="175708"/>
                  <a:pt x="0" y="169459"/>
                </a:cubicBezTo>
                <a:lnTo>
                  <a:pt x="0" y="11297"/>
                </a:lnTo>
                <a:cubicBezTo>
                  <a:pt x="0" y="5048"/>
                  <a:pt x="5048" y="0"/>
                  <a:pt x="11297" y="0"/>
                </a:cubicBezTo>
                <a:close/>
                <a:moveTo>
                  <a:pt x="22595" y="66054"/>
                </a:moveTo>
                <a:lnTo>
                  <a:pt x="45189" y="61146"/>
                </a:lnTo>
                <a:lnTo>
                  <a:pt x="45189" y="84270"/>
                </a:lnTo>
                <a:lnTo>
                  <a:pt x="22595" y="89178"/>
                </a:lnTo>
                <a:lnTo>
                  <a:pt x="22595" y="112302"/>
                </a:lnTo>
                <a:lnTo>
                  <a:pt x="39823" y="107995"/>
                </a:lnTo>
                <a:cubicBezTo>
                  <a:pt x="41623" y="107536"/>
                  <a:pt x="43389" y="107147"/>
                  <a:pt x="45189" y="106830"/>
                </a:cubicBezTo>
                <a:lnTo>
                  <a:pt x="45189" y="84270"/>
                </a:lnTo>
                <a:lnTo>
                  <a:pt x="58922" y="81305"/>
                </a:lnTo>
                <a:cubicBezTo>
                  <a:pt x="61852" y="80669"/>
                  <a:pt x="64818" y="80422"/>
                  <a:pt x="67784" y="80564"/>
                </a:cubicBezTo>
                <a:lnTo>
                  <a:pt x="67784" y="57969"/>
                </a:lnTo>
                <a:cubicBezTo>
                  <a:pt x="72585" y="58110"/>
                  <a:pt x="77386" y="58887"/>
                  <a:pt x="82046" y="60229"/>
                </a:cubicBezTo>
                <a:lnTo>
                  <a:pt x="90378" y="62664"/>
                </a:lnTo>
                <a:lnTo>
                  <a:pt x="90378" y="86212"/>
                </a:lnTo>
                <a:lnTo>
                  <a:pt x="75656" y="81870"/>
                </a:lnTo>
                <a:cubicBezTo>
                  <a:pt x="73079" y="81128"/>
                  <a:pt x="70431" y="80669"/>
                  <a:pt x="67784" y="80528"/>
                </a:cubicBezTo>
                <a:lnTo>
                  <a:pt x="67784" y="105735"/>
                </a:lnTo>
                <a:cubicBezTo>
                  <a:pt x="75480" y="106406"/>
                  <a:pt x="83070" y="108101"/>
                  <a:pt x="90378" y="110819"/>
                </a:cubicBezTo>
                <a:lnTo>
                  <a:pt x="90378" y="86177"/>
                </a:lnTo>
                <a:lnTo>
                  <a:pt x="98392" y="88542"/>
                </a:lnTo>
                <a:cubicBezTo>
                  <a:pt x="103158" y="89954"/>
                  <a:pt x="108030" y="90802"/>
                  <a:pt x="112973" y="91155"/>
                </a:cubicBezTo>
                <a:lnTo>
                  <a:pt x="112973" y="68490"/>
                </a:lnTo>
                <a:cubicBezTo>
                  <a:pt x="110219" y="68207"/>
                  <a:pt x="107465" y="67678"/>
                  <a:pt x="104782" y="66901"/>
                </a:cubicBezTo>
                <a:lnTo>
                  <a:pt x="90378" y="62664"/>
                </a:lnTo>
                <a:lnTo>
                  <a:pt x="90378" y="40776"/>
                </a:lnTo>
                <a:cubicBezTo>
                  <a:pt x="85789" y="39434"/>
                  <a:pt x="81270" y="37669"/>
                  <a:pt x="76892" y="35480"/>
                </a:cubicBezTo>
                <a:cubicBezTo>
                  <a:pt x="73997" y="34033"/>
                  <a:pt x="70926" y="33009"/>
                  <a:pt x="67784" y="32374"/>
                </a:cubicBezTo>
                <a:lnTo>
                  <a:pt x="67784" y="57934"/>
                </a:lnTo>
                <a:cubicBezTo>
                  <a:pt x="63194" y="57793"/>
                  <a:pt x="58605" y="58216"/>
                  <a:pt x="54121" y="59205"/>
                </a:cubicBezTo>
                <a:lnTo>
                  <a:pt x="45189" y="61146"/>
                </a:lnTo>
                <a:lnTo>
                  <a:pt x="45189" y="34598"/>
                </a:lnTo>
                <a:lnTo>
                  <a:pt x="22595" y="40246"/>
                </a:lnTo>
                <a:lnTo>
                  <a:pt x="22595" y="66054"/>
                </a:lnTo>
                <a:close/>
                <a:moveTo>
                  <a:pt x="112973" y="118515"/>
                </a:moveTo>
                <a:cubicBezTo>
                  <a:pt x="118904" y="119045"/>
                  <a:pt x="124941" y="118268"/>
                  <a:pt x="130625" y="116115"/>
                </a:cubicBezTo>
                <a:lnTo>
                  <a:pt x="135567" y="114279"/>
                </a:lnTo>
                <a:lnTo>
                  <a:pt x="135567" y="88966"/>
                </a:lnTo>
                <a:lnTo>
                  <a:pt x="132778" y="89601"/>
                </a:lnTo>
                <a:cubicBezTo>
                  <a:pt x="126282" y="91119"/>
                  <a:pt x="119610" y="91614"/>
                  <a:pt x="112973" y="91190"/>
                </a:cubicBezTo>
                <a:lnTo>
                  <a:pt x="112973" y="118515"/>
                </a:lnTo>
                <a:close/>
                <a:moveTo>
                  <a:pt x="135567" y="65771"/>
                </a:moveTo>
                <a:lnTo>
                  <a:pt x="135567" y="40776"/>
                </a:lnTo>
                <a:cubicBezTo>
                  <a:pt x="128189" y="42930"/>
                  <a:pt x="120598" y="43989"/>
                  <a:pt x="112973" y="43989"/>
                </a:cubicBezTo>
                <a:lnTo>
                  <a:pt x="112973" y="68490"/>
                </a:lnTo>
                <a:cubicBezTo>
                  <a:pt x="117880" y="68984"/>
                  <a:pt x="122858" y="68666"/>
                  <a:pt x="127694" y="67572"/>
                </a:cubicBezTo>
                <a:lnTo>
                  <a:pt x="135567" y="65736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1" name="Text 19"/>
          <p:cNvSpPr/>
          <p:nvPr/>
        </p:nvSpPr>
        <p:spPr>
          <a:xfrm>
            <a:off x="1084537" y="5140441"/>
            <a:ext cx="4889453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Goals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84537" y="5465802"/>
            <a:ext cx="4871377" cy="7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Uncover insights into spending patterns, customer segments, product preferences, and subscription behavior to guide strategic business decisions and drive growth.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822" y="1196003"/>
            <a:ext cx="5654654" cy="5112385"/>
          </a:xfrm>
          <a:custGeom>
            <a:avLst/>
            <a:gdLst/>
            <a:ahLst/>
            <a:cxnLst/>
            <a:rect l="l" t="t" r="r" b="b"/>
            <a:pathLst>
              <a:path w="5654654" h="5112385">
                <a:moveTo>
                  <a:pt x="72289" y="0"/>
                </a:moveTo>
                <a:lnTo>
                  <a:pt x="5582365" y="0"/>
                </a:lnTo>
                <a:cubicBezTo>
                  <a:pt x="5622289" y="0"/>
                  <a:pt x="5654654" y="32365"/>
                  <a:pt x="5654654" y="72289"/>
                </a:cubicBezTo>
                <a:lnTo>
                  <a:pt x="5654654" y="5040096"/>
                </a:lnTo>
                <a:cubicBezTo>
                  <a:pt x="5654654" y="5080021"/>
                  <a:pt x="5622289" y="5112385"/>
                  <a:pt x="5582365" y="5112385"/>
                </a:cubicBezTo>
                <a:lnTo>
                  <a:pt x="72289" y="5112385"/>
                </a:lnTo>
                <a:cubicBezTo>
                  <a:pt x="32365" y="5112385"/>
                  <a:pt x="0" y="5080021"/>
                  <a:pt x="0" y="5040096"/>
                </a:cubicBezTo>
                <a:lnTo>
                  <a:pt x="0" y="72289"/>
                </a:lnTo>
                <a:cubicBezTo>
                  <a:pt x="0" y="32392"/>
                  <a:pt x="32392" y="0"/>
                  <a:pt x="72289" y="0"/>
                </a:cubicBezTo>
                <a:close/>
              </a:path>
            </a:pathLst>
          </a:custGeom>
          <a:gradFill rotWithShape="1" flip="none">
            <a:gsLst>
              <a:gs pos="0">
                <a:srgbClr val="2C3138"/>
              </a:gs>
              <a:gs pos="100000">
                <a:srgbClr val="1A1D21"/>
              </a:gs>
            </a:gsLst>
            <a:lin ang="2700000" scaled="1"/>
          </a:gra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47553" y="1379771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>
                <a:moveTo>
                  <a:pt x="142345" y="149124"/>
                </a:moveTo>
                <a:cubicBezTo>
                  <a:pt x="183524" y="149124"/>
                  <a:pt x="216907" y="115740"/>
                  <a:pt x="216907" y="74562"/>
                </a:cubicBezTo>
                <a:cubicBezTo>
                  <a:pt x="216907" y="33383"/>
                  <a:pt x="183524" y="0"/>
                  <a:pt x="142345" y="0"/>
                </a:cubicBezTo>
                <a:cubicBezTo>
                  <a:pt x="101167" y="0"/>
                  <a:pt x="67784" y="33383"/>
                  <a:pt x="67784" y="74562"/>
                </a:cubicBezTo>
                <a:cubicBezTo>
                  <a:pt x="67784" y="82484"/>
                  <a:pt x="69012" y="90152"/>
                  <a:pt x="71300" y="97312"/>
                </a:cubicBezTo>
                <a:lnTo>
                  <a:pt x="2966" y="165646"/>
                </a:lnTo>
                <a:cubicBezTo>
                  <a:pt x="1059" y="167552"/>
                  <a:pt x="0" y="170137"/>
                  <a:pt x="0" y="172848"/>
                </a:cubicBezTo>
                <a:lnTo>
                  <a:pt x="0" y="206740"/>
                </a:lnTo>
                <a:cubicBezTo>
                  <a:pt x="0" y="212374"/>
                  <a:pt x="4533" y="216907"/>
                  <a:pt x="10168" y="216907"/>
                </a:cubicBezTo>
                <a:lnTo>
                  <a:pt x="44059" y="216907"/>
                </a:lnTo>
                <a:cubicBezTo>
                  <a:pt x="49694" y="216907"/>
                  <a:pt x="54227" y="212374"/>
                  <a:pt x="54227" y="206740"/>
                </a:cubicBezTo>
                <a:lnTo>
                  <a:pt x="54227" y="189794"/>
                </a:lnTo>
                <a:lnTo>
                  <a:pt x="71173" y="189794"/>
                </a:lnTo>
                <a:cubicBezTo>
                  <a:pt x="76807" y="189794"/>
                  <a:pt x="81340" y="185261"/>
                  <a:pt x="81340" y="179626"/>
                </a:cubicBezTo>
                <a:lnTo>
                  <a:pt x="81340" y="162681"/>
                </a:lnTo>
                <a:lnTo>
                  <a:pt x="98286" y="162681"/>
                </a:lnTo>
                <a:cubicBezTo>
                  <a:pt x="100997" y="162681"/>
                  <a:pt x="103582" y="161621"/>
                  <a:pt x="105488" y="159715"/>
                </a:cubicBezTo>
                <a:lnTo>
                  <a:pt x="119596" y="145608"/>
                </a:lnTo>
                <a:cubicBezTo>
                  <a:pt x="126755" y="147895"/>
                  <a:pt x="134423" y="149124"/>
                  <a:pt x="142345" y="149124"/>
                </a:cubicBezTo>
                <a:close/>
                <a:moveTo>
                  <a:pt x="159291" y="40670"/>
                </a:moveTo>
                <a:cubicBezTo>
                  <a:pt x="168644" y="40670"/>
                  <a:pt x="176237" y="48263"/>
                  <a:pt x="176237" y="57616"/>
                </a:cubicBezTo>
                <a:cubicBezTo>
                  <a:pt x="176237" y="66969"/>
                  <a:pt x="168644" y="74562"/>
                  <a:pt x="159291" y="74562"/>
                </a:cubicBezTo>
                <a:cubicBezTo>
                  <a:pt x="149939" y="74562"/>
                  <a:pt x="142345" y="66969"/>
                  <a:pt x="142345" y="57616"/>
                </a:cubicBezTo>
                <a:cubicBezTo>
                  <a:pt x="142345" y="48263"/>
                  <a:pt x="149939" y="40670"/>
                  <a:pt x="159291" y="4067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5" name="Text 23"/>
          <p:cNvSpPr/>
          <p:nvPr/>
        </p:nvSpPr>
        <p:spPr>
          <a:xfrm>
            <a:off x="6591573" y="1343620"/>
            <a:ext cx="5196738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Areas of Investigation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0439" y="1981163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36151" y="0"/>
                </a:moveTo>
                <a:lnTo>
                  <a:pt x="253059" y="0"/>
                </a:lnTo>
                <a:cubicBezTo>
                  <a:pt x="273024" y="0"/>
                  <a:pt x="289210" y="16185"/>
                  <a:pt x="289210" y="36151"/>
                </a:cubicBezTo>
                <a:lnTo>
                  <a:pt x="289210" y="253059"/>
                </a:lnTo>
                <a:cubicBezTo>
                  <a:pt x="289210" y="273024"/>
                  <a:pt x="273024" y="289210"/>
                  <a:pt x="253059" y="289210"/>
                </a:cubicBezTo>
                <a:lnTo>
                  <a:pt x="36151" y="289210"/>
                </a:lnTo>
                <a:cubicBezTo>
                  <a:pt x="16185" y="289210"/>
                  <a:pt x="0" y="273024"/>
                  <a:pt x="0" y="253059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7" name="Text 25"/>
          <p:cNvSpPr/>
          <p:nvPr/>
        </p:nvSpPr>
        <p:spPr>
          <a:xfrm>
            <a:off x="6284288" y="1981163"/>
            <a:ext cx="361512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18103" y="1981163"/>
            <a:ext cx="3217459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Demographic Patterns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18103" y="2234221"/>
            <a:ext cx="320842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Age, gender, location-based purchasing behaviors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20439" y="2858582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36151" y="0"/>
                </a:moveTo>
                <a:lnTo>
                  <a:pt x="253059" y="0"/>
                </a:lnTo>
                <a:cubicBezTo>
                  <a:pt x="273024" y="0"/>
                  <a:pt x="289210" y="16185"/>
                  <a:pt x="289210" y="36151"/>
                </a:cubicBezTo>
                <a:lnTo>
                  <a:pt x="289210" y="253059"/>
                </a:lnTo>
                <a:cubicBezTo>
                  <a:pt x="289210" y="273024"/>
                  <a:pt x="273024" y="289210"/>
                  <a:pt x="253059" y="289210"/>
                </a:cubicBezTo>
                <a:lnTo>
                  <a:pt x="36151" y="289210"/>
                </a:lnTo>
                <a:cubicBezTo>
                  <a:pt x="16185" y="289210"/>
                  <a:pt x="0" y="273024"/>
                  <a:pt x="0" y="253059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1" name="Text 29"/>
          <p:cNvSpPr/>
          <p:nvPr/>
        </p:nvSpPr>
        <p:spPr>
          <a:xfrm>
            <a:off x="6284288" y="2858582"/>
            <a:ext cx="361512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18103" y="2858582"/>
            <a:ext cx="3569933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Preferences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18103" y="3111641"/>
            <a:ext cx="3560895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trends, seasonal variations, size/color patterns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20439" y="3736003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36151" y="0"/>
                </a:moveTo>
                <a:lnTo>
                  <a:pt x="253059" y="0"/>
                </a:lnTo>
                <a:cubicBezTo>
                  <a:pt x="273024" y="0"/>
                  <a:pt x="289210" y="16185"/>
                  <a:pt x="289210" y="36151"/>
                </a:cubicBezTo>
                <a:lnTo>
                  <a:pt x="289210" y="253059"/>
                </a:lnTo>
                <a:cubicBezTo>
                  <a:pt x="289210" y="273024"/>
                  <a:pt x="273024" y="289210"/>
                  <a:pt x="253059" y="289210"/>
                </a:cubicBezTo>
                <a:lnTo>
                  <a:pt x="36151" y="289210"/>
                </a:lnTo>
                <a:cubicBezTo>
                  <a:pt x="16185" y="289210"/>
                  <a:pt x="0" y="273024"/>
                  <a:pt x="0" y="253059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35" name="Text 33"/>
          <p:cNvSpPr/>
          <p:nvPr/>
        </p:nvSpPr>
        <p:spPr>
          <a:xfrm>
            <a:off x="6284288" y="3736003"/>
            <a:ext cx="361512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18103" y="3736003"/>
            <a:ext cx="3072854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Discount Impact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18103" y="3989063"/>
            <a:ext cx="3063816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promotions influence spending and loyalty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20439" y="4613424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36151" y="0"/>
                </a:moveTo>
                <a:lnTo>
                  <a:pt x="253059" y="0"/>
                </a:lnTo>
                <a:cubicBezTo>
                  <a:pt x="273024" y="0"/>
                  <a:pt x="289210" y="16185"/>
                  <a:pt x="289210" y="36151"/>
                </a:cubicBezTo>
                <a:lnTo>
                  <a:pt x="289210" y="253059"/>
                </a:lnTo>
                <a:cubicBezTo>
                  <a:pt x="289210" y="273024"/>
                  <a:pt x="273024" y="289210"/>
                  <a:pt x="253059" y="289210"/>
                </a:cubicBezTo>
                <a:lnTo>
                  <a:pt x="36151" y="289210"/>
                </a:lnTo>
                <a:cubicBezTo>
                  <a:pt x="16185" y="289210"/>
                  <a:pt x="0" y="273024"/>
                  <a:pt x="0" y="253059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9" name="Text 37"/>
          <p:cNvSpPr/>
          <p:nvPr/>
        </p:nvSpPr>
        <p:spPr>
          <a:xfrm>
            <a:off x="6284288" y="4613424"/>
            <a:ext cx="361512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18103" y="4613424"/>
            <a:ext cx="3163232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 Behavior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18103" y="4866482"/>
            <a:ext cx="315419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retention and repeat purchase patterns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20439" y="5490843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36151" y="0"/>
                </a:moveTo>
                <a:lnTo>
                  <a:pt x="253059" y="0"/>
                </a:lnTo>
                <a:cubicBezTo>
                  <a:pt x="273024" y="0"/>
                  <a:pt x="289210" y="16185"/>
                  <a:pt x="289210" y="36151"/>
                </a:cubicBezTo>
                <a:lnTo>
                  <a:pt x="289210" y="253059"/>
                </a:lnTo>
                <a:cubicBezTo>
                  <a:pt x="289210" y="273024"/>
                  <a:pt x="273024" y="289210"/>
                  <a:pt x="253059" y="289210"/>
                </a:cubicBezTo>
                <a:lnTo>
                  <a:pt x="36151" y="289210"/>
                </a:lnTo>
                <a:cubicBezTo>
                  <a:pt x="16185" y="289210"/>
                  <a:pt x="0" y="273024"/>
                  <a:pt x="0" y="253059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3" name="Text 41"/>
          <p:cNvSpPr/>
          <p:nvPr/>
        </p:nvSpPr>
        <p:spPr>
          <a:xfrm>
            <a:off x="6284288" y="5490843"/>
            <a:ext cx="361512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18103" y="5490843"/>
            <a:ext cx="2476359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Channel Performance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18103" y="5743902"/>
            <a:ext cx="246732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vs offline shopping preferences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64525" y="6426822"/>
            <a:ext cx="11465963" cy="439840"/>
          </a:xfrm>
          <a:custGeom>
            <a:avLst/>
            <a:gdLst/>
            <a:ahLst/>
            <a:cxnLst/>
            <a:rect l="l" t="t" r="r" b="b"/>
            <a:pathLst>
              <a:path w="11465963" h="439840">
                <a:moveTo>
                  <a:pt x="72301" y="0"/>
                </a:moveTo>
                <a:lnTo>
                  <a:pt x="11393662" y="0"/>
                </a:lnTo>
                <a:cubicBezTo>
                  <a:pt x="11433593" y="0"/>
                  <a:pt x="11465963" y="32370"/>
                  <a:pt x="11465963" y="72301"/>
                </a:cubicBezTo>
                <a:lnTo>
                  <a:pt x="11465963" y="367539"/>
                </a:lnTo>
                <a:cubicBezTo>
                  <a:pt x="11465963" y="407470"/>
                  <a:pt x="11433593" y="439840"/>
                  <a:pt x="11393662" y="439840"/>
                </a:cubicBezTo>
                <a:lnTo>
                  <a:pt x="72301" y="439840"/>
                </a:lnTo>
                <a:cubicBezTo>
                  <a:pt x="32397" y="439840"/>
                  <a:pt x="0" y="407443"/>
                  <a:pt x="0" y="367539"/>
                </a:cubicBezTo>
                <a:lnTo>
                  <a:pt x="0" y="72301"/>
                </a:lnTo>
                <a:cubicBezTo>
                  <a:pt x="0" y="32397"/>
                  <a:pt x="32397" y="0"/>
                  <a:pt x="72301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 w="8467">
            <a:solidFill>
              <a:srgbClr val="A99A8D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4067" y="6568414"/>
            <a:ext cx="144605" cy="144605"/>
          </a:xfrm>
          <a:custGeom>
            <a:avLst/>
            <a:gdLst/>
            <a:ahLst/>
            <a:cxnLst/>
            <a:rect l="l" t="t" r="r" b="b"/>
            <a:pathLst>
              <a:path w="144605" h="144605">
                <a:moveTo>
                  <a:pt x="72302" y="144605"/>
                </a:moveTo>
                <a:cubicBezTo>
                  <a:pt x="112207" y="144605"/>
                  <a:pt x="144605" y="112207"/>
                  <a:pt x="144605" y="72302"/>
                </a:cubicBezTo>
                <a:cubicBezTo>
                  <a:pt x="144605" y="32398"/>
                  <a:pt x="112207" y="0"/>
                  <a:pt x="72302" y="0"/>
                </a:cubicBezTo>
                <a:cubicBezTo>
                  <a:pt x="32398" y="0"/>
                  <a:pt x="0" y="32398"/>
                  <a:pt x="0" y="72302"/>
                </a:cubicBezTo>
                <a:cubicBezTo>
                  <a:pt x="0" y="112207"/>
                  <a:pt x="32398" y="144605"/>
                  <a:pt x="72302" y="144605"/>
                </a:cubicBezTo>
                <a:close/>
                <a:moveTo>
                  <a:pt x="63265" y="45189"/>
                </a:moveTo>
                <a:cubicBezTo>
                  <a:pt x="63265" y="40201"/>
                  <a:pt x="67314" y="36151"/>
                  <a:pt x="72302" y="36151"/>
                </a:cubicBezTo>
                <a:cubicBezTo>
                  <a:pt x="77291" y="36151"/>
                  <a:pt x="81340" y="40201"/>
                  <a:pt x="81340" y="45189"/>
                </a:cubicBezTo>
                <a:cubicBezTo>
                  <a:pt x="81340" y="50177"/>
                  <a:pt x="77291" y="54227"/>
                  <a:pt x="72302" y="54227"/>
                </a:cubicBezTo>
                <a:cubicBezTo>
                  <a:pt x="67314" y="54227"/>
                  <a:pt x="63265" y="50177"/>
                  <a:pt x="63265" y="45189"/>
                </a:cubicBezTo>
                <a:close/>
                <a:moveTo>
                  <a:pt x="61005" y="63265"/>
                </a:moveTo>
                <a:lnTo>
                  <a:pt x="74562" y="63265"/>
                </a:lnTo>
                <a:cubicBezTo>
                  <a:pt x="78318" y="63265"/>
                  <a:pt x="81340" y="66287"/>
                  <a:pt x="81340" y="70043"/>
                </a:cubicBezTo>
                <a:lnTo>
                  <a:pt x="81340" y="94897"/>
                </a:lnTo>
                <a:lnTo>
                  <a:pt x="83600" y="94897"/>
                </a:lnTo>
                <a:cubicBezTo>
                  <a:pt x="87356" y="94897"/>
                  <a:pt x="90378" y="97919"/>
                  <a:pt x="90378" y="101675"/>
                </a:cubicBezTo>
                <a:cubicBezTo>
                  <a:pt x="90378" y="105432"/>
                  <a:pt x="87356" y="108454"/>
                  <a:pt x="83600" y="108454"/>
                </a:cubicBezTo>
                <a:lnTo>
                  <a:pt x="61005" y="108454"/>
                </a:lnTo>
                <a:cubicBezTo>
                  <a:pt x="57249" y="108454"/>
                  <a:pt x="54227" y="105432"/>
                  <a:pt x="54227" y="101675"/>
                </a:cubicBezTo>
                <a:cubicBezTo>
                  <a:pt x="54227" y="97919"/>
                  <a:pt x="57249" y="94897"/>
                  <a:pt x="61005" y="94897"/>
                </a:cubicBezTo>
                <a:lnTo>
                  <a:pt x="67784" y="94897"/>
                </a:lnTo>
                <a:lnTo>
                  <a:pt x="67784" y="76821"/>
                </a:lnTo>
                <a:lnTo>
                  <a:pt x="61005" y="76821"/>
                </a:lnTo>
                <a:cubicBezTo>
                  <a:pt x="57249" y="76821"/>
                  <a:pt x="54227" y="73799"/>
                  <a:pt x="54227" y="70043"/>
                </a:cubicBezTo>
                <a:cubicBezTo>
                  <a:pt x="54227" y="66287"/>
                  <a:pt x="57249" y="63265"/>
                  <a:pt x="61005" y="63265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8" name="Text 46"/>
          <p:cNvSpPr/>
          <p:nvPr/>
        </p:nvSpPr>
        <p:spPr>
          <a:xfrm>
            <a:off x="708200" y="6538289"/>
            <a:ext cx="1108312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Importance:</a:t>
            </a:r>
            <a:pPr>
              <a:lnSpc>
                <a:spcPct val="130000"/>
              </a:lnSpc>
            </a:pPr>
            <a:r>
              <a:rPr lang="en-US" sz="1139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analysis directly supports data-driven decision making for customer engagement, marketing optimization, and product strategy refinement.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Foundation: 3,900 Customer Transactions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525" y="1304925"/>
            <a:ext cx="6686550" cy="2419350"/>
          </a:xfrm>
          <a:custGeom>
            <a:avLst/>
            <a:gdLst/>
            <a:ahLst/>
            <a:cxnLst/>
            <a:rect l="l" t="t" r="r" b="b"/>
            <a:pathLst>
              <a:path w="6686550" h="2419350">
                <a:moveTo>
                  <a:pt x="76210" y="0"/>
                </a:moveTo>
                <a:lnTo>
                  <a:pt x="6610340" y="0"/>
                </a:lnTo>
                <a:cubicBezTo>
                  <a:pt x="6652430" y="0"/>
                  <a:pt x="6686550" y="34120"/>
                  <a:pt x="6686550" y="76210"/>
                </a:cubicBezTo>
                <a:lnTo>
                  <a:pt x="6686550" y="2343140"/>
                </a:lnTo>
                <a:cubicBezTo>
                  <a:pt x="6686550" y="2385230"/>
                  <a:pt x="6652430" y="2419350"/>
                  <a:pt x="6610340" y="2419350"/>
                </a:cubicBezTo>
                <a:lnTo>
                  <a:pt x="76210" y="2419350"/>
                </a:lnTo>
                <a:cubicBezTo>
                  <a:pt x="34120" y="2419350"/>
                  <a:pt x="0" y="2385230"/>
                  <a:pt x="0" y="23431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2C3138"/>
              </a:gs>
            </a:gsLst>
            <a:lin ang="2700000" scaled="1"/>
          </a:gradFill>
          <a:ln w="25400">
            <a:solidFill>
              <a:srgbClr val="A99A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450" y="1466850"/>
            <a:ext cx="1895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2263" y="15049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7" name="Shape 5"/>
          <p:cNvSpPr/>
          <p:nvPr/>
        </p:nvSpPr>
        <p:spPr>
          <a:xfrm>
            <a:off x="552450" y="1885950"/>
            <a:ext cx="3124200" cy="876300"/>
          </a:xfrm>
          <a:custGeom>
            <a:avLst/>
            <a:gdLst/>
            <a:ahLst/>
            <a:cxnLst/>
            <a:rect l="l" t="t" r="r" b="b"/>
            <a:pathLst>
              <a:path w="3124200" h="876300">
                <a:moveTo>
                  <a:pt x="76203" y="0"/>
                </a:moveTo>
                <a:lnTo>
                  <a:pt x="3047997" y="0"/>
                </a:lnTo>
                <a:cubicBezTo>
                  <a:pt x="3090083" y="0"/>
                  <a:pt x="3124200" y="34117"/>
                  <a:pt x="3124200" y="76203"/>
                </a:cubicBezTo>
                <a:lnTo>
                  <a:pt x="3124200" y="800097"/>
                </a:lnTo>
                <a:cubicBezTo>
                  <a:pt x="3124200" y="842183"/>
                  <a:pt x="3090083" y="876300"/>
                  <a:pt x="3047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581025" y="2000250"/>
            <a:ext cx="3067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3,900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8650" y="24193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Transactions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90950" y="1885950"/>
            <a:ext cx="3124200" cy="876300"/>
          </a:xfrm>
          <a:custGeom>
            <a:avLst/>
            <a:gdLst/>
            <a:ahLst/>
            <a:cxnLst/>
            <a:rect l="l" t="t" r="r" b="b"/>
            <a:pathLst>
              <a:path w="3124200" h="876300">
                <a:moveTo>
                  <a:pt x="76203" y="0"/>
                </a:moveTo>
                <a:lnTo>
                  <a:pt x="3047997" y="0"/>
                </a:lnTo>
                <a:cubicBezTo>
                  <a:pt x="3090083" y="0"/>
                  <a:pt x="3124200" y="34117"/>
                  <a:pt x="3124200" y="76203"/>
                </a:cubicBezTo>
                <a:lnTo>
                  <a:pt x="3124200" y="800097"/>
                </a:lnTo>
                <a:cubicBezTo>
                  <a:pt x="3124200" y="842183"/>
                  <a:pt x="3090083" y="876300"/>
                  <a:pt x="3047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9"/>
          <p:cNvSpPr/>
          <p:nvPr/>
        </p:nvSpPr>
        <p:spPr>
          <a:xfrm>
            <a:off x="3819525" y="2000250"/>
            <a:ext cx="3067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67150" y="24193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Features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2876550"/>
            <a:ext cx="6362700" cy="685800"/>
          </a:xfrm>
          <a:custGeom>
            <a:avLst/>
            <a:gdLst/>
            <a:ahLst/>
            <a:cxnLst/>
            <a:rect l="l" t="t" r="r" b="b"/>
            <a:pathLst>
              <a:path w="6362700" h="685800">
                <a:moveTo>
                  <a:pt x="76199" y="0"/>
                </a:moveTo>
                <a:lnTo>
                  <a:pt x="6286501" y="0"/>
                </a:lnTo>
                <a:cubicBezTo>
                  <a:pt x="6328584" y="0"/>
                  <a:pt x="6362700" y="34116"/>
                  <a:pt x="6362700" y="76199"/>
                </a:cubicBezTo>
                <a:lnTo>
                  <a:pt x="6362700" y="609601"/>
                </a:lnTo>
                <a:cubicBezTo>
                  <a:pt x="6362700" y="651684"/>
                  <a:pt x="6328584" y="685800"/>
                  <a:pt x="6286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666750" y="2990850"/>
            <a:ext cx="621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37 missing values in Review Rating column, imputed using median by category.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3848100"/>
            <a:ext cx="6686550" cy="1828800"/>
          </a:xfrm>
          <a:custGeom>
            <a:avLst/>
            <a:gdLst/>
            <a:ahLst/>
            <a:cxnLst/>
            <a:rect l="l" t="t" r="r" b="b"/>
            <a:pathLst>
              <a:path w="6686550" h="1828800">
                <a:moveTo>
                  <a:pt x="38100" y="0"/>
                </a:moveTo>
                <a:lnTo>
                  <a:pt x="6610344" y="0"/>
                </a:lnTo>
                <a:cubicBezTo>
                  <a:pt x="6652431" y="0"/>
                  <a:pt x="6686550" y="34119"/>
                  <a:pt x="6686550" y="76206"/>
                </a:cubicBezTo>
                <a:lnTo>
                  <a:pt x="6686550" y="1752594"/>
                </a:lnTo>
                <a:cubicBezTo>
                  <a:pt x="6686550" y="1794681"/>
                  <a:pt x="6652431" y="1828800"/>
                  <a:pt x="661034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16" name="Shape 14"/>
          <p:cNvSpPr/>
          <p:nvPr/>
        </p:nvSpPr>
        <p:spPr>
          <a:xfrm>
            <a:off x="400050" y="38481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500" y="40386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8" name="Text 16"/>
          <p:cNvSpPr/>
          <p:nvPr/>
        </p:nvSpPr>
        <p:spPr>
          <a:xfrm>
            <a:off x="809625" y="4000500"/>
            <a:ext cx="621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Preparation Process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0550" y="4419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" y="4381500"/>
            <a:ext cx="513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Processing: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Pandas for data loading, cleaning, and feature engineering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0550" y="4724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2" name="Text 20"/>
          <p:cNvSpPr/>
          <p:nvPr/>
        </p:nvSpPr>
        <p:spPr>
          <a:xfrm>
            <a:off x="838200" y="4686300"/>
            <a:ext cx="488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Created age groups and purchase frequency metrics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055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" y="49911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Analysis: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PostgreSQL for business transaction queries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0550" y="5334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00" y="5295900"/>
            <a:ext cx="302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Power BI interactive dashboard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42175" y="1298575"/>
            <a:ext cx="4568825" cy="5178425"/>
          </a:xfrm>
          <a:custGeom>
            <a:avLst/>
            <a:gdLst/>
            <a:ahLst/>
            <a:cxnLst/>
            <a:rect l="l" t="t" r="r" b="b"/>
            <a:pathLst>
              <a:path w="4568825" h="5178425">
                <a:moveTo>
                  <a:pt x="76208" y="0"/>
                </a:moveTo>
                <a:lnTo>
                  <a:pt x="4492617" y="0"/>
                </a:lnTo>
                <a:cubicBezTo>
                  <a:pt x="4534706" y="0"/>
                  <a:pt x="4568825" y="34119"/>
                  <a:pt x="4568825" y="76208"/>
                </a:cubicBezTo>
                <a:lnTo>
                  <a:pt x="4568825" y="5102217"/>
                </a:lnTo>
                <a:cubicBezTo>
                  <a:pt x="4568825" y="5144306"/>
                  <a:pt x="4534706" y="5178425"/>
                  <a:pt x="4492617" y="5178425"/>
                </a:cubicBezTo>
                <a:lnTo>
                  <a:pt x="76208" y="5178425"/>
                </a:lnTo>
                <a:cubicBezTo>
                  <a:pt x="34119" y="5178425"/>
                  <a:pt x="0" y="5144306"/>
                  <a:pt x="0" y="5102217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40613" y="149225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71438"/>
                </a:moveTo>
                <a:lnTo>
                  <a:pt x="114300" y="114300"/>
                </a:lnTo>
                <a:lnTo>
                  <a:pt x="171450" y="114300"/>
                </a:lnTo>
                <a:lnTo>
                  <a:pt x="171450" y="71438"/>
                </a:lnTo>
                <a:lnTo>
                  <a:pt x="114300" y="71438"/>
                </a:lnTo>
                <a:close/>
                <a:moveTo>
                  <a:pt x="85725" y="71438"/>
                </a:moveTo>
                <a:lnTo>
                  <a:pt x="28575" y="71438"/>
                </a:lnTo>
                <a:lnTo>
                  <a:pt x="28575" y="114300"/>
                </a:lnTo>
                <a:lnTo>
                  <a:pt x="85725" y="114300"/>
                </a:lnTo>
                <a:lnTo>
                  <a:pt x="85725" y="71438"/>
                </a:lnTo>
                <a:close/>
                <a:moveTo>
                  <a:pt x="0" y="142875"/>
                </a:move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42875"/>
                </a:lnTo>
                <a:close/>
                <a:moveTo>
                  <a:pt x="171450" y="142875"/>
                </a:moveTo>
                <a:lnTo>
                  <a:pt x="114300" y="142875"/>
                </a:lnTo>
                <a:lnTo>
                  <a:pt x="114300" y="185738"/>
                </a:lnTo>
                <a:lnTo>
                  <a:pt x="171450" y="185738"/>
                </a:lnTo>
                <a:lnTo>
                  <a:pt x="171450" y="142875"/>
                </a:lnTo>
                <a:close/>
                <a:moveTo>
                  <a:pt x="85725" y="185738"/>
                </a:moveTo>
                <a:lnTo>
                  <a:pt x="85725" y="142875"/>
                </a:lnTo>
                <a:lnTo>
                  <a:pt x="28575" y="142875"/>
                </a:lnTo>
                <a:lnTo>
                  <a:pt x="28575" y="185738"/>
                </a:lnTo>
                <a:lnTo>
                  <a:pt x="85725" y="185738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9" name="Text 27"/>
          <p:cNvSpPr/>
          <p:nvPr/>
        </p:nvSpPr>
        <p:spPr>
          <a:xfrm>
            <a:off x="7683500" y="1454151"/>
            <a:ext cx="4086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Data Categories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07275" y="1873251"/>
            <a:ext cx="4248150" cy="800100"/>
          </a:xfrm>
          <a:custGeom>
            <a:avLst/>
            <a:gdLst/>
            <a:ahLst/>
            <a:cxnLst/>
            <a:rect l="l" t="t" r="r" b="b"/>
            <a:pathLst>
              <a:path w="4248150" h="800100">
                <a:moveTo>
                  <a:pt x="19050" y="0"/>
                </a:moveTo>
                <a:lnTo>
                  <a:pt x="4171948" y="0"/>
                </a:lnTo>
                <a:cubicBezTo>
                  <a:pt x="4214033" y="0"/>
                  <a:pt x="4248150" y="34117"/>
                  <a:pt x="4248150" y="76202"/>
                </a:cubicBezTo>
                <a:lnTo>
                  <a:pt x="4248150" y="723898"/>
                </a:lnTo>
                <a:cubicBezTo>
                  <a:pt x="4248150" y="765983"/>
                  <a:pt x="4214033" y="800100"/>
                  <a:pt x="4171948" y="800100"/>
                </a:cubicBezTo>
                <a:lnTo>
                  <a:pt x="19050" y="800100"/>
                </a:lnTo>
                <a:cubicBezTo>
                  <a:pt x="8536" y="800100"/>
                  <a:pt x="0" y="791564"/>
                  <a:pt x="0" y="781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Shape 29"/>
          <p:cNvSpPr/>
          <p:nvPr/>
        </p:nvSpPr>
        <p:spPr>
          <a:xfrm>
            <a:off x="7407275" y="1873251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1905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19050" y="800100"/>
                </a:lnTo>
                <a:cubicBezTo>
                  <a:pt x="8536" y="800100"/>
                  <a:pt x="0" y="791564"/>
                  <a:pt x="0" y="781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32" name="Shape 30"/>
          <p:cNvSpPr/>
          <p:nvPr/>
        </p:nvSpPr>
        <p:spPr>
          <a:xfrm>
            <a:off x="7554913" y="203517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3610" y="128654"/>
                </a:moveTo>
                <a:cubicBezTo>
                  <a:pt x="126210" y="115796"/>
                  <a:pt x="112313" y="107156"/>
                  <a:pt x="96441" y="107156"/>
                </a:cubicBezTo>
                <a:lnTo>
                  <a:pt x="75009" y="107156"/>
                </a:lnTo>
                <a:cubicBezTo>
                  <a:pt x="59137" y="107156"/>
                  <a:pt x="45240" y="115796"/>
                  <a:pt x="37840" y="128654"/>
                </a:cubicBezTo>
                <a:cubicBezTo>
                  <a:pt x="49627" y="141781"/>
                  <a:pt x="66705" y="150019"/>
                  <a:pt x="85725" y="150019"/>
                </a:cubicBezTo>
                <a:cubicBezTo>
                  <a:pt x="104745" y="150019"/>
                  <a:pt x="121823" y="141748"/>
                  <a:pt x="133610" y="128654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91083"/>
                </a:moveTo>
                <a:cubicBezTo>
                  <a:pt x="99032" y="91083"/>
                  <a:pt x="109835" y="80279"/>
                  <a:pt x="109835" y="66973"/>
                </a:cubicBezTo>
                <a:cubicBezTo>
                  <a:pt x="109835" y="53666"/>
                  <a:pt x="99032" y="42863"/>
                  <a:pt x="85725" y="42863"/>
                </a:cubicBezTo>
                <a:cubicBezTo>
                  <a:pt x="72418" y="42863"/>
                  <a:pt x="61615" y="53666"/>
                  <a:pt x="61615" y="66973"/>
                </a:cubicBezTo>
                <a:cubicBezTo>
                  <a:pt x="61615" y="80279"/>
                  <a:pt x="72418" y="91083"/>
                  <a:pt x="85725" y="91083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33" name="Text 31"/>
          <p:cNvSpPr/>
          <p:nvPr/>
        </p:nvSpPr>
        <p:spPr>
          <a:xfrm>
            <a:off x="7821613" y="1987551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Demographics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31100" y="2330451"/>
            <a:ext cx="408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Age, Gender, Location, Subscription Status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07275" y="2749551"/>
            <a:ext cx="4248150" cy="800100"/>
          </a:xfrm>
          <a:custGeom>
            <a:avLst/>
            <a:gdLst/>
            <a:ahLst/>
            <a:cxnLst/>
            <a:rect l="l" t="t" r="r" b="b"/>
            <a:pathLst>
              <a:path w="4248150" h="800100">
                <a:moveTo>
                  <a:pt x="19050" y="0"/>
                </a:moveTo>
                <a:lnTo>
                  <a:pt x="4171948" y="0"/>
                </a:lnTo>
                <a:cubicBezTo>
                  <a:pt x="4214033" y="0"/>
                  <a:pt x="4248150" y="34117"/>
                  <a:pt x="4248150" y="76202"/>
                </a:cubicBezTo>
                <a:lnTo>
                  <a:pt x="4248150" y="723898"/>
                </a:lnTo>
                <a:cubicBezTo>
                  <a:pt x="4248150" y="765983"/>
                  <a:pt x="4214033" y="800100"/>
                  <a:pt x="4171948" y="800100"/>
                </a:cubicBezTo>
                <a:lnTo>
                  <a:pt x="19050" y="800100"/>
                </a:lnTo>
                <a:cubicBezTo>
                  <a:pt x="8536" y="800100"/>
                  <a:pt x="0" y="791564"/>
                  <a:pt x="0" y="781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Shape 34"/>
          <p:cNvSpPr/>
          <p:nvPr/>
        </p:nvSpPr>
        <p:spPr>
          <a:xfrm>
            <a:off x="7407275" y="2749551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1905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19050" y="800100"/>
                </a:lnTo>
                <a:cubicBezTo>
                  <a:pt x="8536" y="800100"/>
                  <a:pt x="0" y="791564"/>
                  <a:pt x="0" y="781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7" name="Shape 35"/>
          <p:cNvSpPr/>
          <p:nvPr/>
        </p:nvSpPr>
        <p:spPr>
          <a:xfrm>
            <a:off x="7533481" y="2911476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8037" y="-5358"/>
                </a:moveTo>
                <a:cubicBezTo>
                  <a:pt x="3583" y="-5358"/>
                  <a:pt x="0" y="-1775"/>
                  <a:pt x="0" y="2679"/>
                </a:cubicBezTo>
                <a:cubicBezTo>
                  <a:pt x="0" y="7133"/>
                  <a:pt x="3583" y="10716"/>
                  <a:pt x="8037" y="10716"/>
                </a:cubicBezTo>
                <a:lnTo>
                  <a:pt x="23206" y="10716"/>
                </a:lnTo>
                <a:cubicBezTo>
                  <a:pt x="24512" y="10716"/>
                  <a:pt x="25617" y="11653"/>
                  <a:pt x="25851" y="12926"/>
                </a:cubicBezTo>
                <a:lnTo>
                  <a:pt x="43298" y="108797"/>
                </a:lnTo>
                <a:cubicBezTo>
                  <a:pt x="45374" y="120249"/>
                  <a:pt x="55353" y="128588"/>
                  <a:pt x="67006" y="128588"/>
                </a:cubicBezTo>
                <a:lnTo>
                  <a:pt x="152698" y="128588"/>
                </a:lnTo>
                <a:cubicBezTo>
                  <a:pt x="157151" y="128588"/>
                  <a:pt x="160734" y="125004"/>
                  <a:pt x="160734" y="120551"/>
                </a:cubicBezTo>
                <a:cubicBezTo>
                  <a:pt x="160734" y="116097"/>
                  <a:pt x="157151" y="112514"/>
                  <a:pt x="152698" y="112514"/>
                </a:cubicBezTo>
                <a:lnTo>
                  <a:pt x="67006" y="112514"/>
                </a:lnTo>
                <a:cubicBezTo>
                  <a:pt x="63122" y="112514"/>
                  <a:pt x="59807" y="109735"/>
                  <a:pt x="59103" y="105917"/>
                </a:cubicBezTo>
                <a:lnTo>
                  <a:pt x="57396" y="96441"/>
                </a:lnTo>
                <a:lnTo>
                  <a:pt x="159060" y="96441"/>
                </a:lnTo>
                <a:cubicBezTo>
                  <a:pt x="169374" y="96441"/>
                  <a:pt x="178214" y="89107"/>
                  <a:pt x="180123" y="78961"/>
                </a:cubicBezTo>
                <a:lnTo>
                  <a:pt x="190504" y="23407"/>
                </a:lnTo>
                <a:cubicBezTo>
                  <a:pt x="191743" y="16810"/>
                  <a:pt x="186686" y="10716"/>
                  <a:pt x="179956" y="10716"/>
                </a:cubicBezTo>
                <a:lnTo>
                  <a:pt x="41757" y="10716"/>
                </a:lnTo>
                <a:lnTo>
                  <a:pt x="41624" y="10046"/>
                </a:lnTo>
                <a:cubicBezTo>
                  <a:pt x="40016" y="1139"/>
                  <a:pt x="32247" y="-5358"/>
                  <a:pt x="23173" y="-5358"/>
                </a:cubicBezTo>
                <a:lnTo>
                  <a:pt x="8037" y="-5358"/>
                </a:lnTo>
                <a:close/>
                <a:moveTo>
                  <a:pt x="69652" y="171450"/>
                </a:moveTo>
                <a:cubicBezTo>
                  <a:pt x="78523" y="171450"/>
                  <a:pt x="85725" y="164248"/>
                  <a:pt x="85725" y="155377"/>
                </a:cubicBezTo>
                <a:cubicBezTo>
                  <a:pt x="85725" y="146505"/>
                  <a:pt x="78523" y="139303"/>
                  <a:pt x="69652" y="139303"/>
                </a:cubicBezTo>
                <a:cubicBezTo>
                  <a:pt x="60780" y="139303"/>
                  <a:pt x="53578" y="146505"/>
                  <a:pt x="53578" y="155377"/>
                </a:cubicBezTo>
                <a:cubicBezTo>
                  <a:pt x="53578" y="164248"/>
                  <a:pt x="60780" y="171450"/>
                  <a:pt x="69652" y="171450"/>
                </a:cubicBezTo>
                <a:close/>
                <a:moveTo>
                  <a:pt x="144661" y="171450"/>
                </a:moveTo>
                <a:cubicBezTo>
                  <a:pt x="153532" y="171450"/>
                  <a:pt x="160734" y="164248"/>
                  <a:pt x="160734" y="155377"/>
                </a:cubicBezTo>
                <a:cubicBezTo>
                  <a:pt x="160734" y="146505"/>
                  <a:pt x="153532" y="139303"/>
                  <a:pt x="144661" y="139303"/>
                </a:cubicBezTo>
                <a:cubicBezTo>
                  <a:pt x="135790" y="139303"/>
                  <a:pt x="128588" y="146505"/>
                  <a:pt x="128588" y="155377"/>
                </a:cubicBezTo>
                <a:cubicBezTo>
                  <a:pt x="128588" y="164248"/>
                  <a:pt x="135790" y="171450"/>
                  <a:pt x="144661" y="17145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8" name="Text 36"/>
          <p:cNvSpPr/>
          <p:nvPr/>
        </p:nvSpPr>
        <p:spPr>
          <a:xfrm>
            <a:off x="7821613" y="2863851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 Details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31100" y="3206751"/>
            <a:ext cx="408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Item, Category, Amount, Season, Size, Color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07275" y="3625851"/>
            <a:ext cx="4248150" cy="800100"/>
          </a:xfrm>
          <a:custGeom>
            <a:avLst/>
            <a:gdLst/>
            <a:ahLst/>
            <a:cxnLst/>
            <a:rect l="l" t="t" r="r" b="b"/>
            <a:pathLst>
              <a:path w="4248150" h="800100">
                <a:moveTo>
                  <a:pt x="19050" y="0"/>
                </a:moveTo>
                <a:lnTo>
                  <a:pt x="4171948" y="0"/>
                </a:lnTo>
                <a:cubicBezTo>
                  <a:pt x="4214033" y="0"/>
                  <a:pt x="4248150" y="34117"/>
                  <a:pt x="4248150" y="76202"/>
                </a:cubicBezTo>
                <a:lnTo>
                  <a:pt x="4248150" y="723898"/>
                </a:lnTo>
                <a:cubicBezTo>
                  <a:pt x="4248150" y="765983"/>
                  <a:pt x="4214033" y="800100"/>
                  <a:pt x="4171948" y="800100"/>
                </a:cubicBezTo>
                <a:lnTo>
                  <a:pt x="19050" y="800100"/>
                </a:lnTo>
                <a:cubicBezTo>
                  <a:pt x="8536" y="800100"/>
                  <a:pt x="0" y="791564"/>
                  <a:pt x="0" y="781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9"/>
          <p:cNvSpPr/>
          <p:nvPr/>
        </p:nvSpPr>
        <p:spPr>
          <a:xfrm>
            <a:off x="7407275" y="3625851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1905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19050" y="800100"/>
                </a:lnTo>
                <a:cubicBezTo>
                  <a:pt x="8536" y="800100"/>
                  <a:pt x="0" y="791564"/>
                  <a:pt x="0" y="781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2" name="Shape 40"/>
          <p:cNvSpPr/>
          <p:nvPr/>
        </p:nvSpPr>
        <p:spPr>
          <a:xfrm>
            <a:off x="7554913" y="378777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0702" y="29167"/>
                </a:moveTo>
                <a:lnTo>
                  <a:pt x="85725" y="36098"/>
                </a:lnTo>
                <a:lnTo>
                  <a:pt x="90748" y="29167"/>
                </a:lnTo>
                <a:cubicBezTo>
                  <a:pt x="99120" y="17580"/>
                  <a:pt x="112581" y="10716"/>
                  <a:pt x="126880" y="10716"/>
                </a:cubicBezTo>
                <a:cubicBezTo>
                  <a:pt x="151492" y="10716"/>
                  <a:pt x="171450" y="30673"/>
                  <a:pt x="171450" y="55286"/>
                </a:cubicBezTo>
                <a:lnTo>
                  <a:pt x="171450" y="56157"/>
                </a:lnTo>
                <a:cubicBezTo>
                  <a:pt x="171450" y="93728"/>
                  <a:pt x="124603" y="137361"/>
                  <a:pt x="100158" y="156013"/>
                </a:cubicBezTo>
                <a:cubicBezTo>
                  <a:pt x="96005" y="159161"/>
                  <a:pt x="90915" y="160734"/>
                  <a:pt x="85725" y="160734"/>
                </a:cubicBezTo>
                <a:cubicBezTo>
                  <a:pt x="80535" y="160734"/>
                  <a:pt x="75411" y="159194"/>
                  <a:pt x="71292" y="156013"/>
                </a:cubicBezTo>
                <a:cubicBezTo>
                  <a:pt x="46847" y="137361"/>
                  <a:pt x="0" y="93728"/>
                  <a:pt x="0" y="56157"/>
                </a:cubicBezTo>
                <a:lnTo>
                  <a:pt x="0" y="55286"/>
                </a:lnTo>
                <a:cubicBezTo>
                  <a:pt x="0" y="30673"/>
                  <a:pt x="19958" y="10716"/>
                  <a:pt x="44570" y="10716"/>
                </a:cubicBezTo>
                <a:cubicBezTo>
                  <a:pt x="58869" y="10716"/>
                  <a:pt x="72330" y="17580"/>
                  <a:pt x="80702" y="29167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3" name="Text 41"/>
          <p:cNvSpPr/>
          <p:nvPr/>
        </p:nvSpPr>
        <p:spPr>
          <a:xfrm>
            <a:off x="7821613" y="3740151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Shopping Behavior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31100" y="4083051"/>
            <a:ext cx="408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Discounts, Reviews, Frequency, Shipping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00925" y="4505326"/>
            <a:ext cx="4244975" cy="1263650"/>
          </a:xfrm>
          <a:custGeom>
            <a:avLst/>
            <a:gdLst/>
            <a:ahLst/>
            <a:cxnLst/>
            <a:rect l="l" t="t" r="r" b="b"/>
            <a:pathLst>
              <a:path w="4244975" h="1263650">
                <a:moveTo>
                  <a:pt x="76198" y="0"/>
                </a:moveTo>
                <a:lnTo>
                  <a:pt x="4168777" y="0"/>
                </a:lnTo>
                <a:cubicBezTo>
                  <a:pt x="4210860" y="0"/>
                  <a:pt x="4244975" y="34115"/>
                  <a:pt x="4244975" y="76198"/>
                </a:cubicBezTo>
                <a:lnTo>
                  <a:pt x="4244975" y="1187452"/>
                </a:lnTo>
                <a:cubicBezTo>
                  <a:pt x="4244975" y="1229535"/>
                  <a:pt x="4210860" y="1263650"/>
                  <a:pt x="4168777" y="1263650"/>
                </a:cubicBezTo>
                <a:lnTo>
                  <a:pt x="76198" y="1263650"/>
                </a:lnTo>
                <a:cubicBezTo>
                  <a:pt x="34115" y="1263650"/>
                  <a:pt x="0" y="1229535"/>
                  <a:pt x="0" y="11874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5E6D55">
                  <a:alpha val="20000"/>
                </a:srgbClr>
              </a:gs>
            </a:gsLst>
            <a:lin ang="0" scaled="1"/>
          </a:gradFill>
          <a:ln w="8467">
            <a:solidFill>
              <a:srgbClr val="A99A8D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42213" y="467042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7" name="Text 45"/>
          <p:cNvSpPr/>
          <p:nvPr/>
        </p:nvSpPr>
        <p:spPr>
          <a:xfrm>
            <a:off x="7737475" y="4622802"/>
            <a:ext cx="3876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Framework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061821" y="496570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9" name="Text 47"/>
          <p:cNvSpPr/>
          <p:nvPr/>
        </p:nvSpPr>
        <p:spPr>
          <a:xfrm>
            <a:off x="7480300" y="5232402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85063" y="5461002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 &amp; Prep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424889" y="496570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52" name="Text 50"/>
          <p:cNvSpPr/>
          <p:nvPr/>
        </p:nvSpPr>
        <p:spPr>
          <a:xfrm>
            <a:off x="8843367" y="5232402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848130" y="5461002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Queries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773768" y="49657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55" name="Text 53"/>
          <p:cNvSpPr/>
          <p:nvPr/>
        </p:nvSpPr>
        <p:spPr>
          <a:xfrm>
            <a:off x="10206534" y="5232402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211296" y="5461002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646" y="359646"/>
            <a:ext cx="11544637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spc="113" kern="0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INTELLIGENCE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646" y="647363"/>
            <a:ext cx="11688496" cy="43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98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Segmentation &amp; Demographics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8637" y="1195823"/>
            <a:ext cx="3758301" cy="3146903"/>
          </a:xfrm>
          <a:custGeom>
            <a:avLst/>
            <a:gdLst/>
            <a:ahLst/>
            <a:cxnLst/>
            <a:rect l="l" t="t" r="r" b="b"/>
            <a:pathLst>
              <a:path w="3758301" h="3146903">
                <a:moveTo>
                  <a:pt x="71938" y="0"/>
                </a:moveTo>
                <a:lnTo>
                  <a:pt x="3686363" y="0"/>
                </a:lnTo>
                <a:cubicBezTo>
                  <a:pt x="3726093" y="0"/>
                  <a:pt x="3758301" y="32208"/>
                  <a:pt x="3758301" y="71938"/>
                </a:cubicBezTo>
                <a:lnTo>
                  <a:pt x="3758301" y="3074964"/>
                </a:lnTo>
                <a:cubicBezTo>
                  <a:pt x="3758301" y="3114695"/>
                  <a:pt x="3726093" y="3146903"/>
                  <a:pt x="3686363" y="3146903"/>
                </a:cubicBezTo>
                <a:lnTo>
                  <a:pt x="71938" y="3146903"/>
                </a:lnTo>
                <a:cubicBezTo>
                  <a:pt x="32208" y="3146903"/>
                  <a:pt x="0" y="3114695"/>
                  <a:pt x="0" y="3074964"/>
                </a:cubicBezTo>
                <a:lnTo>
                  <a:pt x="0" y="71938"/>
                </a:lnTo>
                <a:cubicBezTo>
                  <a:pt x="0" y="32234"/>
                  <a:pt x="32234" y="0"/>
                  <a:pt x="71938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2C3138"/>
              </a:gs>
            </a:gsLst>
            <a:lin ang="2700000" scaled="1"/>
          </a:gradFill>
          <a:ln w="25400">
            <a:solidFill>
              <a:srgbClr val="A99A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5522" y="1348673"/>
            <a:ext cx="269735" cy="215788"/>
          </a:xfrm>
          <a:custGeom>
            <a:avLst/>
            <a:gdLst/>
            <a:ahLst/>
            <a:cxnLst/>
            <a:rect l="l" t="t" r="r" b="b"/>
            <a:pathLst>
              <a:path w="269735" h="215788">
                <a:moveTo>
                  <a:pt x="134867" y="94407"/>
                </a:moveTo>
                <a:cubicBezTo>
                  <a:pt x="159059" y="94407"/>
                  <a:pt x="178699" y="74767"/>
                  <a:pt x="178699" y="50575"/>
                </a:cubicBezTo>
                <a:cubicBezTo>
                  <a:pt x="178699" y="26384"/>
                  <a:pt x="159059" y="6743"/>
                  <a:pt x="134867" y="6743"/>
                </a:cubicBezTo>
                <a:cubicBezTo>
                  <a:pt x="110676" y="6743"/>
                  <a:pt x="91035" y="26384"/>
                  <a:pt x="91035" y="50575"/>
                </a:cubicBezTo>
                <a:cubicBezTo>
                  <a:pt x="91035" y="74767"/>
                  <a:pt x="110676" y="94407"/>
                  <a:pt x="134867" y="94407"/>
                </a:cubicBezTo>
                <a:close/>
                <a:moveTo>
                  <a:pt x="40460" y="97779"/>
                </a:moveTo>
                <a:cubicBezTo>
                  <a:pt x="57208" y="97779"/>
                  <a:pt x="70805" y="84182"/>
                  <a:pt x="70805" y="67434"/>
                </a:cubicBezTo>
                <a:cubicBezTo>
                  <a:pt x="70805" y="50686"/>
                  <a:pt x="57208" y="37088"/>
                  <a:pt x="40460" y="37088"/>
                </a:cubicBezTo>
                <a:cubicBezTo>
                  <a:pt x="23712" y="37088"/>
                  <a:pt x="10115" y="50686"/>
                  <a:pt x="10115" y="67434"/>
                </a:cubicBezTo>
                <a:cubicBezTo>
                  <a:pt x="10115" y="84182"/>
                  <a:pt x="23712" y="97779"/>
                  <a:pt x="40460" y="97779"/>
                </a:cubicBezTo>
                <a:close/>
                <a:moveTo>
                  <a:pt x="0" y="175327"/>
                </a:moveTo>
                <a:lnTo>
                  <a:pt x="0" y="188814"/>
                </a:lnTo>
                <a:cubicBezTo>
                  <a:pt x="0" y="196274"/>
                  <a:pt x="6027" y="202301"/>
                  <a:pt x="13487" y="202301"/>
                </a:cubicBezTo>
                <a:lnTo>
                  <a:pt x="50027" y="202301"/>
                </a:lnTo>
                <a:cubicBezTo>
                  <a:pt x="48215" y="198171"/>
                  <a:pt x="47204" y="193619"/>
                  <a:pt x="47204" y="188814"/>
                </a:cubicBezTo>
                <a:lnTo>
                  <a:pt x="47204" y="182071"/>
                </a:lnTo>
                <a:cubicBezTo>
                  <a:pt x="47204" y="159649"/>
                  <a:pt x="55633" y="139166"/>
                  <a:pt x="69499" y="123656"/>
                </a:cubicBezTo>
                <a:cubicBezTo>
                  <a:pt x="64568" y="122181"/>
                  <a:pt x="59342" y="121381"/>
                  <a:pt x="53947" y="121381"/>
                </a:cubicBezTo>
                <a:cubicBezTo>
                  <a:pt x="24150" y="121381"/>
                  <a:pt x="0" y="145530"/>
                  <a:pt x="0" y="175327"/>
                </a:cubicBezTo>
                <a:close/>
                <a:moveTo>
                  <a:pt x="259619" y="67434"/>
                </a:moveTo>
                <a:cubicBezTo>
                  <a:pt x="259619" y="50686"/>
                  <a:pt x="246022" y="37088"/>
                  <a:pt x="229274" y="37088"/>
                </a:cubicBezTo>
                <a:cubicBezTo>
                  <a:pt x="212526" y="37088"/>
                  <a:pt x="198929" y="50686"/>
                  <a:pt x="198929" y="67434"/>
                </a:cubicBezTo>
                <a:cubicBezTo>
                  <a:pt x="198929" y="84182"/>
                  <a:pt x="212526" y="97779"/>
                  <a:pt x="229274" y="97779"/>
                </a:cubicBezTo>
                <a:cubicBezTo>
                  <a:pt x="246022" y="97779"/>
                  <a:pt x="259619" y="84182"/>
                  <a:pt x="259619" y="67434"/>
                </a:cubicBezTo>
                <a:close/>
                <a:moveTo>
                  <a:pt x="67434" y="182071"/>
                </a:moveTo>
                <a:lnTo>
                  <a:pt x="67434" y="188814"/>
                </a:lnTo>
                <a:cubicBezTo>
                  <a:pt x="67434" y="196274"/>
                  <a:pt x="73461" y="202301"/>
                  <a:pt x="80920" y="202301"/>
                </a:cubicBezTo>
                <a:lnTo>
                  <a:pt x="147005" y="202301"/>
                </a:lnTo>
                <a:cubicBezTo>
                  <a:pt x="144013" y="193197"/>
                  <a:pt x="144350" y="183588"/>
                  <a:pt x="151515" y="175327"/>
                </a:cubicBezTo>
                <a:cubicBezTo>
                  <a:pt x="145614" y="168500"/>
                  <a:pt x="142875" y="158595"/>
                  <a:pt x="146710" y="148649"/>
                </a:cubicBezTo>
                <a:cubicBezTo>
                  <a:pt x="149492" y="141442"/>
                  <a:pt x="153412" y="134699"/>
                  <a:pt x="158258" y="128714"/>
                </a:cubicBezTo>
                <a:cubicBezTo>
                  <a:pt x="160534" y="125932"/>
                  <a:pt x="163147" y="123783"/>
                  <a:pt x="165971" y="122223"/>
                </a:cubicBezTo>
                <a:cubicBezTo>
                  <a:pt x="156657" y="117377"/>
                  <a:pt x="146078" y="114637"/>
                  <a:pt x="134867" y="114637"/>
                </a:cubicBezTo>
                <a:cubicBezTo>
                  <a:pt x="97610" y="114637"/>
                  <a:pt x="67434" y="144814"/>
                  <a:pt x="67434" y="182071"/>
                </a:cubicBezTo>
                <a:close/>
                <a:moveTo>
                  <a:pt x="263244" y="163484"/>
                </a:moveTo>
                <a:cubicBezTo>
                  <a:pt x="265899" y="161967"/>
                  <a:pt x="267248" y="158806"/>
                  <a:pt x="266110" y="155898"/>
                </a:cubicBezTo>
                <a:cubicBezTo>
                  <a:pt x="264087" y="150672"/>
                  <a:pt x="261263" y="145741"/>
                  <a:pt x="257723" y="141400"/>
                </a:cubicBezTo>
                <a:cubicBezTo>
                  <a:pt x="255784" y="138998"/>
                  <a:pt x="252370" y="138576"/>
                  <a:pt x="249715" y="140136"/>
                </a:cubicBezTo>
                <a:cubicBezTo>
                  <a:pt x="240527" y="145446"/>
                  <a:pt x="229232" y="138955"/>
                  <a:pt x="229232" y="128292"/>
                </a:cubicBezTo>
                <a:cubicBezTo>
                  <a:pt x="229232" y="125216"/>
                  <a:pt x="227167" y="122476"/>
                  <a:pt x="224133" y="122013"/>
                </a:cubicBezTo>
                <a:cubicBezTo>
                  <a:pt x="218696" y="121170"/>
                  <a:pt x="212837" y="121170"/>
                  <a:pt x="207401" y="122013"/>
                </a:cubicBezTo>
                <a:cubicBezTo>
                  <a:pt x="204366" y="122476"/>
                  <a:pt x="202301" y="125216"/>
                  <a:pt x="202301" y="128292"/>
                </a:cubicBezTo>
                <a:cubicBezTo>
                  <a:pt x="202301" y="138913"/>
                  <a:pt x="191006" y="145446"/>
                  <a:pt x="181818" y="140136"/>
                </a:cubicBezTo>
                <a:cubicBezTo>
                  <a:pt x="179163" y="138618"/>
                  <a:pt x="175749" y="139040"/>
                  <a:pt x="173810" y="141400"/>
                </a:cubicBezTo>
                <a:cubicBezTo>
                  <a:pt x="170270" y="145741"/>
                  <a:pt x="167446" y="150672"/>
                  <a:pt x="165423" y="155898"/>
                </a:cubicBezTo>
                <a:cubicBezTo>
                  <a:pt x="164327" y="158764"/>
                  <a:pt x="165634" y="161925"/>
                  <a:pt x="168289" y="163442"/>
                </a:cubicBezTo>
                <a:cubicBezTo>
                  <a:pt x="177519" y="168753"/>
                  <a:pt x="177519" y="181776"/>
                  <a:pt x="168289" y="187128"/>
                </a:cubicBezTo>
                <a:cubicBezTo>
                  <a:pt x="165634" y="188646"/>
                  <a:pt x="164285" y="191807"/>
                  <a:pt x="165423" y="194672"/>
                </a:cubicBezTo>
                <a:cubicBezTo>
                  <a:pt x="167446" y="199899"/>
                  <a:pt x="170270" y="204830"/>
                  <a:pt x="173810" y="209171"/>
                </a:cubicBezTo>
                <a:cubicBezTo>
                  <a:pt x="175749" y="211573"/>
                  <a:pt x="179163" y="211994"/>
                  <a:pt x="181818" y="210435"/>
                </a:cubicBezTo>
                <a:cubicBezTo>
                  <a:pt x="191006" y="205125"/>
                  <a:pt x="202301" y="211657"/>
                  <a:pt x="202301" y="222278"/>
                </a:cubicBezTo>
                <a:cubicBezTo>
                  <a:pt x="202301" y="225355"/>
                  <a:pt x="204366" y="228094"/>
                  <a:pt x="207401" y="228558"/>
                </a:cubicBezTo>
                <a:cubicBezTo>
                  <a:pt x="212837" y="229401"/>
                  <a:pt x="218696" y="229401"/>
                  <a:pt x="224133" y="228558"/>
                </a:cubicBezTo>
                <a:cubicBezTo>
                  <a:pt x="227167" y="228094"/>
                  <a:pt x="229232" y="225355"/>
                  <a:pt x="229232" y="222278"/>
                </a:cubicBezTo>
                <a:cubicBezTo>
                  <a:pt x="229232" y="211657"/>
                  <a:pt x="240527" y="205125"/>
                  <a:pt x="249715" y="210435"/>
                </a:cubicBezTo>
                <a:cubicBezTo>
                  <a:pt x="252370" y="211952"/>
                  <a:pt x="255784" y="211531"/>
                  <a:pt x="257723" y="209171"/>
                </a:cubicBezTo>
                <a:cubicBezTo>
                  <a:pt x="261263" y="204830"/>
                  <a:pt x="264087" y="199899"/>
                  <a:pt x="266110" y="194672"/>
                </a:cubicBezTo>
                <a:cubicBezTo>
                  <a:pt x="267206" y="191807"/>
                  <a:pt x="265899" y="188646"/>
                  <a:pt x="263244" y="187128"/>
                </a:cubicBezTo>
                <a:cubicBezTo>
                  <a:pt x="254014" y="181818"/>
                  <a:pt x="254014" y="168795"/>
                  <a:pt x="263244" y="163442"/>
                </a:cubicBezTo>
                <a:close/>
                <a:moveTo>
                  <a:pt x="198929" y="175327"/>
                </a:moveTo>
                <a:cubicBezTo>
                  <a:pt x="198929" y="166023"/>
                  <a:pt x="206483" y="158469"/>
                  <a:pt x="215788" y="158469"/>
                </a:cubicBezTo>
                <a:cubicBezTo>
                  <a:pt x="225092" y="158469"/>
                  <a:pt x="232646" y="166023"/>
                  <a:pt x="232646" y="175327"/>
                </a:cubicBezTo>
                <a:cubicBezTo>
                  <a:pt x="232646" y="184632"/>
                  <a:pt x="225092" y="192186"/>
                  <a:pt x="215788" y="192186"/>
                </a:cubicBezTo>
                <a:cubicBezTo>
                  <a:pt x="206483" y="192186"/>
                  <a:pt x="198929" y="184632"/>
                  <a:pt x="198929" y="175327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" name="Text 4"/>
          <p:cNvSpPr/>
          <p:nvPr/>
        </p:nvSpPr>
        <p:spPr>
          <a:xfrm>
            <a:off x="755257" y="1312708"/>
            <a:ext cx="3362690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9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Segments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3504" y="1708319"/>
            <a:ext cx="3506549" cy="935080"/>
          </a:xfrm>
          <a:custGeom>
            <a:avLst/>
            <a:gdLst/>
            <a:ahLst/>
            <a:cxnLst/>
            <a:rect l="l" t="t" r="r" b="b"/>
            <a:pathLst>
              <a:path w="3506549" h="935080">
                <a:moveTo>
                  <a:pt x="35965" y="0"/>
                </a:moveTo>
                <a:lnTo>
                  <a:pt x="3434622" y="0"/>
                </a:lnTo>
                <a:cubicBezTo>
                  <a:pt x="3474346" y="0"/>
                  <a:pt x="3506549" y="32203"/>
                  <a:pt x="3506549" y="71926"/>
                </a:cubicBezTo>
                <a:lnTo>
                  <a:pt x="3506549" y="863153"/>
                </a:lnTo>
                <a:cubicBezTo>
                  <a:pt x="3506549" y="902877"/>
                  <a:pt x="3474346" y="935080"/>
                  <a:pt x="3434622" y="935080"/>
                </a:cubicBezTo>
                <a:lnTo>
                  <a:pt x="35965" y="935080"/>
                </a:lnTo>
                <a:cubicBezTo>
                  <a:pt x="16102" y="935080"/>
                  <a:pt x="0" y="918978"/>
                  <a:pt x="0" y="899115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Shape 6"/>
          <p:cNvSpPr/>
          <p:nvPr/>
        </p:nvSpPr>
        <p:spPr>
          <a:xfrm>
            <a:off x="503504" y="1708319"/>
            <a:ext cx="35965" cy="935080"/>
          </a:xfrm>
          <a:custGeom>
            <a:avLst/>
            <a:gdLst/>
            <a:ahLst/>
            <a:cxnLst/>
            <a:rect l="l" t="t" r="r" b="b"/>
            <a:pathLst>
              <a:path w="35965" h="935080">
                <a:moveTo>
                  <a:pt x="35965" y="0"/>
                </a:moveTo>
                <a:lnTo>
                  <a:pt x="35965" y="0"/>
                </a:lnTo>
                <a:lnTo>
                  <a:pt x="35965" y="935080"/>
                </a:lnTo>
                <a:lnTo>
                  <a:pt x="35965" y="935080"/>
                </a:lnTo>
                <a:cubicBezTo>
                  <a:pt x="16102" y="935080"/>
                  <a:pt x="0" y="918978"/>
                  <a:pt x="0" y="899115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9" name="Text 7"/>
          <p:cNvSpPr/>
          <p:nvPr/>
        </p:nvSpPr>
        <p:spPr>
          <a:xfrm>
            <a:off x="629381" y="1816212"/>
            <a:ext cx="1357664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Customers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77381" y="1852177"/>
            <a:ext cx="224779" cy="179823"/>
          </a:xfrm>
          <a:custGeom>
            <a:avLst/>
            <a:gdLst/>
            <a:ahLst/>
            <a:cxnLst/>
            <a:rect l="l" t="t" r="r" b="b"/>
            <a:pathLst>
              <a:path w="224779" h="179823">
                <a:moveTo>
                  <a:pt x="47765" y="44956"/>
                </a:moveTo>
                <a:cubicBezTo>
                  <a:pt x="47765" y="21695"/>
                  <a:pt x="66650" y="2810"/>
                  <a:pt x="89912" y="2810"/>
                </a:cubicBezTo>
                <a:cubicBezTo>
                  <a:pt x="113173" y="2810"/>
                  <a:pt x="132058" y="21695"/>
                  <a:pt x="132058" y="44956"/>
                </a:cubicBezTo>
                <a:cubicBezTo>
                  <a:pt x="132058" y="68217"/>
                  <a:pt x="113173" y="87102"/>
                  <a:pt x="89912" y="87102"/>
                </a:cubicBezTo>
                <a:cubicBezTo>
                  <a:pt x="66650" y="87102"/>
                  <a:pt x="47765" y="68217"/>
                  <a:pt x="47765" y="44956"/>
                </a:cubicBezTo>
                <a:close/>
                <a:moveTo>
                  <a:pt x="16858" y="169392"/>
                </a:moveTo>
                <a:cubicBezTo>
                  <a:pt x="16858" y="134797"/>
                  <a:pt x="44886" y="106770"/>
                  <a:pt x="79480" y="106770"/>
                </a:cubicBezTo>
                <a:lnTo>
                  <a:pt x="100343" y="106770"/>
                </a:lnTo>
                <a:cubicBezTo>
                  <a:pt x="134938" y="106770"/>
                  <a:pt x="162965" y="134797"/>
                  <a:pt x="162965" y="169392"/>
                </a:cubicBezTo>
                <a:cubicBezTo>
                  <a:pt x="162965" y="175152"/>
                  <a:pt x="158293" y="179823"/>
                  <a:pt x="152533" y="179823"/>
                </a:cubicBezTo>
                <a:lnTo>
                  <a:pt x="27290" y="179823"/>
                </a:lnTo>
                <a:cubicBezTo>
                  <a:pt x="21530" y="179823"/>
                  <a:pt x="16858" y="175152"/>
                  <a:pt x="16858" y="169392"/>
                </a:cubicBezTo>
                <a:close/>
                <a:moveTo>
                  <a:pt x="191062" y="33717"/>
                </a:moveTo>
                <a:cubicBezTo>
                  <a:pt x="195733" y="33717"/>
                  <a:pt x="199491" y="37475"/>
                  <a:pt x="199491" y="42146"/>
                </a:cubicBezTo>
                <a:lnTo>
                  <a:pt x="199491" y="59004"/>
                </a:lnTo>
                <a:lnTo>
                  <a:pt x="216350" y="59004"/>
                </a:lnTo>
                <a:cubicBezTo>
                  <a:pt x="221021" y="59004"/>
                  <a:pt x="224779" y="62762"/>
                  <a:pt x="224779" y="67434"/>
                </a:cubicBezTo>
                <a:cubicBezTo>
                  <a:pt x="224779" y="72105"/>
                  <a:pt x="221021" y="75863"/>
                  <a:pt x="216350" y="75863"/>
                </a:cubicBezTo>
                <a:lnTo>
                  <a:pt x="199491" y="75863"/>
                </a:lnTo>
                <a:lnTo>
                  <a:pt x="199491" y="92721"/>
                </a:lnTo>
                <a:cubicBezTo>
                  <a:pt x="199491" y="97392"/>
                  <a:pt x="195733" y="101150"/>
                  <a:pt x="191062" y="101150"/>
                </a:cubicBezTo>
                <a:cubicBezTo>
                  <a:pt x="186391" y="101150"/>
                  <a:pt x="182633" y="97392"/>
                  <a:pt x="182633" y="92721"/>
                </a:cubicBezTo>
                <a:lnTo>
                  <a:pt x="182633" y="75863"/>
                </a:lnTo>
                <a:lnTo>
                  <a:pt x="165774" y="75863"/>
                </a:lnTo>
                <a:cubicBezTo>
                  <a:pt x="161103" y="75863"/>
                  <a:pt x="157345" y="72105"/>
                  <a:pt x="157345" y="67434"/>
                </a:cubicBezTo>
                <a:cubicBezTo>
                  <a:pt x="157345" y="62762"/>
                  <a:pt x="161103" y="59004"/>
                  <a:pt x="165774" y="59004"/>
                </a:cubicBezTo>
                <a:lnTo>
                  <a:pt x="182633" y="59004"/>
                </a:lnTo>
                <a:lnTo>
                  <a:pt x="182633" y="42146"/>
                </a:lnTo>
                <a:cubicBezTo>
                  <a:pt x="182633" y="37475"/>
                  <a:pt x="186391" y="33717"/>
                  <a:pt x="191062" y="33717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1" name="Text 9"/>
          <p:cNvSpPr/>
          <p:nvPr/>
        </p:nvSpPr>
        <p:spPr>
          <a:xfrm>
            <a:off x="629381" y="2103929"/>
            <a:ext cx="3344708" cy="43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First-time purchasers requiring engagement strategies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3504" y="2715327"/>
            <a:ext cx="3506549" cy="719292"/>
          </a:xfrm>
          <a:custGeom>
            <a:avLst/>
            <a:gdLst/>
            <a:ahLst/>
            <a:cxnLst/>
            <a:rect l="l" t="t" r="r" b="b"/>
            <a:pathLst>
              <a:path w="3506549" h="719292">
                <a:moveTo>
                  <a:pt x="35965" y="0"/>
                </a:moveTo>
                <a:lnTo>
                  <a:pt x="3434619" y="0"/>
                </a:lnTo>
                <a:cubicBezTo>
                  <a:pt x="3474345" y="0"/>
                  <a:pt x="3506549" y="32204"/>
                  <a:pt x="3506549" y="71929"/>
                </a:cubicBezTo>
                <a:lnTo>
                  <a:pt x="3506549" y="647363"/>
                </a:lnTo>
                <a:cubicBezTo>
                  <a:pt x="3506549" y="687088"/>
                  <a:pt x="3474345" y="719292"/>
                  <a:pt x="3434619" y="719292"/>
                </a:cubicBezTo>
                <a:lnTo>
                  <a:pt x="35965" y="719292"/>
                </a:lnTo>
                <a:cubicBezTo>
                  <a:pt x="16102" y="719292"/>
                  <a:pt x="0" y="703190"/>
                  <a:pt x="0" y="683327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Shape 11"/>
          <p:cNvSpPr/>
          <p:nvPr/>
        </p:nvSpPr>
        <p:spPr>
          <a:xfrm>
            <a:off x="503504" y="2715327"/>
            <a:ext cx="35965" cy="719292"/>
          </a:xfrm>
          <a:custGeom>
            <a:avLst/>
            <a:gdLst/>
            <a:ahLst/>
            <a:cxnLst/>
            <a:rect l="l" t="t" r="r" b="b"/>
            <a:pathLst>
              <a:path w="35965" h="719292">
                <a:moveTo>
                  <a:pt x="35965" y="0"/>
                </a:moveTo>
                <a:lnTo>
                  <a:pt x="35965" y="0"/>
                </a:lnTo>
                <a:lnTo>
                  <a:pt x="35965" y="719292"/>
                </a:lnTo>
                <a:lnTo>
                  <a:pt x="35965" y="719292"/>
                </a:lnTo>
                <a:cubicBezTo>
                  <a:pt x="16102" y="719292"/>
                  <a:pt x="0" y="703190"/>
                  <a:pt x="0" y="683327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4" name="Text 12"/>
          <p:cNvSpPr/>
          <p:nvPr/>
        </p:nvSpPr>
        <p:spPr>
          <a:xfrm>
            <a:off x="629381" y="2823221"/>
            <a:ext cx="1771257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Returning Customers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99858" y="2859186"/>
            <a:ext cx="179823" cy="179823"/>
          </a:xfrm>
          <a:custGeom>
            <a:avLst/>
            <a:gdLst/>
            <a:ahLst/>
            <a:cxnLst/>
            <a:rect l="l" t="t" r="r" b="b"/>
            <a:pathLst>
              <a:path w="179823" h="179823">
                <a:moveTo>
                  <a:pt x="153376" y="26236"/>
                </a:moveTo>
                <a:lnTo>
                  <a:pt x="157345" y="29994"/>
                </a:lnTo>
                <a:lnTo>
                  <a:pt x="157345" y="11239"/>
                </a:lnTo>
                <a:cubicBezTo>
                  <a:pt x="157345" y="5022"/>
                  <a:pt x="162368" y="0"/>
                  <a:pt x="168584" y="0"/>
                </a:cubicBezTo>
                <a:cubicBezTo>
                  <a:pt x="174801" y="0"/>
                  <a:pt x="179823" y="5022"/>
                  <a:pt x="179823" y="11239"/>
                </a:cubicBezTo>
                <a:lnTo>
                  <a:pt x="179823" y="56195"/>
                </a:lnTo>
                <a:cubicBezTo>
                  <a:pt x="179823" y="62411"/>
                  <a:pt x="174801" y="67434"/>
                  <a:pt x="168584" y="67434"/>
                </a:cubicBezTo>
                <a:lnTo>
                  <a:pt x="123628" y="67434"/>
                </a:lnTo>
                <a:cubicBezTo>
                  <a:pt x="117412" y="67434"/>
                  <a:pt x="112389" y="62411"/>
                  <a:pt x="112389" y="56195"/>
                </a:cubicBezTo>
                <a:cubicBezTo>
                  <a:pt x="112389" y="49978"/>
                  <a:pt x="117412" y="44956"/>
                  <a:pt x="123628" y="44956"/>
                </a:cubicBezTo>
                <a:lnTo>
                  <a:pt x="140452" y="44956"/>
                </a:lnTo>
                <a:lnTo>
                  <a:pt x="137782" y="42427"/>
                </a:lnTo>
                <a:cubicBezTo>
                  <a:pt x="137712" y="42357"/>
                  <a:pt x="137642" y="42287"/>
                  <a:pt x="137572" y="42216"/>
                </a:cubicBezTo>
                <a:cubicBezTo>
                  <a:pt x="111230" y="15875"/>
                  <a:pt x="68558" y="15875"/>
                  <a:pt x="42216" y="42216"/>
                </a:cubicBezTo>
                <a:cubicBezTo>
                  <a:pt x="15875" y="68558"/>
                  <a:pt x="15875" y="111230"/>
                  <a:pt x="42216" y="137572"/>
                </a:cubicBezTo>
                <a:cubicBezTo>
                  <a:pt x="68558" y="163913"/>
                  <a:pt x="111230" y="163913"/>
                  <a:pt x="137572" y="137572"/>
                </a:cubicBezTo>
                <a:cubicBezTo>
                  <a:pt x="140452" y="134692"/>
                  <a:pt x="143015" y="131636"/>
                  <a:pt x="145263" y="128405"/>
                </a:cubicBezTo>
                <a:cubicBezTo>
                  <a:pt x="148811" y="123312"/>
                  <a:pt x="155835" y="122083"/>
                  <a:pt x="160928" y="125630"/>
                </a:cubicBezTo>
                <a:cubicBezTo>
                  <a:pt x="166020" y="129178"/>
                  <a:pt x="167249" y="136202"/>
                  <a:pt x="163702" y="141295"/>
                </a:cubicBezTo>
                <a:cubicBezTo>
                  <a:pt x="160717" y="145579"/>
                  <a:pt x="157310" y="149653"/>
                  <a:pt x="153482" y="153482"/>
                </a:cubicBezTo>
                <a:cubicBezTo>
                  <a:pt x="118360" y="188603"/>
                  <a:pt x="61428" y="188603"/>
                  <a:pt x="26341" y="153482"/>
                </a:cubicBezTo>
                <a:cubicBezTo>
                  <a:pt x="-8745" y="118360"/>
                  <a:pt x="-8780" y="61463"/>
                  <a:pt x="26341" y="26341"/>
                </a:cubicBezTo>
                <a:cubicBezTo>
                  <a:pt x="61428" y="-8745"/>
                  <a:pt x="118255" y="-8780"/>
                  <a:pt x="153376" y="26236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6" name="Text 14"/>
          <p:cNvSpPr/>
          <p:nvPr/>
        </p:nvSpPr>
        <p:spPr>
          <a:xfrm>
            <a:off x="629381" y="3110938"/>
            <a:ext cx="3344708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purchases showing engagement potential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3504" y="3506549"/>
            <a:ext cx="3506549" cy="719292"/>
          </a:xfrm>
          <a:custGeom>
            <a:avLst/>
            <a:gdLst/>
            <a:ahLst/>
            <a:cxnLst/>
            <a:rect l="l" t="t" r="r" b="b"/>
            <a:pathLst>
              <a:path w="3506549" h="719292">
                <a:moveTo>
                  <a:pt x="35965" y="0"/>
                </a:moveTo>
                <a:lnTo>
                  <a:pt x="3434619" y="0"/>
                </a:lnTo>
                <a:cubicBezTo>
                  <a:pt x="3474345" y="0"/>
                  <a:pt x="3506549" y="32204"/>
                  <a:pt x="3506549" y="71929"/>
                </a:cubicBezTo>
                <a:lnTo>
                  <a:pt x="3506549" y="647363"/>
                </a:lnTo>
                <a:cubicBezTo>
                  <a:pt x="3506549" y="687088"/>
                  <a:pt x="3474345" y="719292"/>
                  <a:pt x="3434619" y="719292"/>
                </a:cubicBezTo>
                <a:lnTo>
                  <a:pt x="35965" y="719292"/>
                </a:lnTo>
                <a:cubicBezTo>
                  <a:pt x="16102" y="719292"/>
                  <a:pt x="0" y="703190"/>
                  <a:pt x="0" y="683327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Shape 16"/>
          <p:cNvSpPr/>
          <p:nvPr/>
        </p:nvSpPr>
        <p:spPr>
          <a:xfrm>
            <a:off x="503504" y="3506549"/>
            <a:ext cx="35965" cy="719292"/>
          </a:xfrm>
          <a:custGeom>
            <a:avLst/>
            <a:gdLst/>
            <a:ahLst/>
            <a:cxnLst/>
            <a:rect l="l" t="t" r="r" b="b"/>
            <a:pathLst>
              <a:path w="35965" h="719292">
                <a:moveTo>
                  <a:pt x="35965" y="0"/>
                </a:moveTo>
                <a:lnTo>
                  <a:pt x="35965" y="0"/>
                </a:lnTo>
                <a:lnTo>
                  <a:pt x="35965" y="719292"/>
                </a:lnTo>
                <a:lnTo>
                  <a:pt x="35965" y="719292"/>
                </a:lnTo>
                <a:cubicBezTo>
                  <a:pt x="16102" y="719292"/>
                  <a:pt x="0" y="703190"/>
                  <a:pt x="0" y="683327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9" name="Text 17"/>
          <p:cNvSpPr/>
          <p:nvPr/>
        </p:nvSpPr>
        <p:spPr>
          <a:xfrm>
            <a:off x="629381" y="3614442"/>
            <a:ext cx="1420602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Loyal Customers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11097" y="3650407"/>
            <a:ext cx="157345" cy="179823"/>
          </a:xfrm>
          <a:custGeom>
            <a:avLst/>
            <a:gdLst/>
            <a:ahLst/>
            <a:cxnLst/>
            <a:rect l="l" t="t" r="r" b="b"/>
            <a:pathLst>
              <a:path w="157345" h="179823">
                <a:moveTo>
                  <a:pt x="86364" y="-9097"/>
                </a:moveTo>
                <a:cubicBezTo>
                  <a:pt x="81658" y="-11976"/>
                  <a:pt x="75722" y="-11976"/>
                  <a:pt x="71016" y="-9097"/>
                </a:cubicBezTo>
                <a:cubicBezTo>
                  <a:pt x="62446" y="-3863"/>
                  <a:pt x="57143" y="-2459"/>
                  <a:pt x="47098" y="-2669"/>
                </a:cubicBezTo>
                <a:cubicBezTo>
                  <a:pt x="41584" y="-2810"/>
                  <a:pt x="36456" y="176"/>
                  <a:pt x="33787" y="5022"/>
                </a:cubicBezTo>
                <a:cubicBezTo>
                  <a:pt x="28975" y="13838"/>
                  <a:pt x="25077" y="17736"/>
                  <a:pt x="16261" y="22548"/>
                </a:cubicBezTo>
                <a:cubicBezTo>
                  <a:pt x="11415" y="25182"/>
                  <a:pt x="8464" y="30345"/>
                  <a:pt x="8570" y="35859"/>
                </a:cubicBezTo>
                <a:cubicBezTo>
                  <a:pt x="8816" y="45904"/>
                  <a:pt x="7376" y="51207"/>
                  <a:pt x="2142" y="59777"/>
                </a:cubicBezTo>
                <a:cubicBezTo>
                  <a:pt x="-738" y="64483"/>
                  <a:pt x="-738" y="70419"/>
                  <a:pt x="2142" y="75125"/>
                </a:cubicBezTo>
                <a:cubicBezTo>
                  <a:pt x="7376" y="83695"/>
                  <a:pt x="8780" y="88998"/>
                  <a:pt x="8570" y="99043"/>
                </a:cubicBezTo>
                <a:cubicBezTo>
                  <a:pt x="8429" y="104557"/>
                  <a:pt x="11415" y="109685"/>
                  <a:pt x="16261" y="112354"/>
                </a:cubicBezTo>
                <a:cubicBezTo>
                  <a:pt x="24023" y="116604"/>
                  <a:pt x="27957" y="120116"/>
                  <a:pt x="32101" y="126930"/>
                </a:cubicBezTo>
                <a:lnTo>
                  <a:pt x="14997" y="161033"/>
                </a:lnTo>
                <a:cubicBezTo>
                  <a:pt x="12925" y="165212"/>
                  <a:pt x="14611" y="170270"/>
                  <a:pt x="18755" y="172342"/>
                </a:cubicBezTo>
                <a:lnTo>
                  <a:pt x="48960" y="187444"/>
                </a:lnTo>
                <a:cubicBezTo>
                  <a:pt x="52999" y="189446"/>
                  <a:pt x="57916" y="187936"/>
                  <a:pt x="60093" y="184002"/>
                </a:cubicBezTo>
                <a:lnTo>
                  <a:pt x="78637" y="150602"/>
                </a:lnTo>
                <a:lnTo>
                  <a:pt x="97182" y="184002"/>
                </a:lnTo>
                <a:cubicBezTo>
                  <a:pt x="99359" y="187936"/>
                  <a:pt x="104276" y="189481"/>
                  <a:pt x="108315" y="187444"/>
                </a:cubicBezTo>
                <a:lnTo>
                  <a:pt x="138520" y="172342"/>
                </a:lnTo>
                <a:cubicBezTo>
                  <a:pt x="142699" y="170270"/>
                  <a:pt x="144385" y="165212"/>
                  <a:pt x="142278" y="161033"/>
                </a:cubicBezTo>
                <a:lnTo>
                  <a:pt x="125209" y="126895"/>
                </a:lnTo>
                <a:cubicBezTo>
                  <a:pt x="129318" y="120081"/>
                  <a:pt x="133287" y="116569"/>
                  <a:pt x="141049" y="112319"/>
                </a:cubicBezTo>
                <a:cubicBezTo>
                  <a:pt x="145895" y="109685"/>
                  <a:pt x="148846" y="104522"/>
                  <a:pt x="148740" y="99008"/>
                </a:cubicBezTo>
                <a:cubicBezTo>
                  <a:pt x="148494" y="88963"/>
                  <a:pt x="149934" y="83660"/>
                  <a:pt x="155168" y="75090"/>
                </a:cubicBezTo>
                <a:cubicBezTo>
                  <a:pt x="158048" y="70384"/>
                  <a:pt x="158048" y="64448"/>
                  <a:pt x="155168" y="59742"/>
                </a:cubicBezTo>
                <a:cubicBezTo>
                  <a:pt x="149934" y="51172"/>
                  <a:pt x="148530" y="45869"/>
                  <a:pt x="148740" y="35824"/>
                </a:cubicBezTo>
                <a:cubicBezTo>
                  <a:pt x="148881" y="30310"/>
                  <a:pt x="145895" y="25182"/>
                  <a:pt x="141049" y="22513"/>
                </a:cubicBezTo>
                <a:cubicBezTo>
                  <a:pt x="132233" y="17701"/>
                  <a:pt x="128335" y="13803"/>
                  <a:pt x="123523" y="4987"/>
                </a:cubicBezTo>
                <a:cubicBezTo>
                  <a:pt x="120889" y="140"/>
                  <a:pt x="115726" y="-2810"/>
                  <a:pt x="110212" y="-2704"/>
                </a:cubicBezTo>
                <a:cubicBezTo>
                  <a:pt x="100167" y="-2459"/>
                  <a:pt x="94864" y="-3899"/>
                  <a:pt x="86294" y="-9132"/>
                </a:cubicBezTo>
                <a:close/>
                <a:moveTo>
                  <a:pt x="78673" y="33717"/>
                </a:moveTo>
                <a:cubicBezTo>
                  <a:pt x="97281" y="33717"/>
                  <a:pt x="112389" y="48825"/>
                  <a:pt x="112389" y="67434"/>
                </a:cubicBezTo>
                <a:cubicBezTo>
                  <a:pt x="112389" y="86042"/>
                  <a:pt x="97281" y="101150"/>
                  <a:pt x="78673" y="101150"/>
                </a:cubicBezTo>
                <a:cubicBezTo>
                  <a:pt x="60064" y="101150"/>
                  <a:pt x="44956" y="86042"/>
                  <a:pt x="44956" y="67434"/>
                </a:cubicBezTo>
                <a:cubicBezTo>
                  <a:pt x="44956" y="48825"/>
                  <a:pt x="60064" y="33717"/>
                  <a:pt x="78673" y="33717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1" name="Text 19"/>
          <p:cNvSpPr/>
          <p:nvPr/>
        </p:nvSpPr>
        <p:spPr>
          <a:xfrm>
            <a:off x="629381" y="3902159"/>
            <a:ext cx="3344708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High-frequency purchasers driving revenue stability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2643" y="4462608"/>
            <a:ext cx="3773286" cy="1624401"/>
          </a:xfrm>
          <a:custGeom>
            <a:avLst/>
            <a:gdLst/>
            <a:ahLst/>
            <a:cxnLst/>
            <a:rect l="l" t="t" r="r" b="b"/>
            <a:pathLst>
              <a:path w="3773286" h="1624401">
                <a:moveTo>
                  <a:pt x="71928" y="0"/>
                </a:moveTo>
                <a:lnTo>
                  <a:pt x="3701358" y="0"/>
                </a:lnTo>
                <a:cubicBezTo>
                  <a:pt x="3741083" y="0"/>
                  <a:pt x="3773286" y="32203"/>
                  <a:pt x="3773286" y="71928"/>
                </a:cubicBezTo>
                <a:lnTo>
                  <a:pt x="3773286" y="1552473"/>
                </a:lnTo>
                <a:cubicBezTo>
                  <a:pt x="3773286" y="1592198"/>
                  <a:pt x="3741083" y="1624401"/>
                  <a:pt x="3701358" y="1624401"/>
                </a:cubicBezTo>
                <a:lnTo>
                  <a:pt x="71928" y="1624401"/>
                </a:lnTo>
                <a:cubicBezTo>
                  <a:pt x="32203" y="1624401"/>
                  <a:pt x="0" y="1592198"/>
                  <a:pt x="0" y="1552473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773" y="4609464"/>
            <a:ext cx="202301" cy="179823"/>
          </a:xfrm>
          <a:custGeom>
            <a:avLst/>
            <a:gdLst/>
            <a:ahLst/>
            <a:cxnLst/>
            <a:rect l="l" t="t" r="r" b="b"/>
            <a:pathLst>
              <a:path w="202301" h="179823">
                <a:moveTo>
                  <a:pt x="179963" y="84292"/>
                </a:moveTo>
                <a:lnTo>
                  <a:pt x="118149" y="84292"/>
                </a:lnTo>
                <a:cubicBezTo>
                  <a:pt x="111933" y="84292"/>
                  <a:pt x="106910" y="79270"/>
                  <a:pt x="106910" y="73053"/>
                </a:cubicBezTo>
                <a:lnTo>
                  <a:pt x="106910" y="11239"/>
                </a:lnTo>
                <a:cubicBezTo>
                  <a:pt x="106910" y="5022"/>
                  <a:pt x="111968" y="-70"/>
                  <a:pt x="118114" y="738"/>
                </a:cubicBezTo>
                <a:cubicBezTo>
                  <a:pt x="155694" y="5725"/>
                  <a:pt x="185478" y="35508"/>
                  <a:pt x="190465" y="73088"/>
                </a:cubicBezTo>
                <a:cubicBezTo>
                  <a:pt x="191273" y="79235"/>
                  <a:pt x="186180" y="84292"/>
                  <a:pt x="179963" y="84292"/>
                </a:cubicBezTo>
                <a:close/>
                <a:moveTo>
                  <a:pt x="78181" y="13065"/>
                </a:moveTo>
                <a:cubicBezTo>
                  <a:pt x="84538" y="11731"/>
                  <a:pt x="90052" y="16929"/>
                  <a:pt x="90052" y="23426"/>
                </a:cubicBezTo>
                <a:lnTo>
                  <a:pt x="90052" y="92721"/>
                </a:lnTo>
                <a:cubicBezTo>
                  <a:pt x="90052" y="94688"/>
                  <a:pt x="90754" y="96585"/>
                  <a:pt x="91984" y="98095"/>
                </a:cubicBezTo>
                <a:lnTo>
                  <a:pt x="138379" y="154079"/>
                </a:lnTo>
                <a:cubicBezTo>
                  <a:pt x="142489" y="159031"/>
                  <a:pt x="141611" y="166512"/>
                  <a:pt x="135956" y="169567"/>
                </a:cubicBezTo>
                <a:cubicBezTo>
                  <a:pt x="123980" y="176100"/>
                  <a:pt x="110247" y="179823"/>
                  <a:pt x="95671" y="179823"/>
                </a:cubicBezTo>
                <a:cubicBezTo>
                  <a:pt x="49135" y="179823"/>
                  <a:pt x="11379" y="142067"/>
                  <a:pt x="11379" y="95531"/>
                </a:cubicBezTo>
                <a:cubicBezTo>
                  <a:pt x="11379" y="54965"/>
                  <a:pt x="40004" y="21108"/>
                  <a:pt x="78181" y="13065"/>
                </a:cubicBezTo>
                <a:close/>
                <a:moveTo>
                  <a:pt x="167811" y="101150"/>
                </a:moveTo>
                <a:lnTo>
                  <a:pt x="190289" y="101150"/>
                </a:lnTo>
                <a:cubicBezTo>
                  <a:pt x="196787" y="101150"/>
                  <a:pt x="201985" y="106665"/>
                  <a:pt x="200650" y="113022"/>
                </a:cubicBezTo>
                <a:cubicBezTo>
                  <a:pt x="197068" y="130020"/>
                  <a:pt x="188358" y="145123"/>
                  <a:pt x="176205" y="156643"/>
                </a:cubicBezTo>
                <a:cubicBezTo>
                  <a:pt x="171886" y="160752"/>
                  <a:pt x="165107" y="159874"/>
                  <a:pt x="161314" y="155273"/>
                </a:cubicBezTo>
                <a:lnTo>
                  <a:pt x="131671" y="119554"/>
                </a:lnTo>
                <a:cubicBezTo>
                  <a:pt x="125595" y="112214"/>
                  <a:pt x="130828" y="101150"/>
                  <a:pt x="140311" y="101150"/>
                </a:cubicBezTo>
                <a:lnTo>
                  <a:pt x="167776" y="101150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24" name="Text 22"/>
          <p:cNvSpPr/>
          <p:nvPr/>
        </p:nvSpPr>
        <p:spPr>
          <a:xfrm>
            <a:off x="698313" y="4573499"/>
            <a:ext cx="3416637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Subscription Status Insights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3534" y="4933145"/>
            <a:ext cx="1717310" cy="1042973"/>
          </a:xfrm>
          <a:custGeom>
            <a:avLst/>
            <a:gdLst/>
            <a:ahLst/>
            <a:cxnLst/>
            <a:rect l="l" t="t" r="r" b="b"/>
            <a:pathLst>
              <a:path w="1717310" h="1042973">
                <a:moveTo>
                  <a:pt x="71934" y="0"/>
                </a:moveTo>
                <a:lnTo>
                  <a:pt x="1645376" y="0"/>
                </a:lnTo>
                <a:cubicBezTo>
                  <a:pt x="1685104" y="0"/>
                  <a:pt x="1717310" y="32206"/>
                  <a:pt x="1717310" y="71934"/>
                </a:cubicBezTo>
                <a:lnTo>
                  <a:pt x="1717310" y="971040"/>
                </a:lnTo>
                <a:cubicBezTo>
                  <a:pt x="1717310" y="1010768"/>
                  <a:pt x="1685104" y="1042973"/>
                  <a:pt x="1645376" y="1042973"/>
                </a:cubicBezTo>
                <a:lnTo>
                  <a:pt x="71934" y="1042973"/>
                </a:lnTo>
                <a:cubicBezTo>
                  <a:pt x="32206" y="1042973"/>
                  <a:pt x="0" y="1010768"/>
                  <a:pt x="0" y="971040"/>
                </a:cubicBezTo>
                <a:lnTo>
                  <a:pt x="0" y="71934"/>
                </a:lnTo>
                <a:cubicBezTo>
                  <a:pt x="0" y="32206"/>
                  <a:pt x="32206" y="0"/>
                  <a:pt x="7193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Shape 24"/>
          <p:cNvSpPr/>
          <p:nvPr/>
        </p:nvSpPr>
        <p:spPr>
          <a:xfrm>
            <a:off x="1212307" y="5041039"/>
            <a:ext cx="242761" cy="215788"/>
          </a:xfrm>
          <a:custGeom>
            <a:avLst/>
            <a:gdLst/>
            <a:ahLst/>
            <a:cxnLst/>
            <a:rect l="l" t="t" r="r" b="b"/>
            <a:pathLst>
              <a:path w="242761" h="215788">
                <a:moveTo>
                  <a:pt x="131917" y="36751"/>
                </a:moveTo>
                <a:cubicBezTo>
                  <a:pt x="135794" y="33675"/>
                  <a:pt x="138239" y="28912"/>
                  <a:pt x="138239" y="23602"/>
                </a:cubicBezTo>
                <a:cubicBezTo>
                  <a:pt x="138239" y="14288"/>
                  <a:pt x="130695" y="6743"/>
                  <a:pt x="121381" y="6743"/>
                </a:cubicBezTo>
                <a:cubicBezTo>
                  <a:pt x="112066" y="6743"/>
                  <a:pt x="104522" y="14288"/>
                  <a:pt x="104522" y="23602"/>
                </a:cubicBezTo>
                <a:cubicBezTo>
                  <a:pt x="104522" y="28912"/>
                  <a:pt x="107009" y="33675"/>
                  <a:pt x="110844" y="36751"/>
                </a:cubicBezTo>
                <a:lnTo>
                  <a:pt x="82016" y="82100"/>
                </a:lnTo>
                <a:cubicBezTo>
                  <a:pt x="77802" y="88717"/>
                  <a:pt x="68824" y="90361"/>
                  <a:pt x="62545" y="85641"/>
                </a:cubicBezTo>
                <a:lnTo>
                  <a:pt x="37468" y="66886"/>
                </a:lnTo>
                <a:cubicBezTo>
                  <a:pt x="39364" y="64188"/>
                  <a:pt x="40460" y="60859"/>
                  <a:pt x="40460" y="57319"/>
                </a:cubicBezTo>
                <a:cubicBezTo>
                  <a:pt x="40460" y="48004"/>
                  <a:pt x="32916" y="40460"/>
                  <a:pt x="23602" y="40460"/>
                </a:cubicBezTo>
                <a:cubicBezTo>
                  <a:pt x="14288" y="40460"/>
                  <a:pt x="6743" y="48004"/>
                  <a:pt x="6743" y="57319"/>
                </a:cubicBezTo>
                <a:cubicBezTo>
                  <a:pt x="6743" y="66506"/>
                  <a:pt x="14119" y="74008"/>
                  <a:pt x="23265" y="74177"/>
                </a:cubicBezTo>
                <a:lnTo>
                  <a:pt x="37004" y="165845"/>
                </a:lnTo>
                <a:cubicBezTo>
                  <a:pt x="38985" y="179036"/>
                  <a:pt x="50322" y="188814"/>
                  <a:pt x="63683" y="188814"/>
                </a:cubicBezTo>
                <a:lnTo>
                  <a:pt x="179078" y="188814"/>
                </a:lnTo>
                <a:cubicBezTo>
                  <a:pt x="192439" y="188814"/>
                  <a:pt x="203776" y="179036"/>
                  <a:pt x="205757" y="165845"/>
                </a:cubicBezTo>
                <a:lnTo>
                  <a:pt x="219496" y="74177"/>
                </a:lnTo>
                <a:cubicBezTo>
                  <a:pt x="228642" y="74008"/>
                  <a:pt x="236018" y="66506"/>
                  <a:pt x="236018" y="57319"/>
                </a:cubicBezTo>
                <a:cubicBezTo>
                  <a:pt x="236018" y="48004"/>
                  <a:pt x="228474" y="40460"/>
                  <a:pt x="219159" y="40460"/>
                </a:cubicBezTo>
                <a:cubicBezTo>
                  <a:pt x="209845" y="40460"/>
                  <a:pt x="202301" y="48004"/>
                  <a:pt x="202301" y="57319"/>
                </a:cubicBezTo>
                <a:cubicBezTo>
                  <a:pt x="202301" y="60859"/>
                  <a:pt x="203397" y="64188"/>
                  <a:pt x="205293" y="66886"/>
                </a:cubicBezTo>
                <a:lnTo>
                  <a:pt x="180259" y="85683"/>
                </a:lnTo>
                <a:cubicBezTo>
                  <a:pt x="173979" y="90403"/>
                  <a:pt x="165002" y="88760"/>
                  <a:pt x="160787" y="82143"/>
                </a:cubicBezTo>
                <a:lnTo>
                  <a:pt x="131917" y="36751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7" name="Text 25"/>
          <p:cNvSpPr/>
          <p:nvPr/>
        </p:nvSpPr>
        <p:spPr>
          <a:xfrm>
            <a:off x="545463" y="5328756"/>
            <a:ext cx="1573451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Subscribers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7481" y="5580508"/>
            <a:ext cx="1609416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9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AOV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301735" y="4933145"/>
            <a:ext cx="1717310" cy="1042973"/>
          </a:xfrm>
          <a:custGeom>
            <a:avLst/>
            <a:gdLst/>
            <a:ahLst/>
            <a:cxnLst/>
            <a:rect l="l" t="t" r="r" b="b"/>
            <a:pathLst>
              <a:path w="1717310" h="1042973">
                <a:moveTo>
                  <a:pt x="71934" y="0"/>
                </a:moveTo>
                <a:lnTo>
                  <a:pt x="1645376" y="0"/>
                </a:lnTo>
                <a:cubicBezTo>
                  <a:pt x="1685104" y="0"/>
                  <a:pt x="1717310" y="32206"/>
                  <a:pt x="1717310" y="71934"/>
                </a:cubicBezTo>
                <a:lnTo>
                  <a:pt x="1717310" y="971040"/>
                </a:lnTo>
                <a:cubicBezTo>
                  <a:pt x="1717310" y="1010768"/>
                  <a:pt x="1685104" y="1042973"/>
                  <a:pt x="1645376" y="1042973"/>
                </a:cubicBezTo>
                <a:lnTo>
                  <a:pt x="71934" y="1042973"/>
                </a:lnTo>
                <a:cubicBezTo>
                  <a:pt x="32206" y="1042973"/>
                  <a:pt x="0" y="1010768"/>
                  <a:pt x="0" y="971040"/>
                </a:cubicBezTo>
                <a:lnTo>
                  <a:pt x="0" y="71934"/>
                </a:lnTo>
                <a:cubicBezTo>
                  <a:pt x="0" y="32206"/>
                  <a:pt x="32206" y="0"/>
                  <a:pt x="7193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Shape 28"/>
          <p:cNvSpPr/>
          <p:nvPr/>
        </p:nvSpPr>
        <p:spPr>
          <a:xfrm>
            <a:off x="3067481" y="5041039"/>
            <a:ext cx="188814" cy="215788"/>
          </a:xfrm>
          <a:custGeom>
            <a:avLst/>
            <a:gdLst/>
            <a:ahLst/>
            <a:cxnLst/>
            <a:rect l="l" t="t" r="r" b="b"/>
            <a:pathLst>
              <a:path w="188814" h="215788">
                <a:moveTo>
                  <a:pt x="94407" y="104522"/>
                </a:moveTo>
                <a:cubicBezTo>
                  <a:pt x="122320" y="104522"/>
                  <a:pt x="144982" y="81860"/>
                  <a:pt x="144982" y="53947"/>
                </a:cubicBezTo>
                <a:cubicBezTo>
                  <a:pt x="144982" y="26034"/>
                  <a:pt x="122320" y="3372"/>
                  <a:pt x="94407" y="3372"/>
                </a:cubicBezTo>
                <a:cubicBezTo>
                  <a:pt x="66494" y="3372"/>
                  <a:pt x="43832" y="26034"/>
                  <a:pt x="43832" y="53947"/>
                </a:cubicBezTo>
                <a:cubicBezTo>
                  <a:pt x="43832" y="81860"/>
                  <a:pt x="66494" y="104522"/>
                  <a:pt x="94407" y="104522"/>
                </a:cubicBezTo>
                <a:close/>
                <a:moveTo>
                  <a:pt x="81890" y="128124"/>
                </a:moveTo>
                <a:cubicBezTo>
                  <a:pt x="40376" y="128124"/>
                  <a:pt x="6743" y="161756"/>
                  <a:pt x="6743" y="203270"/>
                </a:cubicBezTo>
                <a:cubicBezTo>
                  <a:pt x="6743" y="210182"/>
                  <a:pt x="12349" y="215788"/>
                  <a:pt x="19261" y="215788"/>
                </a:cubicBezTo>
                <a:lnTo>
                  <a:pt x="169553" y="215788"/>
                </a:lnTo>
                <a:cubicBezTo>
                  <a:pt x="176465" y="215788"/>
                  <a:pt x="182071" y="210182"/>
                  <a:pt x="182071" y="203270"/>
                </a:cubicBezTo>
                <a:cubicBezTo>
                  <a:pt x="182071" y="161756"/>
                  <a:pt x="148438" y="128124"/>
                  <a:pt x="106924" y="128124"/>
                </a:cubicBezTo>
                <a:lnTo>
                  <a:pt x="81890" y="128124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1" name="Text 29"/>
          <p:cNvSpPr/>
          <p:nvPr/>
        </p:nvSpPr>
        <p:spPr>
          <a:xfrm>
            <a:off x="2373664" y="5328756"/>
            <a:ext cx="1573451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Non-Subscribers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355681" y="5580508"/>
            <a:ext cx="1609416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9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82785" y="1189829"/>
            <a:ext cx="7549569" cy="2964083"/>
          </a:xfrm>
          <a:custGeom>
            <a:avLst/>
            <a:gdLst/>
            <a:ahLst/>
            <a:cxnLst/>
            <a:rect l="l" t="t" r="r" b="b"/>
            <a:pathLst>
              <a:path w="7549569" h="2964083">
                <a:moveTo>
                  <a:pt x="71938" y="0"/>
                </a:moveTo>
                <a:lnTo>
                  <a:pt x="7477631" y="0"/>
                </a:lnTo>
                <a:cubicBezTo>
                  <a:pt x="7517361" y="0"/>
                  <a:pt x="7549569" y="32208"/>
                  <a:pt x="7549569" y="71938"/>
                </a:cubicBezTo>
                <a:lnTo>
                  <a:pt x="7549569" y="2892144"/>
                </a:lnTo>
                <a:cubicBezTo>
                  <a:pt x="7549569" y="2931875"/>
                  <a:pt x="7517361" y="2964083"/>
                  <a:pt x="7477631" y="2964083"/>
                </a:cubicBezTo>
                <a:lnTo>
                  <a:pt x="71938" y="2964083"/>
                </a:lnTo>
                <a:cubicBezTo>
                  <a:pt x="32208" y="2964083"/>
                  <a:pt x="0" y="2931875"/>
                  <a:pt x="0" y="2892144"/>
                </a:cubicBezTo>
                <a:lnTo>
                  <a:pt x="0" y="71938"/>
                </a:lnTo>
                <a:cubicBezTo>
                  <a:pt x="0" y="32208"/>
                  <a:pt x="32208" y="0"/>
                  <a:pt x="71938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4136" y="1336685"/>
            <a:ext cx="188814" cy="215788"/>
          </a:xfrm>
          <a:custGeom>
            <a:avLst/>
            <a:gdLst/>
            <a:ahLst/>
            <a:cxnLst/>
            <a:rect l="l" t="t" r="r" b="b"/>
            <a:pathLst>
              <a:path w="188814" h="215788">
                <a:moveTo>
                  <a:pt x="36414" y="-4425"/>
                </a:moveTo>
                <a:lnTo>
                  <a:pt x="26046" y="13318"/>
                </a:lnTo>
                <a:cubicBezTo>
                  <a:pt x="24445" y="16058"/>
                  <a:pt x="23602" y="19219"/>
                  <a:pt x="23602" y="22422"/>
                </a:cubicBezTo>
                <a:lnTo>
                  <a:pt x="23602" y="23602"/>
                </a:lnTo>
                <a:cubicBezTo>
                  <a:pt x="23602" y="32916"/>
                  <a:pt x="31146" y="40460"/>
                  <a:pt x="40460" y="40460"/>
                </a:cubicBezTo>
                <a:cubicBezTo>
                  <a:pt x="49774" y="40460"/>
                  <a:pt x="57319" y="32916"/>
                  <a:pt x="57319" y="23602"/>
                </a:cubicBezTo>
                <a:lnTo>
                  <a:pt x="57319" y="22422"/>
                </a:lnTo>
                <a:cubicBezTo>
                  <a:pt x="57319" y="19219"/>
                  <a:pt x="56476" y="16100"/>
                  <a:pt x="54874" y="13318"/>
                </a:cubicBezTo>
                <a:lnTo>
                  <a:pt x="44506" y="-4425"/>
                </a:lnTo>
                <a:cubicBezTo>
                  <a:pt x="43663" y="-5858"/>
                  <a:pt x="42104" y="-6743"/>
                  <a:pt x="40460" y="-6743"/>
                </a:cubicBezTo>
                <a:cubicBezTo>
                  <a:pt x="38816" y="-6743"/>
                  <a:pt x="37257" y="-5858"/>
                  <a:pt x="36414" y="-4425"/>
                </a:cubicBezTo>
                <a:close/>
                <a:moveTo>
                  <a:pt x="90361" y="-4425"/>
                </a:moveTo>
                <a:lnTo>
                  <a:pt x="79993" y="13318"/>
                </a:lnTo>
                <a:cubicBezTo>
                  <a:pt x="78392" y="16058"/>
                  <a:pt x="77549" y="19219"/>
                  <a:pt x="77549" y="22422"/>
                </a:cubicBezTo>
                <a:lnTo>
                  <a:pt x="77549" y="23602"/>
                </a:lnTo>
                <a:cubicBezTo>
                  <a:pt x="77549" y="32916"/>
                  <a:pt x="85093" y="40460"/>
                  <a:pt x="94407" y="40460"/>
                </a:cubicBezTo>
                <a:cubicBezTo>
                  <a:pt x="103721" y="40460"/>
                  <a:pt x="111265" y="32916"/>
                  <a:pt x="111265" y="23602"/>
                </a:cubicBezTo>
                <a:lnTo>
                  <a:pt x="111265" y="22422"/>
                </a:lnTo>
                <a:cubicBezTo>
                  <a:pt x="111265" y="19219"/>
                  <a:pt x="110423" y="16100"/>
                  <a:pt x="108821" y="13318"/>
                </a:cubicBezTo>
                <a:lnTo>
                  <a:pt x="98453" y="-4425"/>
                </a:lnTo>
                <a:cubicBezTo>
                  <a:pt x="97610" y="-5858"/>
                  <a:pt x="96051" y="-6743"/>
                  <a:pt x="94407" y="-6743"/>
                </a:cubicBezTo>
                <a:cubicBezTo>
                  <a:pt x="92763" y="-6743"/>
                  <a:pt x="91204" y="-5858"/>
                  <a:pt x="90361" y="-4425"/>
                </a:cubicBezTo>
                <a:close/>
                <a:moveTo>
                  <a:pt x="133940" y="13318"/>
                </a:moveTo>
                <a:cubicBezTo>
                  <a:pt x="132338" y="16058"/>
                  <a:pt x="131496" y="19219"/>
                  <a:pt x="131496" y="22422"/>
                </a:cubicBezTo>
                <a:lnTo>
                  <a:pt x="131496" y="23602"/>
                </a:lnTo>
                <a:cubicBezTo>
                  <a:pt x="131496" y="32916"/>
                  <a:pt x="139040" y="40460"/>
                  <a:pt x="148354" y="40460"/>
                </a:cubicBezTo>
                <a:cubicBezTo>
                  <a:pt x="157668" y="40460"/>
                  <a:pt x="165212" y="32916"/>
                  <a:pt x="165212" y="23602"/>
                </a:cubicBezTo>
                <a:lnTo>
                  <a:pt x="165212" y="22422"/>
                </a:lnTo>
                <a:cubicBezTo>
                  <a:pt x="165212" y="19219"/>
                  <a:pt x="164369" y="16100"/>
                  <a:pt x="162768" y="13318"/>
                </a:cubicBezTo>
                <a:lnTo>
                  <a:pt x="152400" y="-4425"/>
                </a:lnTo>
                <a:cubicBezTo>
                  <a:pt x="151557" y="-5858"/>
                  <a:pt x="149998" y="-6743"/>
                  <a:pt x="148354" y="-6743"/>
                </a:cubicBezTo>
                <a:cubicBezTo>
                  <a:pt x="146710" y="-6743"/>
                  <a:pt x="145151" y="-5858"/>
                  <a:pt x="144308" y="-4425"/>
                </a:cubicBezTo>
                <a:lnTo>
                  <a:pt x="133940" y="13318"/>
                </a:lnTo>
                <a:close/>
                <a:moveTo>
                  <a:pt x="53947" y="67434"/>
                </a:moveTo>
                <a:cubicBezTo>
                  <a:pt x="53947" y="59974"/>
                  <a:pt x="47920" y="53947"/>
                  <a:pt x="40460" y="53947"/>
                </a:cubicBezTo>
                <a:cubicBezTo>
                  <a:pt x="33000" y="53947"/>
                  <a:pt x="26973" y="59974"/>
                  <a:pt x="26973" y="67434"/>
                </a:cubicBezTo>
                <a:lnTo>
                  <a:pt x="26973" y="89982"/>
                </a:lnTo>
                <a:cubicBezTo>
                  <a:pt x="11253" y="95503"/>
                  <a:pt x="0" y="110507"/>
                  <a:pt x="0" y="128124"/>
                </a:cubicBezTo>
                <a:lnTo>
                  <a:pt x="0" y="136890"/>
                </a:lnTo>
                <a:cubicBezTo>
                  <a:pt x="8809" y="137438"/>
                  <a:pt x="17533" y="139967"/>
                  <a:pt x="25414" y="144477"/>
                </a:cubicBezTo>
                <a:lnTo>
                  <a:pt x="28406" y="146205"/>
                </a:lnTo>
                <a:cubicBezTo>
                  <a:pt x="39491" y="152526"/>
                  <a:pt x="53230" y="151852"/>
                  <a:pt x="63640" y="144434"/>
                </a:cubicBezTo>
                <a:cubicBezTo>
                  <a:pt x="82058" y="131285"/>
                  <a:pt x="106756" y="131285"/>
                  <a:pt x="125174" y="144434"/>
                </a:cubicBezTo>
                <a:cubicBezTo>
                  <a:pt x="135542" y="151852"/>
                  <a:pt x="149323" y="152569"/>
                  <a:pt x="160408" y="146205"/>
                </a:cubicBezTo>
                <a:lnTo>
                  <a:pt x="163400" y="144477"/>
                </a:lnTo>
                <a:cubicBezTo>
                  <a:pt x="171281" y="139967"/>
                  <a:pt x="179963" y="137438"/>
                  <a:pt x="188814" y="136890"/>
                </a:cubicBezTo>
                <a:lnTo>
                  <a:pt x="188814" y="128124"/>
                </a:lnTo>
                <a:cubicBezTo>
                  <a:pt x="188814" y="110507"/>
                  <a:pt x="177561" y="95503"/>
                  <a:pt x="161841" y="89982"/>
                </a:cubicBezTo>
                <a:lnTo>
                  <a:pt x="161841" y="67434"/>
                </a:lnTo>
                <a:cubicBezTo>
                  <a:pt x="161841" y="59974"/>
                  <a:pt x="155814" y="53947"/>
                  <a:pt x="148354" y="53947"/>
                </a:cubicBezTo>
                <a:cubicBezTo>
                  <a:pt x="140894" y="53947"/>
                  <a:pt x="134867" y="59974"/>
                  <a:pt x="134867" y="67434"/>
                </a:cubicBezTo>
                <a:lnTo>
                  <a:pt x="134867" y="87664"/>
                </a:lnTo>
                <a:lnTo>
                  <a:pt x="107894" y="87664"/>
                </a:lnTo>
                <a:lnTo>
                  <a:pt x="107894" y="67434"/>
                </a:lnTo>
                <a:cubicBezTo>
                  <a:pt x="107894" y="59974"/>
                  <a:pt x="101867" y="53947"/>
                  <a:pt x="94407" y="53947"/>
                </a:cubicBezTo>
                <a:cubicBezTo>
                  <a:pt x="86947" y="53947"/>
                  <a:pt x="80920" y="59974"/>
                  <a:pt x="80920" y="67434"/>
                </a:cubicBezTo>
                <a:lnTo>
                  <a:pt x="80920" y="87664"/>
                </a:lnTo>
                <a:lnTo>
                  <a:pt x="53947" y="87664"/>
                </a:lnTo>
                <a:lnTo>
                  <a:pt x="53947" y="67434"/>
                </a:lnTo>
                <a:close/>
                <a:moveTo>
                  <a:pt x="188814" y="157205"/>
                </a:moveTo>
                <a:cubicBezTo>
                  <a:pt x="183462" y="157710"/>
                  <a:pt x="178236" y="159312"/>
                  <a:pt x="173431" y="162051"/>
                </a:cubicBezTo>
                <a:lnTo>
                  <a:pt x="170438" y="163779"/>
                </a:lnTo>
                <a:cubicBezTo>
                  <a:pt x="152484" y="174021"/>
                  <a:pt x="130231" y="172925"/>
                  <a:pt x="113415" y="160913"/>
                </a:cubicBezTo>
                <a:cubicBezTo>
                  <a:pt x="102036" y="152779"/>
                  <a:pt x="86779" y="152779"/>
                  <a:pt x="75399" y="160913"/>
                </a:cubicBezTo>
                <a:cubicBezTo>
                  <a:pt x="58583" y="172925"/>
                  <a:pt x="36330" y="174063"/>
                  <a:pt x="18376" y="163779"/>
                </a:cubicBezTo>
                <a:lnTo>
                  <a:pt x="15383" y="162051"/>
                </a:lnTo>
                <a:cubicBezTo>
                  <a:pt x="10579" y="159312"/>
                  <a:pt x="5353" y="157668"/>
                  <a:pt x="0" y="157205"/>
                </a:cubicBezTo>
                <a:lnTo>
                  <a:pt x="0" y="188814"/>
                </a:lnTo>
                <a:cubicBezTo>
                  <a:pt x="0" y="203692"/>
                  <a:pt x="12096" y="215788"/>
                  <a:pt x="26973" y="215788"/>
                </a:cubicBezTo>
                <a:lnTo>
                  <a:pt x="161841" y="215788"/>
                </a:lnTo>
                <a:cubicBezTo>
                  <a:pt x="176718" y="215788"/>
                  <a:pt x="188814" y="203692"/>
                  <a:pt x="188814" y="188814"/>
                </a:cubicBezTo>
                <a:lnTo>
                  <a:pt x="188814" y="157205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10" y="1300720"/>
            <a:ext cx="7165947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9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Group Revenue Analysis</a:t>
            </a:r>
            <a:endParaRPr lang="en-US" sz="1600" dirty="0"/>
          </a:p>
        </p:txBody>
      </p:sp>
      <p:pic>
        <p:nvPicPr>
          <p:cNvPr id="36" name="Image 0" descr="https://kimi-img.moonshot.cn/pub/slides/26-01-09-03:39:26-d5g0frlpa8ftju4n3lj0.png">    </p:cNvPr>
          <p:cNvPicPr>
            <a:picLocks noChangeAspect="1"/>
          </p:cNvPicPr>
          <p:nvPr/>
        </p:nvPicPr>
        <p:blipFill>
          <a:blip r:embed="rId1"/>
          <a:srcRect l="0" r="0" t="23" b="23"/>
          <a:stretch/>
        </p:blipFill>
        <p:spPr>
          <a:xfrm>
            <a:off x="4393676" y="1660367"/>
            <a:ext cx="6644460" cy="2157876"/>
          </a:xfrm>
          <a:prstGeom prst="roundRect">
            <a:avLst>
              <a:gd name="adj" fmla="val 0"/>
            </a:avLst>
          </a:prstGeom>
        </p:spPr>
      </p:pic>
      <p:sp>
        <p:nvSpPr>
          <p:cNvPr id="37" name="Shape 34"/>
          <p:cNvSpPr/>
          <p:nvPr/>
        </p:nvSpPr>
        <p:spPr>
          <a:xfrm>
            <a:off x="4282785" y="4263867"/>
            <a:ext cx="7549569" cy="1876153"/>
          </a:xfrm>
          <a:custGeom>
            <a:avLst/>
            <a:gdLst/>
            <a:ahLst/>
            <a:cxnLst/>
            <a:rect l="l" t="t" r="r" b="b"/>
            <a:pathLst>
              <a:path w="7549569" h="1876153">
                <a:moveTo>
                  <a:pt x="71932" y="0"/>
                </a:moveTo>
                <a:lnTo>
                  <a:pt x="7477638" y="0"/>
                </a:lnTo>
                <a:cubicBezTo>
                  <a:pt x="7517364" y="0"/>
                  <a:pt x="7549569" y="32205"/>
                  <a:pt x="7549569" y="71932"/>
                </a:cubicBezTo>
                <a:lnTo>
                  <a:pt x="7549569" y="1804222"/>
                </a:lnTo>
                <a:cubicBezTo>
                  <a:pt x="7549569" y="1843948"/>
                  <a:pt x="7517364" y="1876153"/>
                  <a:pt x="7477638" y="1876153"/>
                </a:cubicBezTo>
                <a:lnTo>
                  <a:pt x="71932" y="1876153"/>
                </a:lnTo>
                <a:cubicBezTo>
                  <a:pt x="32205" y="1876153"/>
                  <a:pt x="0" y="1843948"/>
                  <a:pt x="0" y="1804222"/>
                </a:cubicBezTo>
                <a:lnTo>
                  <a:pt x="0" y="71932"/>
                </a:lnTo>
                <a:cubicBezTo>
                  <a:pt x="0" y="32232"/>
                  <a:pt x="32232" y="0"/>
                  <a:pt x="71932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393676" y="4410721"/>
            <a:ext cx="269735" cy="215788"/>
          </a:xfrm>
          <a:custGeom>
            <a:avLst/>
            <a:gdLst/>
            <a:ahLst/>
            <a:cxnLst/>
            <a:rect l="l" t="t" r="r" b="b"/>
            <a:pathLst>
              <a:path w="269735" h="215788">
                <a:moveTo>
                  <a:pt x="202301" y="-26973"/>
                </a:moveTo>
                <a:cubicBezTo>
                  <a:pt x="194841" y="-26973"/>
                  <a:pt x="188814" y="-20947"/>
                  <a:pt x="188814" y="-13487"/>
                </a:cubicBezTo>
                <a:cubicBezTo>
                  <a:pt x="188814" y="-6027"/>
                  <a:pt x="194841" y="0"/>
                  <a:pt x="202301" y="0"/>
                </a:cubicBezTo>
                <a:lnTo>
                  <a:pt x="223669" y="0"/>
                </a:lnTo>
                <a:lnTo>
                  <a:pt x="199772" y="23897"/>
                </a:lnTo>
                <a:cubicBezTo>
                  <a:pt x="188688" y="17280"/>
                  <a:pt x="175707" y="13487"/>
                  <a:pt x="161841" y="13487"/>
                </a:cubicBezTo>
                <a:cubicBezTo>
                  <a:pt x="146921" y="13487"/>
                  <a:pt x="133013" y="17912"/>
                  <a:pt x="121381" y="25498"/>
                </a:cubicBezTo>
                <a:cubicBezTo>
                  <a:pt x="109748" y="17912"/>
                  <a:pt x="95840" y="13487"/>
                  <a:pt x="80920" y="13487"/>
                </a:cubicBezTo>
                <a:cubicBezTo>
                  <a:pt x="39954" y="13487"/>
                  <a:pt x="6743" y="46698"/>
                  <a:pt x="6743" y="87664"/>
                </a:cubicBezTo>
                <a:cubicBezTo>
                  <a:pt x="6743" y="124036"/>
                  <a:pt x="32916" y="154297"/>
                  <a:pt x="67434" y="160618"/>
                </a:cubicBezTo>
                <a:lnTo>
                  <a:pt x="67434" y="175327"/>
                </a:lnTo>
                <a:lnTo>
                  <a:pt x="53947" y="175327"/>
                </a:lnTo>
                <a:cubicBezTo>
                  <a:pt x="46487" y="175327"/>
                  <a:pt x="40460" y="181354"/>
                  <a:pt x="40460" y="188814"/>
                </a:cubicBezTo>
                <a:cubicBezTo>
                  <a:pt x="40460" y="196274"/>
                  <a:pt x="46487" y="202301"/>
                  <a:pt x="53947" y="202301"/>
                </a:cubicBezTo>
                <a:lnTo>
                  <a:pt x="67434" y="202301"/>
                </a:lnTo>
                <a:lnTo>
                  <a:pt x="67434" y="215788"/>
                </a:lnTo>
                <a:cubicBezTo>
                  <a:pt x="67434" y="223247"/>
                  <a:pt x="73461" y="229274"/>
                  <a:pt x="80920" y="229274"/>
                </a:cubicBezTo>
                <a:cubicBezTo>
                  <a:pt x="88380" y="229274"/>
                  <a:pt x="94407" y="223247"/>
                  <a:pt x="94407" y="215788"/>
                </a:cubicBezTo>
                <a:lnTo>
                  <a:pt x="94407" y="202301"/>
                </a:lnTo>
                <a:lnTo>
                  <a:pt x="107894" y="202301"/>
                </a:lnTo>
                <a:cubicBezTo>
                  <a:pt x="115354" y="202301"/>
                  <a:pt x="121381" y="196274"/>
                  <a:pt x="121381" y="188814"/>
                </a:cubicBezTo>
                <a:cubicBezTo>
                  <a:pt x="121381" y="181354"/>
                  <a:pt x="115354" y="175327"/>
                  <a:pt x="107894" y="175327"/>
                </a:cubicBezTo>
                <a:lnTo>
                  <a:pt x="94407" y="175327"/>
                </a:lnTo>
                <a:lnTo>
                  <a:pt x="94407" y="160618"/>
                </a:lnTo>
                <a:cubicBezTo>
                  <a:pt x="104227" y="158806"/>
                  <a:pt x="113331" y="155097"/>
                  <a:pt x="121381" y="149829"/>
                </a:cubicBezTo>
                <a:cubicBezTo>
                  <a:pt x="133013" y="157415"/>
                  <a:pt x="146921" y="161841"/>
                  <a:pt x="161841" y="161841"/>
                </a:cubicBezTo>
                <a:cubicBezTo>
                  <a:pt x="202807" y="161841"/>
                  <a:pt x="236018" y="128630"/>
                  <a:pt x="236018" y="87664"/>
                </a:cubicBezTo>
                <a:cubicBezTo>
                  <a:pt x="236018" y="70342"/>
                  <a:pt x="230075" y="54368"/>
                  <a:pt x="220087" y="41725"/>
                </a:cubicBezTo>
                <a:lnTo>
                  <a:pt x="242761" y="19092"/>
                </a:lnTo>
                <a:lnTo>
                  <a:pt x="242761" y="40460"/>
                </a:lnTo>
                <a:cubicBezTo>
                  <a:pt x="242761" y="47920"/>
                  <a:pt x="248788" y="53947"/>
                  <a:pt x="256248" y="53947"/>
                </a:cubicBezTo>
                <a:cubicBezTo>
                  <a:pt x="263708" y="53947"/>
                  <a:pt x="269735" y="47920"/>
                  <a:pt x="269735" y="40460"/>
                </a:cubicBezTo>
                <a:lnTo>
                  <a:pt x="269735" y="-13487"/>
                </a:lnTo>
                <a:cubicBezTo>
                  <a:pt x="269735" y="-20947"/>
                  <a:pt x="263708" y="-26973"/>
                  <a:pt x="256248" y="-26973"/>
                </a:cubicBezTo>
                <a:lnTo>
                  <a:pt x="202301" y="-26973"/>
                </a:lnTo>
                <a:close/>
                <a:moveTo>
                  <a:pt x="141611" y="130315"/>
                </a:moveTo>
                <a:cubicBezTo>
                  <a:pt x="150124" y="118262"/>
                  <a:pt x="155097" y="103553"/>
                  <a:pt x="155097" y="87664"/>
                </a:cubicBezTo>
                <a:cubicBezTo>
                  <a:pt x="155097" y="71775"/>
                  <a:pt x="150124" y="57066"/>
                  <a:pt x="141611" y="45012"/>
                </a:cubicBezTo>
                <a:cubicBezTo>
                  <a:pt x="147764" y="42104"/>
                  <a:pt x="154592" y="40460"/>
                  <a:pt x="161841" y="40460"/>
                </a:cubicBezTo>
                <a:cubicBezTo>
                  <a:pt x="187929" y="40460"/>
                  <a:pt x="209044" y="61575"/>
                  <a:pt x="209044" y="87664"/>
                </a:cubicBezTo>
                <a:cubicBezTo>
                  <a:pt x="209044" y="113752"/>
                  <a:pt x="187929" y="134867"/>
                  <a:pt x="161841" y="134867"/>
                </a:cubicBezTo>
                <a:cubicBezTo>
                  <a:pt x="154592" y="134867"/>
                  <a:pt x="147722" y="133224"/>
                  <a:pt x="141611" y="130315"/>
                </a:cubicBezTo>
                <a:close/>
                <a:moveTo>
                  <a:pt x="121381" y="63345"/>
                </a:moveTo>
                <a:cubicBezTo>
                  <a:pt x="125679" y="70468"/>
                  <a:pt x="128124" y="78771"/>
                  <a:pt x="128124" y="87664"/>
                </a:cubicBezTo>
                <a:cubicBezTo>
                  <a:pt x="128124" y="96557"/>
                  <a:pt x="125679" y="104901"/>
                  <a:pt x="121381" y="111982"/>
                </a:cubicBezTo>
                <a:cubicBezTo>
                  <a:pt x="117082" y="104859"/>
                  <a:pt x="114637" y="96557"/>
                  <a:pt x="114637" y="87664"/>
                </a:cubicBezTo>
                <a:cubicBezTo>
                  <a:pt x="114637" y="78771"/>
                  <a:pt x="117082" y="70426"/>
                  <a:pt x="121381" y="63345"/>
                </a:cubicBezTo>
                <a:close/>
                <a:moveTo>
                  <a:pt x="101150" y="45012"/>
                </a:moveTo>
                <a:cubicBezTo>
                  <a:pt x="92637" y="57066"/>
                  <a:pt x="87664" y="71775"/>
                  <a:pt x="87664" y="87664"/>
                </a:cubicBezTo>
                <a:cubicBezTo>
                  <a:pt x="87664" y="103553"/>
                  <a:pt x="92637" y="118262"/>
                  <a:pt x="101150" y="130315"/>
                </a:cubicBezTo>
                <a:cubicBezTo>
                  <a:pt x="95039" y="133224"/>
                  <a:pt x="88169" y="134867"/>
                  <a:pt x="80920" y="134867"/>
                </a:cubicBezTo>
                <a:cubicBezTo>
                  <a:pt x="54832" y="134867"/>
                  <a:pt x="33717" y="113752"/>
                  <a:pt x="33717" y="87664"/>
                </a:cubicBezTo>
                <a:cubicBezTo>
                  <a:pt x="33717" y="61575"/>
                  <a:pt x="54832" y="40460"/>
                  <a:pt x="80920" y="40460"/>
                </a:cubicBezTo>
                <a:cubicBezTo>
                  <a:pt x="88169" y="40460"/>
                  <a:pt x="95039" y="42104"/>
                  <a:pt x="101150" y="45012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9" name="Text 36"/>
          <p:cNvSpPr/>
          <p:nvPr/>
        </p:nvSpPr>
        <p:spPr>
          <a:xfrm>
            <a:off x="4663410" y="4374757"/>
            <a:ext cx="7165947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9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Gender-Based Purchasing Patterns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411658" y="4770367"/>
            <a:ext cx="3596460" cy="1258761"/>
          </a:xfrm>
          <a:custGeom>
            <a:avLst/>
            <a:gdLst/>
            <a:ahLst/>
            <a:cxnLst/>
            <a:rect l="l" t="t" r="r" b="b"/>
            <a:pathLst>
              <a:path w="3596460" h="1258761">
                <a:moveTo>
                  <a:pt x="35965" y="0"/>
                </a:moveTo>
                <a:lnTo>
                  <a:pt x="3524535" y="0"/>
                </a:lnTo>
                <a:cubicBezTo>
                  <a:pt x="3564258" y="0"/>
                  <a:pt x="3596460" y="32202"/>
                  <a:pt x="3596460" y="71926"/>
                </a:cubicBezTo>
                <a:lnTo>
                  <a:pt x="3596460" y="1186835"/>
                </a:lnTo>
                <a:cubicBezTo>
                  <a:pt x="3596460" y="1226559"/>
                  <a:pt x="3564258" y="1258761"/>
                  <a:pt x="3524535" y="1258761"/>
                </a:cubicBezTo>
                <a:lnTo>
                  <a:pt x="35965" y="1258761"/>
                </a:lnTo>
                <a:cubicBezTo>
                  <a:pt x="16102" y="1258761"/>
                  <a:pt x="0" y="1242659"/>
                  <a:pt x="0" y="1222796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8"/>
          <p:cNvSpPr/>
          <p:nvPr/>
        </p:nvSpPr>
        <p:spPr>
          <a:xfrm>
            <a:off x="4411658" y="4770367"/>
            <a:ext cx="35965" cy="1258761"/>
          </a:xfrm>
          <a:custGeom>
            <a:avLst/>
            <a:gdLst/>
            <a:ahLst/>
            <a:cxnLst/>
            <a:rect l="l" t="t" r="r" b="b"/>
            <a:pathLst>
              <a:path w="35965" h="1258761">
                <a:moveTo>
                  <a:pt x="35965" y="0"/>
                </a:moveTo>
                <a:lnTo>
                  <a:pt x="35965" y="0"/>
                </a:lnTo>
                <a:lnTo>
                  <a:pt x="35965" y="1258761"/>
                </a:lnTo>
                <a:lnTo>
                  <a:pt x="35965" y="1258761"/>
                </a:lnTo>
                <a:cubicBezTo>
                  <a:pt x="16102" y="1258761"/>
                  <a:pt x="0" y="1242659"/>
                  <a:pt x="0" y="1222796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2" name="Shape 39"/>
          <p:cNvSpPr/>
          <p:nvPr/>
        </p:nvSpPr>
        <p:spPr>
          <a:xfrm>
            <a:off x="4591481" y="4896243"/>
            <a:ext cx="161841" cy="215788"/>
          </a:xfrm>
          <a:custGeom>
            <a:avLst/>
            <a:gdLst/>
            <a:ahLst/>
            <a:cxnLst/>
            <a:rect l="l" t="t" r="r" b="b"/>
            <a:pathLst>
              <a:path w="161841" h="215788">
                <a:moveTo>
                  <a:pt x="57319" y="10115"/>
                </a:moveTo>
                <a:cubicBezTo>
                  <a:pt x="57319" y="-2911"/>
                  <a:pt x="67894" y="-13487"/>
                  <a:pt x="80920" y="-13487"/>
                </a:cubicBezTo>
                <a:cubicBezTo>
                  <a:pt x="93947" y="-13487"/>
                  <a:pt x="104522" y="-2911"/>
                  <a:pt x="104522" y="10115"/>
                </a:cubicBezTo>
                <a:cubicBezTo>
                  <a:pt x="104522" y="23141"/>
                  <a:pt x="93947" y="33717"/>
                  <a:pt x="80920" y="33717"/>
                </a:cubicBezTo>
                <a:cubicBezTo>
                  <a:pt x="67894" y="33717"/>
                  <a:pt x="57319" y="23141"/>
                  <a:pt x="57319" y="10115"/>
                </a:cubicBezTo>
                <a:close/>
                <a:moveTo>
                  <a:pt x="47204" y="161841"/>
                </a:moveTo>
                <a:lnTo>
                  <a:pt x="36330" y="161841"/>
                </a:lnTo>
                <a:cubicBezTo>
                  <a:pt x="31736" y="161841"/>
                  <a:pt x="28491" y="157331"/>
                  <a:pt x="29924" y="152948"/>
                </a:cubicBezTo>
                <a:lnTo>
                  <a:pt x="48046" y="98580"/>
                </a:lnTo>
                <a:lnTo>
                  <a:pt x="27690" y="126017"/>
                </a:lnTo>
                <a:cubicBezTo>
                  <a:pt x="23265" y="132001"/>
                  <a:pt x="14793" y="133266"/>
                  <a:pt x="8809" y="128798"/>
                </a:cubicBezTo>
                <a:cubicBezTo>
                  <a:pt x="2824" y="124331"/>
                  <a:pt x="1559" y="115902"/>
                  <a:pt x="6027" y="109917"/>
                </a:cubicBezTo>
                <a:lnTo>
                  <a:pt x="35740" y="69878"/>
                </a:lnTo>
                <a:cubicBezTo>
                  <a:pt x="46361" y="55633"/>
                  <a:pt x="63093" y="47204"/>
                  <a:pt x="80920" y="47204"/>
                </a:cubicBezTo>
                <a:cubicBezTo>
                  <a:pt x="98748" y="47204"/>
                  <a:pt x="115480" y="55633"/>
                  <a:pt x="126101" y="69920"/>
                </a:cubicBezTo>
                <a:lnTo>
                  <a:pt x="155814" y="109959"/>
                </a:lnTo>
                <a:cubicBezTo>
                  <a:pt x="160239" y="115944"/>
                  <a:pt x="159017" y="124373"/>
                  <a:pt x="153032" y="128840"/>
                </a:cubicBezTo>
                <a:cubicBezTo>
                  <a:pt x="147047" y="133308"/>
                  <a:pt x="138618" y="132043"/>
                  <a:pt x="134151" y="126059"/>
                </a:cubicBezTo>
                <a:lnTo>
                  <a:pt x="113794" y="98622"/>
                </a:lnTo>
                <a:lnTo>
                  <a:pt x="131917" y="152948"/>
                </a:lnTo>
                <a:cubicBezTo>
                  <a:pt x="133392" y="157331"/>
                  <a:pt x="130105" y="161841"/>
                  <a:pt x="125511" y="161841"/>
                </a:cubicBezTo>
                <a:lnTo>
                  <a:pt x="114637" y="161841"/>
                </a:lnTo>
                <a:lnTo>
                  <a:pt x="114637" y="215788"/>
                </a:lnTo>
                <a:cubicBezTo>
                  <a:pt x="114637" y="223247"/>
                  <a:pt x="108610" y="229274"/>
                  <a:pt x="101150" y="229274"/>
                </a:cubicBezTo>
                <a:cubicBezTo>
                  <a:pt x="93691" y="229274"/>
                  <a:pt x="87664" y="223247"/>
                  <a:pt x="87664" y="215788"/>
                </a:cubicBezTo>
                <a:lnTo>
                  <a:pt x="87664" y="161841"/>
                </a:lnTo>
                <a:lnTo>
                  <a:pt x="74177" y="161841"/>
                </a:lnTo>
                <a:lnTo>
                  <a:pt x="74177" y="215788"/>
                </a:lnTo>
                <a:cubicBezTo>
                  <a:pt x="74177" y="223247"/>
                  <a:pt x="68150" y="229274"/>
                  <a:pt x="60690" y="229274"/>
                </a:cubicBezTo>
                <a:cubicBezTo>
                  <a:pt x="53230" y="229274"/>
                  <a:pt x="47204" y="223247"/>
                  <a:pt x="47204" y="215788"/>
                </a:cubicBezTo>
                <a:lnTo>
                  <a:pt x="47204" y="161841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3" name="Text 40"/>
          <p:cNvSpPr/>
          <p:nvPr/>
        </p:nvSpPr>
        <p:spPr>
          <a:xfrm>
            <a:off x="4879198" y="4878261"/>
            <a:ext cx="1582442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Female Customers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4537534" y="5201942"/>
            <a:ext cx="3434619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average purchase value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4537534" y="5453695"/>
            <a:ext cx="3434619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Preference for seasonal items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4537534" y="5705447"/>
            <a:ext cx="3434619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engagement with discounts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129967" y="4770367"/>
            <a:ext cx="3596460" cy="1258761"/>
          </a:xfrm>
          <a:custGeom>
            <a:avLst/>
            <a:gdLst/>
            <a:ahLst/>
            <a:cxnLst/>
            <a:rect l="l" t="t" r="r" b="b"/>
            <a:pathLst>
              <a:path w="3596460" h="1258761">
                <a:moveTo>
                  <a:pt x="35965" y="0"/>
                </a:moveTo>
                <a:lnTo>
                  <a:pt x="3524535" y="0"/>
                </a:lnTo>
                <a:cubicBezTo>
                  <a:pt x="3564258" y="0"/>
                  <a:pt x="3596460" y="32202"/>
                  <a:pt x="3596460" y="71926"/>
                </a:cubicBezTo>
                <a:lnTo>
                  <a:pt x="3596460" y="1186835"/>
                </a:lnTo>
                <a:cubicBezTo>
                  <a:pt x="3596460" y="1226559"/>
                  <a:pt x="3564258" y="1258761"/>
                  <a:pt x="3524535" y="1258761"/>
                </a:cubicBezTo>
                <a:lnTo>
                  <a:pt x="35965" y="1258761"/>
                </a:lnTo>
                <a:cubicBezTo>
                  <a:pt x="16102" y="1258761"/>
                  <a:pt x="0" y="1242659"/>
                  <a:pt x="0" y="1222796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Shape 45"/>
          <p:cNvSpPr/>
          <p:nvPr/>
        </p:nvSpPr>
        <p:spPr>
          <a:xfrm>
            <a:off x="8129967" y="4770367"/>
            <a:ext cx="35965" cy="1258761"/>
          </a:xfrm>
          <a:custGeom>
            <a:avLst/>
            <a:gdLst/>
            <a:ahLst/>
            <a:cxnLst/>
            <a:rect l="l" t="t" r="r" b="b"/>
            <a:pathLst>
              <a:path w="35965" h="1258761">
                <a:moveTo>
                  <a:pt x="35965" y="0"/>
                </a:moveTo>
                <a:lnTo>
                  <a:pt x="35965" y="0"/>
                </a:lnTo>
                <a:lnTo>
                  <a:pt x="35965" y="1258761"/>
                </a:lnTo>
                <a:lnTo>
                  <a:pt x="35965" y="1258761"/>
                </a:lnTo>
                <a:cubicBezTo>
                  <a:pt x="16102" y="1258761"/>
                  <a:pt x="0" y="1242659"/>
                  <a:pt x="0" y="1222796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49" name="Shape 46"/>
          <p:cNvSpPr/>
          <p:nvPr/>
        </p:nvSpPr>
        <p:spPr>
          <a:xfrm>
            <a:off x="8309790" y="4896243"/>
            <a:ext cx="161841" cy="215788"/>
          </a:xfrm>
          <a:custGeom>
            <a:avLst/>
            <a:gdLst/>
            <a:ahLst/>
            <a:cxnLst/>
            <a:rect l="l" t="t" r="r" b="b"/>
            <a:pathLst>
              <a:path w="161841" h="215788">
                <a:moveTo>
                  <a:pt x="104522" y="10115"/>
                </a:moveTo>
                <a:cubicBezTo>
                  <a:pt x="104522" y="-2911"/>
                  <a:pt x="93947" y="-13487"/>
                  <a:pt x="80920" y="-13487"/>
                </a:cubicBezTo>
                <a:cubicBezTo>
                  <a:pt x="67894" y="-13487"/>
                  <a:pt x="57319" y="-2911"/>
                  <a:pt x="57319" y="10115"/>
                </a:cubicBezTo>
                <a:cubicBezTo>
                  <a:pt x="57319" y="23141"/>
                  <a:pt x="67894" y="33717"/>
                  <a:pt x="80920" y="33717"/>
                </a:cubicBezTo>
                <a:cubicBezTo>
                  <a:pt x="93947" y="33717"/>
                  <a:pt x="104522" y="23141"/>
                  <a:pt x="104522" y="10115"/>
                </a:cubicBezTo>
                <a:close/>
                <a:moveTo>
                  <a:pt x="114637" y="99760"/>
                </a:moveTo>
                <a:lnTo>
                  <a:pt x="134151" y="126059"/>
                </a:lnTo>
                <a:cubicBezTo>
                  <a:pt x="138576" y="132043"/>
                  <a:pt x="147047" y="133308"/>
                  <a:pt x="153032" y="128840"/>
                </a:cubicBezTo>
                <a:cubicBezTo>
                  <a:pt x="159017" y="124373"/>
                  <a:pt x="160281" y="115944"/>
                  <a:pt x="155814" y="109959"/>
                </a:cubicBezTo>
                <a:lnTo>
                  <a:pt x="126101" y="69920"/>
                </a:lnTo>
                <a:cubicBezTo>
                  <a:pt x="115480" y="55633"/>
                  <a:pt x="98748" y="47204"/>
                  <a:pt x="80920" y="47204"/>
                </a:cubicBezTo>
                <a:cubicBezTo>
                  <a:pt x="63093" y="47204"/>
                  <a:pt x="46361" y="55633"/>
                  <a:pt x="35740" y="69920"/>
                </a:cubicBezTo>
                <a:lnTo>
                  <a:pt x="6027" y="109959"/>
                </a:lnTo>
                <a:cubicBezTo>
                  <a:pt x="1602" y="115944"/>
                  <a:pt x="2824" y="124373"/>
                  <a:pt x="8809" y="128840"/>
                </a:cubicBezTo>
                <a:cubicBezTo>
                  <a:pt x="14793" y="133308"/>
                  <a:pt x="23222" y="132043"/>
                  <a:pt x="27690" y="126059"/>
                </a:cubicBezTo>
                <a:lnTo>
                  <a:pt x="47204" y="99760"/>
                </a:lnTo>
                <a:lnTo>
                  <a:pt x="47204" y="215788"/>
                </a:lnTo>
                <a:cubicBezTo>
                  <a:pt x="47204" y="223247"/>
                  <a:pt x="53230" y="229274"/>
                  <a:pt x="60690" y="229274"/>
                </a:cubicBezTo>
                <a:cubicBezTo>
                  <a:pt x="68150" y="229274"/>
                  <a:pt x="74177" y="223247"/>
                  <a:pt x="74177" y="215788"/>
                </a:cubicBezTo>
                <a:lnTo>
                  <a:pt x="74177" y="148354"/>
                </a:lnTo>
                <a:cubicBezTo>
                  <a:pt x="74177" y="144645"/>
                  <a:pt x="77212" y="141611"/>
                  <a:pt x="80920" y="141611"/>
                </a:cubicBezTo>
                <a:cubicBezTo>
                  <a:pt x="84629" y="141611"/>
                  <a:pt x="87664" y="144645"/>
                  <a:pt x="87664" y="148354"/>
                </a:cubicBezTo>
                <a:lnTo>
                  <a:pt x="87664" y="215788"/>
                </a:lnTo>
                <a:cubicBezTo>
                  <a:pt x="87664" y="223247"/>
                  <a:pt x="93691" y="229274"/>
                  <a:pt x="101150" y="229274"/>
                </a:cubicBezTo>
                <a:cubicBezTo>
                  <a:pt x="108610" y="229274"/>
                  <a:pt x="114637" y="223247"/>
                  <a:pt x="114637" y="215788"/>
                </a:cubicBezTo>
                <a:lnTo>
                  <a:pt x="114637" y="99760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50" name="Text 47"/>
          <p:cNvSpPr/>
          <p:nvPr/>
        </p:nvSpPr>
        <p:spPr>
          <a:xfrm>
            <a:off x="8597507" y="4878261"/>
            <a:ext cx="1384637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Male Customers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255843" y="5201942"/>
            <a:ext cx="3434619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specific categories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255843" y="5453695"/>
            <a:ext cx="3434619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loyalty conversion rates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8255843" y="5705447"/>
            <a:ext cx="3434619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product preference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362643" y="6253908"/>
            <a:ext cx="11469711" cy="653357"/>
          </a:xfrm>
          <a:custGeom>
            <a:avLst/>
            <a:gdLst/>
            <a:ahLst/>
            <a:cxnLst/>
            <a:rect l="l" t="t" r="r" b="b"/>
            <a:pathLst>
              <a:path w="11469711" h="653357">
                <a:moveTo>
                  <a:pt x="71928" y="0"/>
                </a:moveTo>
                <a:lnTo>
                  <a:pt x="11397783" y="0"/>
                </a:lnTo>
                <a:cubicBezTo>
                  <a:pt x="11437508" y="0"/>
                  <a:pt x="11469711" y="32203"/>
                  <a:pt x="11469711" y="71928"/>
                </a:cubicBezTo>
                <a:lnTo>
                  <a:pt x="11469711" y="581429"/>
                </a:lnTo>
                <a:cubicBezTo>
                  <a:pt x="11469711" y="621154"/>
                  <a:pt x="11437508" y="653357"/>
                  <a:pt x="11397783" y="653357"/>
                </a:cubicBezTo>
                <a:lnTo>
                  <a:pt x="71928" y="653357"/>
                </a:lnTo>
                <a:cubicBezTo>
                  <a:pt x="32230" y="653357"/>
                  <a:pt x="0" y="621127"/>
                  <a:pt x="0" y="581429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5E6D55">
                  <a:alpha val="20000"/>
                </a:srgbClr>
              </a:gs>
            </a:gsLst>
            <a:lin ang="0" scaled="1"/>
          </a:gradFill>
          <a:ln w="8467">
            <a:solidFill>
              <a:srgbClr val="A99A8D">
                <a:alpha val="40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09499" y="6394769"/>
            <a:ext cx="107894" cy="143858"/>
          </a:xfrm>
          <a:custGeom>
            <a:avLst/>
            <a:gdLst/>
            <a:ahLst/>
            <a:cxnLst/>
            <a:rect l="l" t="t" r="r" b="b"/>
            <a:pathLst>
              <a:path w="107894" h="143858">
                <a:moveTo>
                  <a:pt x="82297" y="107894"/>
                </a:moveTo>
                <a:cubicBezTo>
                  <a:pt x="84348" y="101628"/>
                  <a:pt x="88450" y="95952"/>
                  <a:pt x="93087" y="91063"/>
                </a:cubicBezTo>
                <a:cubicBezTo>
                  <a:pt x="102274" y="81398"/>
                  <a:pt x="107894" y="68333"/>
                  <a:pt x="107894" y="53947"/>
                </a:cubicBezTo>
                <a:cubicBezTo>
                  <a:pt x="107894" y="24164"/>
                  <a:pt x="83730" y="0"/>
                  <a:pt x="53947" y="0"/>
                </a:cubicBezTo>
                <a:cubicBezTo>
                  <a:pt x="24164" y="0"/>
                  <a:pt x="0" y="24164"/>
                  <a:pt x="0" y="53947"/>
                </a:cubicBezTo>
                <a:cubicBezTo>
                  <a:pt x="0" y="68333"/>
                  <a:pt x="5619" y="81398"/>
                  <a:pt x="14807" y="91063"/>
                </a:cubicBezTo>
                <a:cubicBezTo>
                  <a:pt x="19443" y="95952"/>
                  <a:pt x="23574" y="101628"/>
                  <a:pt x="25597" y="107894"/>
                </a:cubicBezTo>
                <a:lnTo>
                  <a:pt x="82269" y="107894"/>
                </a:lnTo>
                <a:close/>
                <a:moveTo>
                  <a:pt x="80920" y="121381"/>
                </a:moveTo>
                <a:lnTo>
                  <a:pt x="26973" y="121381"/>
                </a:lnTo>
                <a:lnTo>
                  <a:pt x="26973" y="125876"/>
                </a:lnTo>
                <a:cubicBezTo>
                  <a:pt x="26973" y="138295"/>
                  <a:pt x="37032" y="148354"/>
                  <a:pt x="49451" y="148354"/>
                </a:cubicBezTo>
                <a:lnTo>
                  <a:pt x="58442" y="148354"/>
                </a:lnTo>
                <a:cubicBezTo>
                  <a:pt x="70862" y="148354"/>
                  <a:pt x="80920" y="138295"/>
                  <a:pt x="80920" y="125876"/>
                </a:cubicBezTo>
                <a:lnTo>
                  <a:pt x="80920" y="121381"/>
                </a:lnTo>
                <a:close/>
                <a:moveTo>
                  <a:pt x="51699" y="31469"/>
                </a:moveTo>
                <a:cubicBezTo>
                  <a:pt x="40516" y="31469"/>
                  <a:pt x="31469" y="40516"/>
                  <a:pt x="31469" y="51699"/>
                </a:cubicBezTo>
                <a:cubicBezTo>
                  <a:pt x="31469" y="55436"/>
                  <a:pt x="28463" y="58442"/>
                  <a:pt x="24726" y="58442"/>
                </a:cubicBezTo>
                <a:cubicBezTo>
                  <a:pt x="20989" y="58442"/>
                  <a:pt x="17982" y="55436"/>
                  <a:pt x="17982" y="51699"/>
                </a:cubicBezTo>
                <a:cubicBezTo>
                  <a:pt x="17982" y="33071"/>
                  <a:pt x="33071" y="17982"/>
                  <a:pt x="51699" y="17982"/>
                </a:cubicBezTo>
                <a:cubicBezTo>
                  <a:pt x="55436" y="17982"/>
                  <a:pt x="58442" y="20989"/>
                  <a:pt x="58442" y="24726"/>
                </a:cubicBezTo>
                <a:cubicBezTo>
                  <a:pt x="58442" y="28463"/>
                  <a:pt x="55436" y="31469"/>
                  <a:pt x="51699" y="31469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56" name="Text 53"/>
          <p:cNvSpPr/>
          <p:nvPr/>
        </p:nvSpPr>
        <p:spPr>
          <a:xfrm>
            <a:off x="704280" y="6364799"/>
            <a:ext cx="11089112" cy="43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30000"/>
              </a:lnSpc>
            </a:pPr>
            <a:r>
              <a:rPr lang="en-US" sz="1133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Repeat buyers (&gt;5 purchases) show significantly higher subscription rates, indicating that engagement strategies should focus on moving customers from New → Returning → Loyal segments.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Performance by Customer Segments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525" y="1228725"/>
            <a:ext cx="3714750" cy="4543425"/>
          </a:xfrm>
          <a:custGeom>
            <a:avLst/>
            <a:gdLst/>
            <a:ahLst/>
            <a:cxnLst/>
            <a:rect l="l" t="t" r="r" b="b"/>
            <a:pathLst>
              <a:path w="3714750" h="4543425">
                <a:moveTo>
                  <a:pt x="76190" y="0"/>
                </a:moveTo>
                <a:lnTo>
                  <a:pt x="3638560" y="0"/>
                </a:lnTo>
                <a:cubicBezTo>
                  <a:pt x="3680639" y="0"/>
                  <a:pt x="3714750" y="34111"/>
                  <a:pt x="3714750" y="76190"/>
                </a:cubicBezTo>
                <a:lnTo>
                  <a:pt x="3714750" y="4467235"/>
                </a:lnTo>
                <a:cubicBezTo>
                  <a:pt x="3714750" y="4509314"/>
                  <a:pt x="3680639" y="4543425"/>
                  <a:pt x="3638560" y="4543425"/>
                </a:cubicBezTo>
                <a:lnTo>
                  <a:pt x="76190" y="4543425"/>
                </a:lnTo>
                <a:cubicBezTo>
                  <a:pt x="34111" y="4543425"/>
                  <a:pt x="0" y="4509314"/>
                  <a:pt x="0" y="4467235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2C3138"/>
              </a:gs>
            </a:gsLst>
            <a:lin ang="2700000" scaled="1"/>
          </a:gradFill>
          <a:ln w="25400">
            <a:solidFill>
              <a:srgbClr val="A99A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5" y="1390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42863"/>
                </a:moveTo>
                <a:lnTo>
                  <a:pt x="57150" y="35719"/>
                </a:lnTo>
                <a:cubicBezTo>
                  <a:pt x="57150" y="15984"/>
                  <a:pt x="95548" y="0"/>
                  <a:pt x="142875" y="0"/>
                </a:cubicBezTo>
                <a:cubicBezTo>
                  <a:pt x="190202" y="0"/>
                  <a:pt x="228600" y="15984"/>
                  <a:pt x="228600" y="35719"/>
                </a:cubicBezTo>
                <a:lnTo>
                  <a:pt x="228600" y="42863"/>
                </a:lnTo>
                <a:cubicBezTo>
                  <a:pt x="228600" y="56525"/>
                  <a:pt x="210160" y="68401"/>
                  <a:pt x="183059" y="74429"/>
                </a:cubicBezTo>
                <a:cubicBezTo>
                  <a:pt x="181987" y="73179"/>
                  <a:pt x="180871" y="71973"/>
                  <a:pt x="179755" y="70857"/>
                </a:cubicBezTo>
                <a:cubicBezTo>
                  <a:pt x="172834" y="64026"/>
                  <a:pt x="163904" y="58847"/>
                  <a:pt x="154573" y="55007"/>
                </a:cubicBezTo>
                <a:cubicBezTo>
                  <a:pt x="135865" y="47193"/>
                  <a:pt x="111487" y="42907"/>
                  <a:pt x="85725" y="42907"/>
                </a:cubicBezTo>
                <a:cubicBezTo>
                  <a:pt x="75947" y="42907"/>
                  <a:pt x="66392" y="43532"/>
                  <a:pt x="57239" y="44738"/>
                </a:cubicBezTo>
                <a:cubicBezTo>
                  <a:pt x="57150" y="44157"/>
                  <a:pt x="57150" y="43532"/>
                  <a:pt x="57150" y="42907"/>
                </a:cubicBezTo>
                <a:close/>
                <a:moveTo>
                  <a:pt x="192881" y="157609"/>
                </a:moveTo>
                <a:lnTo>
                  <a:pt x="192881" y="136981"/>
                </a:lnTo>
                <a:cubicBezTo>
                  <a:pt x="199623" y="135240"/>
                  <a:pt x="205963" y="133186"/>
                  <a:pt x="211723" y="130775"/>
                </a:cubicBezTo>
                <a:cubicBezTo>
                  <a:pt x="217616" y="128320"/>
                  <a:pt x="223376" y="125328"/>
                  <a:pt x="228600" y="121712"/>
                </a:cubicBezTo>
                <a:lnTo>
                  <a:pt x="228600" y="128588"/>
                </a:lnTo>
                <a:cubicBezTo>
                  <a:pt x="228600" y="140553"/>
                  <a:pt x="214536" y="151135"/>
                  <a:pt x="192881" y="157609"/>
                </a:cubicBezTo>
                <a:close/>
                <a:moveTo>
                  <a:pt x="192881" y="114746"/>
                </a:moveTo>
                <a:lnTo>
                  <a:pt x="192881" y="100013"/>
                </a:lnTo>
                <a:cubicBezTo>
                  <a:pt x="192881" y="98003"/>
                  <a:pt x="192703" y="96083"/>
                  <a:pt x="192435" y="94208"/>
                </a:cubicBezTo>
                <a:cubicBezTo>
                  <a:pt x="199355" y="92467"/>
                  <a:pt x="205829" y="90368"/>
                  <a:pt x="211723" y="87868"/>
                </a:cubicBezTo>
                <a:cubicBezTo>
                  <a:pt x="217616" y="85368"/>
                  <a:pt x="223376" y="82421"/>
                  <a:pt x="228600" y="78804"/>
                </a:cubicBezTo>
                <a:lnTo>
                  <a:pt x="228600" y="85680"/>
                </a:lnTo>
                <a:cubicBezTo>
                  <a:pt x="228600" y="97646"/>
                  <a:pt x="214536" y="108228"/>
                  <a:pt x="192881" y="114702"/>
                </a:cubicBezTo>
                <a:close/>
                <a:moveTo>
                  <a:pt x="0" y="107156"/>
                </a:moveTo>
                <a:lnTo>
                  <a:pt x="0" y="100013"/>
                </a:lnTo>
                <a:cubicBezTo>
                  <a:pt x="0" y="80278"/>
                  <a:pt x="38398" y="64294"/>
                  <a:pt x="85725" y="64294"/>
                </a:cubicBezTo>
                <a:cubicBezTo>
                  <a:pt x="133052" y="64294"/>
                  <a:pt x="171450" y="80278"/>
                  <a:pt x="171450" y="100013"/>
                </a:cubicBezTo>
                <a:lnTo>
                  <a:pt x="171450" y="107156"/>
                </a:lnTo>
                <a:cubicBezTo>
                  <a:pt x="171450" y="126891"/>
                  <a:pt x="133052" y="142875"/>
                  <a:pt x="85725" y="142875"/>
                </a:cubicBezTo>
                <a:cubicBezTo>
                  <a:pt x="38398" y="142875"/>
                  <a:pt x="0" y="126891"/>
                  <a:pt x="0" y="107156"/>
                </a:cubicBezTo>
                <a:close/>
                <a:moveTo>
                  <a:pt x="171450" y="150019"/>
                </a:moveTo>
                <a:cubicBezTo>
                  <a:pt x="171450" y="169753"/>
                  <a:pt x="133052" y="185738"/>
                  <a:pt x="85725" y="185738"/>
                </a:cubicBezTo>
                <a:cubicBezTo>
                  <a:pt x="38398" y="185738"/>
                  <a:pt x="0" y="169753"/>
                  <a:pt x="0" y="150019"/>
                </a:cubicBezTo>
                <a:lnTo>
                  <a:pt x="0" y="143143"/>
                </a:lnTo>
                <a:cubicBezTo>
                  <a:pt x="5179" y="146759"/>
                  <a:pt x="10939" y="149706"/>
                  <a:pt x="16877" y="152207"/>
                </a:cubicBezTo>
                <a:cubicBezTo>
                  <a:pt x="35585" y="160020"/>
                  <a:pt x="59963" y="164306"/>
                  <a:pt x="85725" y="164306"/>
                </a:cubicBezTo>
                <a:cubicBezTo>
                  <a:pt x="111487" y="164306"/>
                  <a:pt x="135865" y="159975"/>
                  <a:pt x="154573" y="152207"/>
                </a:cubicBezTo>
                <a:cubicBezTo>
                  <a:pt x="160466" y="149751"/>
                  <a:pt x="166226" y="146759"/>
                  <a:pt x="171450" y="143143"/>
                </a:cubicBezTo>
                <a:lnTo>
                  <a:pt x="171450" y="150019"/>
                </a:lnTo>
                <a:close/>
                <a:moveTo>
                  <a:pt x="171450" y="186005"/>
                </a:moveTo>
                <a:lnTo>
                  <a:pt x="171450" y="192881"/>
                </a:lnTo>
                <a:cubicBezTo>
                  <a:pt x="171450" y="212616"/>
                  <a:pt x="133052" y="228600"/>
                  <a:pt x="85725" y="228600"/>
                </a:cubicBezTo>
                <a:cubicBezTo>
                  <a:pt x="38398" y="228600"/>
                  <a:pt x="0" y="212616"/>
                  <a:pt x="0" y="192881"/>
                </a:cubicBezTo>
                <a:lnTo>
                  <a:pt x="0" y="186005"/>
                </a:lnTo>
                <a:cubicBezTo>
                  <a:pt x="5179" y="189622"/>
                  <a:pt x="10939" y="192569"/>
                  <a:pt x="16877" y="195069"/>
                </a:cubicBezTo>
                <a:cubicBezTo>
                  <a:pt x="35585" y="202883"/>
                  <a:pt x="59963" y="207169"/>
                  <a:pt x="85725" y="207169"/>
                </a:cubicBezTo>
                <a:cubicBezTo>
                  <a:pt x="111487" y="207169"/>
                  <a:pt x="135865" y="202838"/>
                  <a:pt x="154573" y="195069"/>
                </a:cubicBezTo>
                <a:cubicBezTo>
                  <a:pt x="160466" y="192613"/>
                  <a:pt x="166226" y="189622"/>
                  <a:pt x="171450" y="186005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1352550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by Gender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4350" y="2241552"/>
            <a:ext cx="3467100" cy="1066800"/>
          </a:xfrm>
          <a:custGeom>
            <a:avLst/>
            <a:gdLst/>
            <a:ahLst/>
            <a:cxnLst/>
            <a:rect l="l" t="t" r="r" b="b"/>
            <a:pathLst>
              <a:path w="3467100" h="1066800">
                <a:moveTo>
                  <a:pt x="76202" y="0"/>
                </a:moveTo>
                <a:lnTo>
                  <a:pt x="3390898" y="0"/>
                </a:lnTo>
                <a:cubicBezTo>
                  <a:pt x="3432983" y="0"/>
                  <a:pt x="3467100" y="34117"/>
                  <a:pt x="3467100" y="76202"/>
                </a:cubicBezTo>
                <a:lnTo>
                  <a:pt x="3467100" y="990598"/>
                </a:lnTo>
                <a:cubicBezTo>
                  <a:pt x="3467100" y="1032683"/>
                  <a:pt x="3432983" y="1066800"/>
                  <a:pt x="33908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41300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60722" y="10716"/>
                </a:moveTo>
                <a:cubicBezTo>
                  <a:pt x="60722" y="-3084"/>
                  <a:pt x="71925" y="-14287"/>
                  <a:pt x="85725" y="-14287"/>
                </a:cubicBezTo>
                <a:cubicBezTo>
                  <a:pt x="99525" y="-14287"/>
                  <a:pt x="110728" y="-3084"/>
                  <a:pt x="110728" y="10716"/>
                </a:cubicBezTo>
                <a:cubicBezTo>
                  <a:pt x="110728" y="24515"/>
                  <a:pt x="99525" y="35719"/>
                  <a:pt x="85725" y="35719"/>
                </a:cubicBezTo>
                <a:cubicBezTo>
                  <a:pt x="71925" y="35719"/>
                  <a:pt x="60722" y="24515"/>
                  <a:pt x="60722" y="10716"/>
                </a:cubicBezTo>
                <a:close/>
                <a:moveTo>
                  <a:pt x="50006" y="171450"/>
                </a:moveTo>
                <a:lnTo>
                  <a:pt x="38487" y="171450"/>
                </a:lnTo>
                <a:cubicBezTo>
                  <a:pt x="33620" y="171450"/>
                  <a:pt x="30182" y="166673"/>
                  <a:pt x="31700" y="162029"/>
                </a:cubicBezTo>
                <a:lnTo>
                  <a:pt x="50899" y="104433"/>
                </a:lnTo>
                <a:lnTo>
                  <a:pt x="29334" y="133499"/>
                </a:lnTo>
                <a:cubicBezTo>
                  <a:pt x="24646" y="139839"/>
                  <a:pt x="15672" y="141178"/>
                  <a:pt x="9332" y="136446"/>
                </a:cubicBezTo>
                <a:cubicBezTo>
                  <a:pt x="2991" y="131713"/>
                  <a:pt x="1652" y="122783"/>
                  <a:pt x="6385" y="116443"/>
                </a:cubicBezTo>
                <a:lnTo>
                  <a:pt x="37862" y="74027"/>
                </a:lnTo>
                <a:cubicBezTo>
                  <a:pt x="49113" y="58936"/>
                  <a:pt x="66839" y="50006"/>
                  <a:pt x="85725" y="50006"/>
                </a:cubicBezTo>
                <a:cubicBezTo>
                  <a:pt x="104611" y="50006"/>
                  <a:pt x="122337" y="58936"/>
                  <a:pt x="133588" y="74072"/>
                </a:cubicBezTo>
                <a:lnTo>
                  <a:pt x="165065" y="116488"/>
                </a:lnTo>
                <a:cubicBezTo>
                  <a:pt x="169753" y="122828"/>
                  <a:pt x="168459" y="131758"/>
                  <a:pt x="162118" y="136490"/>
                </a:cubicBezTo>
                <a:cubicBezTo>
                  <a:pt x="155778" y="141223"/>
                  <a:pt x="146849" y="139884"/>
                  <a:pt x="142116" y="133543"/>
                </a:cubicBezTo>
                <a:lnTo>
                  <a:pt x="120551" y="104477"/>
                </a:lnTo>
                <a:lnTo>
                  <a:pt x="139750" y="162029"/>
                </a:lnTo>
                <a:cubicBezTo>
                  <a:pt x="141312" y="166673"/>
                  <a:pt x="137830" y="171450"/>
                  <a:pt x="132963" y="171450"/>
                </a:cubicBezTo>
                <a:lnTo>
                  <a:pt x="121444" y="171450"/>
                </a:lnTo>
                <a:lnTo>
                  <a:pt x="121444" y="228600"/>
                </a:lnTo>
                <a:cubicBezTo>
                  <a:pt x="121444" y="236503"/>
                  <a:pt x="115059" y="242888"/>
                  <a:pt x="107156" y="242888"/>
                </a:cubicBezTo>
                <a:cubicBezTo>
                  <a:pt x="99253" y="242888"/>
                  <a:pt x="92869" y="236503"/>
                  <a:pt x="92869" y="228600"/>
                </a:cubicBezTo>
                <a:lnTo>
                  <a:pt x="92869" y="171450"/>
                </a:lnTo>
                <a:lnTo>
                  <a:pt x="78581" y="171450"/>
                </a:lnTo>
                <a:lnTo>
                  <a:pt x="78581" y="228600"/>
                </a:lnTo>
                <a:cubicBezTo>
                  <a:pt x="78581" y="236503"/>
                  <a:pt x="72197" y="242888"/>
                  <a:pt x="64294" y="242888"/>
                </a:cubicBezTo>
                <a:cubicBezTo>
                  <a:pt x="56391" y="242888"/>
                  <a:pt x="50006" y="236503"/>
                  <a:pt x="50006" y="228600"/>
                </a:cubicBezTo>
                <a:lnTo>
                  <a:pt x="50006" y="171450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2393952"/>
            <a:ext cx="71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Female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20157" y="2355852"/>
            <a:ext cx="68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58%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" y="2774952"/>
            <a:ext cx="3238500" cy="114300"/>
          </a:xfrm>
          <a:custGeom>
            <a:avLst/>
            <a:gdLst/>
            <a:ahLst/>
            <a:cxnLst/>
            <a:rect l="l" t="t" r="r" b="b"/>
            <a:pathLst>
              <a:path w="3238500" h="114300">
                <a:moveTo>
                  <a:pt x="57150" y="0"/>
                </a:moveTo>
                <a:lnTo>
                  <a:pt x="3181350" y="0"/>
                </a:lnTo>
                <a:cubicBezTo>
                  <a:pt x="3212892" y="0"/>
                  <a:pt x="3238500" y="25608"/>
                  <a:pt x="3238500" y="57150"/>
                </a:cubicBezTo>
                <a:lnTo>
                  <a:pt x="3238500" y="57150"/>
                </a:lnTo>
                <a:cubicBezTo>
                  <a:pt x="3238500" y="88692"/>
                  <a:pt x="3212892" y="114300"/>
                  <a:pt x="31813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12" name="Shape 10"/>
          <p:cNvSpPr/>
          <p:nvPr/>
        </p:nvSpPr>
        <p:spPr>
          <a:xfrm>
            <a:off x="628650" y="2774952"/>
            <a:ext cx="1876425" cy="114300"/>
          </a:xfrm>
          <a:custGeom>
            <a:avLst/>
            <a:gdLst/>
            <a:ahLst/>
            <a:cxnLst/>
            <a:rect l="l" t="t" r="r" b="b"/>
            <a:pathLst>
              <a:path w="1876425" h="114300">
                <a:moveTo>
                  <a:pt x="57150" y="0"/>
                </a:moveTo>
                <a:lnTo>
                  <a:pt x="1819275" y="0"/>
                </a:lnTo>
                <a:cubicBezTo>
                  <a:pt x="1850817" y="0"/>
                  <a:pt x="1876425" y="25608"/>
                  <a:pt x="1876425" y="57150"/>
                </a:cubicBezTo>
                <a:lnTo>
                  <a:pt x="1876425" y="57150"/>
                </a:lnTo>
                <a:cubicBezTo>
                  <a:pt x="1876425" y="88692"/>
                  <a:pt x="1850817" y="114300"/>
                  <a:pt x="18192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3" name="Text 11"/>
          <p:cNvSpPr/>
          <p:nvPr/>
        </p:nvSpPr>
        <p:spPr>
          <a:xfrm>
            <a:off x="628650" y="2965452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$1.16M total revenue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3384552"/>
            <a:ext cx="3467100" cy="1066800"/>
          </a:xfrm>
          <a:custGeom>
            <a:avLst/>
            <a:gdLst/>
            <a:ahLst/>
            <a:cxnLst/>
            <a:rect l="l" t="t" r="r" b="b"/>
            <a:pathLst>
              <a:path w="3467100" h="1066800">
                <a:moveTo>
                  <a:pt x="76202" y="0"/>
                </a:moveTo>
                <a:lnTo>
                  <a:pt x="3390898" y="0"/>
                </a:lnTo>
                <a:cubicBezTo>
                  <a:pt x="3432983" y="0"/>
                  <a:pt x="3467100" y="34117"/>
                  <a:pt x="3467100" y="76202"/>
                </a:cubicBezTo>
                <a:lnTo>
                  <a:pt x="3467100" y="990598"/>
                </a:lnTo>
                <a:cubicBezTo>
                  <a:pt x="3467100" y="1032683"/>
                  <a:pt x="3432983" y="1066800"/>
                  <a:pt x="33908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55600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10728" y="10716"/>
                </a:moveTo>
                <a:cubicBezTo>
                  <a:pt x="110728" y="-3084"/>
                  <a:pt x="99525" y="-14287"/>
                  <a:pt x="85725" y="-14287"/>
                </a:cubicBezTo>
                <a:cubicBezTo>
                  <a:pt x="71925" y="-14287"/>
                  <a:pt x="60722" y="-3084"/>
                  <a:pt x="60722" y="10716"/>
                </a:cubicBezTo>
                <a:cubicBezTo>
                  <a:pt x="60722" y="24515"/>
                  <a:pt x="71925" y="35719"/>
                  <a:pt x="85725" y="35719"/>
                </a:cubicBezTo>
                <a:cubicBezTo>
                  <a:pt x="99525" y="35719"/>
                  <a:pt x="110728" y="24515"/>
                  <a:pt x="110728" y="10716"/>
                </a:cubicBezTo>
                <a:close/>
                <a:moveTo>
                  <a:pt x="121444" y="105683"/>
                </a:moveTo>
                <a:lnTo>
                  <a:pt x="142116" y="133543"/>
                </a:lnTo>
                <a:cubicBezTo>
                  <a:pt x="146804" y="139884"/>
                  <a:pt x="155778" y="141223"/>
                  <a:pt x="162118" y="136490"/>
                </a:cubicBezTo>
                <a:cubicBezTo>
                  <a:pt x="168459" y="131758"/>
                  <a:pt x="169798" y="122828"/>
                  <a:pt x="165065" y="116488"/>
                </a:cubicBezTo>
                <a:lnTo>
                  <a:pt x="133588" y="74072"/>
                </a:lnTo>
                <a:cubicBezTo>
                  <a:pt x="122337" y="58936"/>
                  <a:pt x="104611" y="50006"/>
                  <a:pt x="85725" y="50006"/>
                </a:cubicBezTo>
                <a:cubicBezTo>
                  <a:pt x="66839" y="50006"/>
                  <a:pt x="49113" y="58936"/>
                  <a:pt x="37862" y="74072"/>
                </a:cubicBezTo>
                <a:lnTo>
                  <a:pt x="6385" y="116488"/>
                </a:lnTo>
                <a:cubicBezTo>
                  <a:pt x="1697" y="122828"/>
                  <a:pt x="2991" y="131758"/>
                  <a:pt x="9332" y="136490"/>
                </a:cubicBezTo>
                <a:cubicBezTo>
                  <a:pt x="15672" y="141223"/>
                  <a:pt x="24601" y="139884"/>
                  <a:pt x="29334" y="133543"/>
                </a:cubicBezTo>
                <a:lnTo>
                  <a:pt x="50006" y="105683"/>
                </a:lnTo>
                <a:lnTo>
                  <a:pt x="50006" y="228600"/>
                </a:lnTo>
                <a:cubicBezTo>
                  <a:pt x="50006" y="236503"/>
                  <a:pt x="56391" y="242888"/>
                  <a:pt x="64294" y="242888"/>
                </a:cubicBezTo>
                <a:cubicBezTo>
                  <a:pt x="72197" y="242888"/>
                  <a:pt x="78581" y="236503"/>
                  <a:pt x="78581" y="228600"/>
                </a:cubicBezTo>
                <a:lnTo>
                  <a:pt x="78581" y="157163"/>
                </a:lnTo>
                <a:cubicBezTo>
                  <a:pt x="78581" y="153233"/>
                  <a:pt x="81796" y="150019"/>
                  <a:pt x="85725" y="150019"/>
                </a:cubicBezTo>
                <a:cubicBezTo>
                  <a:pt x="89654" y="150019"/>
                  <a:pt x="92869" y="153233"/>
                  <a:pt x="92869" y="157163"/>
                </a:cubicBezTo>
                <a:lnTo>
                  <a:pt x="92869" y="228600"/>
                </a:lnTo>
                <a:cubicBezTo>
                  <a:pt x="92869" y="236503"/>
                  <a:pt x="99253" y="242888"/>
                  <a:pt x="107156" y="242888"/>
                </a:cubicBezTo>
                <a:cubicBezTo>
                  <a:pt x="115059" y="242888"/>
                  <a:pt x="121444" y="236503"/>
                  <a:pt x="121444" y="228600"/>
                </a:cubicBezTo>
                <a:lnTo>
                  <a:pt x="121444" y="105683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3536952"/>
            <a:ext cx="50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42779" y="3498852"/>
            <a:ext cx="666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8650" y="3917952"/>
            <a:ext cx="3238500" cy="114300"/>
          </a:xfrm>
          <a:custGeom>
            <a:avLst/>
            <a:gdLst/>
            <a:ahLst/>
            <a:cxnLst/>
            <a:rect l="l" t="t" r="r" b="b"/>
            <a:pathLst>
              <a:path w="3238500" h="114300">
                <a:moveTo>
                  <a:pt x="57150" y="0"/>
                </a:moveTo>
                <a:lnTo>
                  <a:pt x="3181350" y="0"/>
                </a:lnTo>
                <a:cubicBezTo>
                  <a:pt x="3212892" y="0"/>
                  <a:pt x="3238500" y="25608"/>
                  <a:pt x="3238500" y="57150"/>
                </a:cubicBezTo>
                <a:lnTo>
                  <a:pt x="3238500" y="57150"/>
                </a:lnTo>
                <a:cubicBezTo>
                  <a:pt x="3238500" y="88692"/>
                  <a:pt x="3212892" y="114300"/>
                  <a:pt x="31813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19" name="Shape 17"/>
          <p:cNvSpPr/>
          <p:nvPr/>
        </p:nvSpPr>
        <p:spPr>
          <a:xfrm>
            <a:off x="628650" y="3917952"/>
            <a:ext cx="1362075" cy="114300"/>
          </a:xfrm>
          <a:custGeom>
            <a:avLst/>
            <a:gdLst/>
            <a:ahLst/>
            <a:cxnLst/>
            <a:rect l="l" t="t" r="r" b="b"/>
            <a:pathLst>
              <a:path w="1362075" h="114300">
                <a:moveTo>
                  <a:pt x="57150" y="0"/>
                </a:moveTo>
                <a:lnTo>
                  <a:pt x="1304925" y="0"/>
                </a:lnTo>
                <a:cubicBezTo>
                  <a:pt x="1336467" y="0"/>
                  <a:pt x="1362075" y="25608"/>
                  <a:pt x="1362075" y="57150"/>
                </a:cubicBezTo>
                <a:lnTo>
                  <a:pt x="1362075" y="57150"/>
                </a:lnTo>
                <a:cubicBezTo>
                  <a:pt x="1362075" y="88692"/>
                  <a:pt x="1336467" y="114300"/>
                  <a:pt x="13049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20" name="Text 18"/>
          <p:cNvSpPr/>
          <p:nvPr/>
        </p:nvSpPr>
        <p:spPr>
          <a:xfrm>
            <a:off x="628650" y="4108452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$0.84M total revenue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350" y="5035553"/>
            <a:ext cx="3467100" cy="609600"/>
          </a:xfrm>
          <a:custGeom>
            <a:avLst/>
            <a:gdLst/>
            <a:ahLst/>
            <a:cxnLst/>
            <a:rect l="l" t="t" r="r" b="b"/>
            <a:pathLst>
              <a:path w="3467100" h="609600">
                <a:moveTo>
                  <a:pt x="76200" y="0"/>
                </a:moveTo>
                <a:lnTo>
                  <a:pt x="3390900" y="0"/>
                </a:lnTo>
                <a:cubicBezTo>
                  <a:pt x="3432956" y="0"/>
                  <a:pt x="3467100" y="34144"/>
                  <a:pt x="3467100" y="76200"/>
                </a:cubicBezTo>
                <a:lnTo>
                  <a:pt x="3467100" y="533400"/>
                </a:lnTo>
                <a:cubicBezTo>
                  <a:pt x="3467100" y="575456"/>
                  <a:pt x="3432956" y="609600"/>
                  <a:pt x="33909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590550" y="5111753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Female customers generate 38% more revenue despite similar transaction volumes.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32275" y="1222375"/>
            <a:ext cx="3730625" cy="4549775"/>
          </a:xfrm>
          <a:custGeom>
            <a:avLst/>
            <a:gdLst/>
            <a:ahLst/>
            <a:cxnLst/>
            <a:rect l="l" t="t" r="r" b="b"/>
            <a:pathLst>
              <a:path w="3730625" h="4549775">
                <a:moveTo>
                  <a:pt x="76217" y="0"/>
                </a:moveTo>
                <a:lnTo>
                  <a:pt x="3654408" y="0"/>
                </a:lnTo>
                <a:cubicBezTo>
                  <a:pt x="3696502" y="0"/>
                  <a:pt x="3730625" y="34123"/>
                  <a:pt x="3730625" y="76217"/>
                </a:cubicBezTo>
                <a:lnTo>
                  <a:pt x="3730625" y="4473558"/>
                </a:lnTo>
                <a:cubicBezTo>
                  <a:pt x="3730625" y="4515652"/>
                  <a:pt x="3696502" y="4549775"/>
                  <a:pt x="3654408" y="4549775"/>
                </a:cubicBezTo>
                <a:lnTo>
                  <a:pt x="76217" y="4549775"/>
                </a:lnTo>
                <a:cubicBezTo>
                  <a:pt x="34123" y="4549775"/>
                  <a:pt x="0" y="4515652"/>
                  <a:pt x="0" y="4473558"/>
                </a:cubicBezTo>
                <a:lnTo>
                  <a:pt x="0" y="76217"/>
                </a:lnTo>
                <a:cubicBezTo>
                  <a:pt x="0" y="34152"/>
                  <a:pt x="34152" y="0"/>
                  <a:pt x="76217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64038" y="137795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5" name="Text 23"/>
          <p:cNvSpPr/>
          <p:nvPr/>
        </p:nvSpPr>
        <p:spPr>
          <a:xfrm>
            <a:off x="4635500" y="1339853"/>
            <a:ext cx="3324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Subscription Impact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68800" y="1898652"/>
            <a:ext cx="3476625" cy="1409700"/>
          </a:xfrm>
          <a:custGeom>
            <a:avLst/>
            <a:gdLst/>
            <a:ahLst/>
            <a:cxnLst/>
            <a:rect l="l" t="t" r="r" b="b"/>
            <a:pathLst>
              <a:path w="3476625" h="1409700">
                <a:moveTo>
                  <a:pt x="38100" y="0"/>
                </a:moveTo>
                <a:lnTo>
                  <a:pt x="3400431" y="0"/>
                </a:lnTo>
                <a:cubicBezTo>
                  <a:pt x="3442483" y="0"/>
                  <a:pt x="3476625" y="34142"/>
                  <a:pt x="3476625" y="76194"/>
                </a:cubicBezTo>
                <a:lnTo>
                  <a:pt x="3476625" y="1333506"/>
                </a:lnTo>
                <a:cubicBezTo>
                  <a:pt x="3476625" y="1375587"/>
                  <a:pt x="3442512" y="1409700"/>
                  <a:pt x="3400431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Shape 25"/>
          <p:cNvSpPr/>
          <p:nvPr/>
        </p:nvSpPr>
        <p:spPr>
          <a:xfrm>
            <a:off x="4368800" y="1898652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8" name="Text 26"/>
          <p:cNvSpPr/>
          <p:nvPr/>
        </p:nvSpPr>
        <p:spPr>
          <a:xfrm>
            <a:off x="4502150" y="2012952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Subscribers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01732" y="205105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30" name="Text 28"/>
          <p:cNvSpPr/>
          <p:nvPr/>
        </p:nvSpPr>
        <p:spPr>
          <a:xfrm>
            <a:off x="4445000" y="2355852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$285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64050" y="2660652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Order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96000" y="2355852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+73%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15050" y="2660652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02150" y="2965452"/>
            <a:ext cx="330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lifetime value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68800" y="3384552"/>
            <a:ext cx="3476625" cy="1409700"/>
          </a:xfrm>
          <a:custGeom>
            <a:avLst/>
            <a:gdLst/>
            <a:ahLst/>
            <a:cxnLst/>
            <a:rect l="l" t="t" r="r" b="b"/>
            <a:pathLst>
              <a:path w="3476625" h="1409700">
                <a:moveTo>
                  <a:pt x="38100" y="0"/>
                </a:moveTo>
                <a:lnTo>
                  <a:pt x="3400431" y="0"/>
                </a:lnTo>
                <a:cubicBezTo>
                  <a:pt x="3442483" y="0"/>
                  <a:pt x="3476625" y="34142"/>
                  <a:pt x="3476625" y="76194"/>
                </a:cubicBezTo>
                <a:lnTo>
                  <a:pt x="3476625" y="1333506"/>
                </a:lnTo>
                <a:cubicBezTo>
                  <a:pt x="3476625" y="1375587"/>
                  <a:pt x="3442512" y="1409700"/>
                  <a:pt x="3400431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Shape 34"/>
          <p:cNvSpPr/>
          <p:nvPr/>
        </p:nvSpPr>
        <p:spPr>
          <a:xfrm>
            <a:off x="4368800" y="3384552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7" name="Text 35"/>
          <p:cNvSpPr/>
          <p:nvPr/>
        </p:nvSpPr>
        <p:spPr>
          <a:xfrm>
            <a:off x="4502150" y="3498852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Non-Subscribers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25544" y="35369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9" name="Text 37"/>
          <p:cNvSpPr/>
          <p:nvPr/>
        </p:nvSpPr>
        <p:spPr>
          <a:xfrm>
            <a:off x="4445000" y="3841752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$165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64050" y="4146552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Order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096000" y="3841752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15050" y="4146552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02150" y="4451352"/>
            <a:ext cx="330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Conversion opportunity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349750" y="5048250"/>
            <a:ext cx="3495675" cy="609600"/>
          </a:xfrm>
          <a:custGeom>
            <a:avLst/>
            <a:gdLst/>
            <a:ahLst/>
            <a:cxnLst/>
            <a:rect l="l" t="t" r="r" b="b"/>
            <a:pathLst>
              <a:path w="3495675" h="609600">
                <a:moveTo>
                  <a:pt x="76200" y="0"/>
                </a:moveTo>
                <a:lnTo>
                  <a:pt x="3419475" y="0"/>
                </a:lnTo>
                <a:cubicBezTo>
                  <a:pt x="3461531" y="0"/>
                  <a:pt x="3495675" y="34144"/>
                  <a:pt x="3495675" y="76200"/>
                </a:cubicBezTo>
                <a:lnTo>
                  <a:pt x="3495675" y="533400"/>
                </a:lnTo>
                <a:cubicBezTo>
                  <a:pt x="3495675" y="575456"/>
                  <a:pt x="3461531" y="609600"/>
                  <a:pt x="34194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5E6D55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5" name="Text 43"/>
          <p:cNvSpPr/>
          <p:nvPr/>
        </p:nvSpPr>
        <p:spPr>
          <a:xfrm>
            <a:off x="4425950" y="5124450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Subscribers have 73% higher order values and purchase more frequently.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80375" y="1222375"/>
            <a:ext cx="3730625" cy="4549775"/>
          </a:xfrm>
          <a:custGeom>
            <a:avLst/>
            <a:gdLst/>
            <a:ahLst/>
            <a:cxnLst/>
            <a:rect l="l" t="t" r="r" b="b"/>
            <a:pathLst>
              <a:path w="3730625" h="4549775">
                <a:moveTo>
                  <a:pt x="76217" y="0"/>
                </a:moveTo>
                <a:lnTo>
                  <a:pt x="3654408" y="0"/>
                </a:lnTo>
                <a:cubicBezTo>
                  <a:pt x="3696502" y="0"/>
                  <a:pt x="3730625" y="34123"/>
                  <a:pt x="3730625" y="76217"/>
                </a:cubicBezTo>
                <a:lnTo>
                  <a:pt x="3730625" y="4473558"/>
                </a:lnTo>
                <a:cubicBezTo>
                  <a:pt x="3730625" y="4515652"/>
                  <a:pt x="3696502" y="4549775"/>
                  <a:pt x="3654408" y="4549775"/>
                </a:cubicBezTo>
                <a:lnTo>
                  <a:pt x="76217" y="4549775"/>
                </a:lnTo>
                <a:cubicBezTo>
                  <a:pt x="34123" y="4549775"/>
                  <a:pt x="0" y="4515652"/>
                  <a:pt x="0" y="4473558"/>
                </a:cubicBezTo>
                <a:lnTo>
                  <a:pt x="0" y="76217"/>
                </a:lnTo>
                <a:cubicBezTo>
                  <a:pt x="0" y="34152"/>
                  <a:pt x="34152" y="0"/>
                  <a:pt x="76217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40713" y="137795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85725" y="57150"/>
                </a:moveTo>
                <a:cubicBezTo>
                  <a:pt x="85725" y="33494"/>
                  <a:pt x="66519" y="14288"/>
                  <a:pt x="42863" y="14288"/>
                </a:cubicBezTo>
                <a:cubicBezTo>
                  <a:pt x="19206" y="14288"/>
                  <a:pt x="0" y="33494"/>
                  <a:pt x="0" y="57150"/>
                </a:cubicBezTo>
                <a:cubicBezTo>
                  <a:pt x="0" y="80806"/>
                  <a:pt x="19206" y="100013"/>
                  <a:pt x="42862" y="100013"/>
                </a:cubicBezTo>
                <a:cubicBezTo>
                  <a:pt x="66519" y="100013"/>
                  <a:pt x="85725" y="80806"/>
                  <a:pt x="85725" y="57150"/>
                </a:cubicBezTo>
                <a:close/>
                <a:moveTo>
                  <a:pt x="200025" y="171450"/>
                </a:moveTo>
                <a:cubicBezTo>
                  <a:pt x="200025" y="147794"/>
                  <a:pt x="180819" y="128588"/>
                  <a:pt x="157163" y="128588"/>
                </a:cubicBezTo>
                <a:cubicBezTo>
                  <a:pt x="133506" y="128588"/>
                  <a:pt x="114300" y="147794"/>
                  <a:pt x="114300" y="171450"/>
                </a:cubicBezTo>
                <a:cubicBezTo>
                  <a:pt x="114300" y="195106"/>
                  <a:pt x="133506" y="214313"/>
                  <a:pt x="157163" y="214313"/>
                </a:cubicBezTo>
                <a:cubicBezTo>
                  <a:pt x="180819" y="214313"/>
                  <a:pt x="200025" y="195106"/>
                  <a:pt x="200025" y="171450"/>
                </a:cubicBezTo>
                <a:close/>
                <a:moveTo>
                  <a:pt x="195828" y="38666"/>
                </a:moveTo>
                <a:cubicBezTo>
                  <a:pt x="201409" y="33084"/>
                  <a:pt x="201409" y="24021"/>
                  <a:pt x="195828" y="18440"/>
                </a:cubicBezTo>
                <a:cubicBezTo>
                  <a:pt x="190247" y="12859"/>
                  <a:pt x="181183" y="12859"/>
                  <a:pt x="175602" y="18440"/>
                </a:cubicBezTo>
                <a:lnTo>
                  <a:pt x="4152" y="189890"/>
                </a:lnTo>
                <a:cubicBezTo>
                  <a:pt x="-1429" y="195471"/>
                  <a:pt x="-1429" y="204534"/>
                  <a:pt x="4152" y="210116"/>
                </a:cubicBezTo>
                <a:cubicBezTo>
                  <a:pt x="9733" y="215697"/>
                  <a:pt x="18797" y="215697"/>
                  <a:pt x="24378" y="210116"/>
                </a:cubicBezTo>
                <a:lnTo>
                  <a:pt x="195828" y="38666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48" name="Text 46"/>
          <p:cNvSpPr/>
          <p:nvPr/>
        </p:nvSpPr>
        <p:spPr>
          <a:xfrm>
            <a:off x="8483600" y="1339853"/>
            <a:ext cx="3324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High-Spending Discount Users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97850" y="1739903"/>
            <a:ext cx="3495675" cy="1790700"/>
          </a:xfrm>
          <a:custGeom>
            <a:avLst/>
            <a:gdLst/>
            <a:ahLst/>
            <a:cxnLst/>
            <a:rect l="l" t="t" r="r" b="b"/>
            <a:pathLst>
              <a:path w="3495675" h="1790700">
                <a:moveTo>
                  <a:pt x="76194" y="0"/>
                </a:moveTo>
                <a:lnTo>
                  <a:pt x="3419481" y="0"/>
                </a:lnTo>
                <a:cubicBezTo>
                  <a:pt x="3461533" y="0"/>
                  <a:pt x="3495675" y="34142"/>
                  <a:pt x="3495675" y="76194"/>
                </a:cubicBezTo>
                <a:lnTo>
                  <a:pt x="3495675" y="1714506"/>
                </a:lnTo>
                <a:cubicBezTo>
                  <a:pt x="3495675" y="1756587"/>
                  <a:pt x="3461562" y="1790700"/>
                  <a:pt x="3419481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0" name="Shape 48"/>
          <p:cNvSpPr/>
          <p:nvPr/>
        </p:nvSpPr>
        <p:spPr>
          <a:xfrm>
            <a:off x="9563100" y="185420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/>
              </a:gs>
              <a:gs pos="100000">
                <a:srgbClr val="5E6D55"/>
              </a:gs>
            </a:gsLst>
            <a:lin ang="2700000" scaled="1"/>
          </a:gradFill>
          <a:ln/>
        </p:spPr>
      </p:sp>
      <p:sp>
        <p:nvSpPr>
          <p:cNvPr id="51" name="Text 49"/>
          <p:cNvSpPr/>
          <p:nvPr/>
        </p:nvSpPr>
        <p:spPr>
          <a:xfrm>
            <a:off x="9552484" y="2044703"/>
            <a:ext cx="78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64525" y="2730503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Segment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74050" y="3073403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discounts but spend above average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01025" y="3609978"/>
            <a:ext cx="3482975" cy="1339850"/>
          </a:xfrm>
          <a:custGeom>
            <a:avLst/>
            <a:gdLst/>
            <a:ahLst/>
            <a:cxnLst/>
            <a:rect l="l" t="t" r="r" b="b"/>
            <a:pathLst>
              <a:path w="3482975" h="1339850">
                <a:moveTo>
                  <a:pt x="76197" y="0"/>
                </a:moveTo>
                <a:lnTo>
                  <a:pt x="3406778" y="0"/>
                </a:lnTo>
                <a:cubicBezTo>
                  <a:pt x="3448860" y="0"/>
                  <a:pt x="3482975" y="34115"/>
                  <a:pt x="3482975" y="76197"/>
                </a:cubicBezTo>
                <a:lnTo>
                  <a:pt x="3482975" y="1263653"/>
                </a:lnTo>
                <a:cubicBezTo>
                  <a:pt x="3482975" y="1305735"/>
                  <a:pt x="3448860" y="1339850"/>
                  <a:pt x="3406778" y="1339850"/>
                </a:cubicBezTo>
                <a:lnTo>
                  <a:pt x="76197" y="1339850"/>
                </a:lnTo>
                <a:cubicBezTo>
                  <a:pt x="34115" y="1339850"/>
                  <a:pt x="0" y="1305735"/>
                  <a:pt x="0" y="12636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5E6D55">
                  <a:alpha val="20000"/>
                </a:srgbClr>
              </a:gs>
            </a:gsLst>
            <a:lin ang="0" scaled="1"/>
          </a:gradFill>
          <a:ln w="8467">
            <a:solidFill>
              <a:srgbClr val="A99A8D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18500" y="3727452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 Profile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37550" y="41084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57" name="Text 55"/>
          <p:cNvSpPr/>
          <p:nvPr/>
        </p:nvSpPr>
        <p:spPr>
          <a:xfrm>
            <a:off x="8585200" y="4070352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discounts for premium purchases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337550" y="43751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59" name="Text 57"/>
          <p:cNvSpPr/>
          <p:nvPr/>
        </p:nvSpPr>
        <p:spPr>
          <a:xfrm>
            <a:off x="8585200" y="4337052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basket values strategically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337550" y="46418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1" name="Text 59"/>
          <p:cNvSpPr/>
          <p:nvPr/>
        </p:nvSpPr>
        <p:spPr>
          <a:xfrm>
            <a:off x="8585200" y="4603752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conversion to loyalty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97850" y="5048250"/>
            <a:ext cx="3495675" cy="609600"/>
          </a:xfrm>
          <a:custGeom>
            <a:avLst/>
            <a:gdLst/>
            <a:ahLst/>
            <a:cxnLst/>
            <a:rect l="l" t="t" r="r" b="b"/>
            <a:pathLst>
              <a:path w="3495675" h="609600">
                <a:moveTo>
                  <a:pt x="76200" y="0"/>
                </a:moveTo>
                <a:lnTo>
                  <a:pt x="3419475" y="0"/>
                </a:lnTo>
                <a:cubicBezTo>
                  <a:pt x="3461531" y="0"/>
                  <a:pt x="3495675" y="34144"/>
                  <a:pt x="3495675" y="76200"/>
                </a:cubicBezTo>
                <a:lnTo>
                  <a:pt x="3495675" y="533400"/>
                </a:lnTo>
                <a:cubicBezTo>
                  <a:pt x="3495675" y="575456"/>
                  <a:pt x="3461531" y="609600"/>
                  <a:pt x="34194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3" name="Text 61"/>
          <p:cNvSpPr/>
          <p:nvPr/>
        </p:nvSpPr>
        <p:spPr>
          <a:xfrm>
            <a:off x="8274050" y="5124450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Target similar customers with strategic discount offers.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84175" y="5857878"/>
            <a:ext cx="11426825" cy="615950"/>
          </a:xfrm>
          <a:custGeom>
            <a:avLst/>
            <a:gdLst/>
            <a:ahLst/>
            <a:cxnLst/>
            <a:rect l="l" t="t" r="r" b="b"/>
            <a:pathLst>
              <a:path w="11426825" h="615950">
                <a:moveTo>
                  <a:pt x="76199" y="0"/>
                </a:moveTo>
                <a:lnTo>
                  <a:pt x="11350626" y="0"/>
                </a:lnTo>
                <a:cubicBezTo>
                  <a:pt x="11392709" y="0"/>
                  <a:pt x="11426825" y="34116"/>
                  <a:pt x="11426825" y="76199"/>
                </a:cubicBezTo>
                <a:lnTo>
                  <a:pt x="11426825" y="539751"/>
                </a:lnTo>
                <a:cubicBezTo>
                  <a:pt x="11426825" y="581834"/>
                  <a:pt x="11392709" y="615950"/>
                  <a:pt x="11350626" y="615950"/>
                </a:cubicBezTo>
                <a:lnTo>
                  <a:pt x="76199" y="615950"/>
                </a:lnTo>
                <a:cubicBezTo>
                  <a:pt x="34116" y="615950"/>
                  <a:pt x="0" y="581834"/>
                  <a:pt x="0" y="5397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 w="8467">
            <a:solidFill>
              <a:srgbClr val="A99A8D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2600" y="59690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6" name="Text 64"/>
          <p:cNvSpPr/>
          <p:nvPr/>
        </p:nvSpPr>
        <p:spPr>
          <a:xfrm>
            <a:off x="711200" y="5937252"/>
            <a:ext cx="11096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Summary: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Female customers, subscribers, and high-spending discount users represent the most valuable segments with 73% higher order values and greater lifetime value.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INTELLIGENCE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Performance &amp; Preferences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5438" y="1023938"/>
            <a:ext cx="5699125" cy="3349625"/>
          </a:xfrm>
          <a:custGeom>
            <a:avLst/>
            <a:gdLst/>
            <a:ahLst/>
            <a:cxnLst/>
            <a:rect l="l" t="t" r="r" b="b"/>
            <a:pathLst>
              <a:path w="5699125" h="3349625">
                <a:moveTo>
                  <a:pt x="63509" y="0"/>
                </a:moveTo>
                <a:lnTo>
                  <a:pt x="5635616" y="0"/>
                </a:lnTo>
                <a:cubicBezTo>
                  <a:pt x="5670691" y="0"/>
                  <a:pt x="5699125" y="28434"/>
                  <a:pt x="5699125" y="63509"/>
                </a:cubicBezTo>
                <a:lnTo>
                  <a:pt x="5699125" y="3286116"/>
                </a:lnTo>
                <a:cubicBezTo>
                  <a:pt x="5699125" y="3321191"/>
                  <a:pt x="5670691" y="3349625"/>
                  <a:pt x="5635616" y="3349625"/>
                </a:cubicBezTo>
                <a:lnTo>
                  <a:pt x="63509" y="3349625"/>
                </a:lnTo>
                <a:cubicBezTo>
                  <a:pt x="28434" y="3349625"/>
                  <a:pt x="0" y="3321191"/>
                  <a:pt x="0" y="3286116"/>
                </a:cubicBezTo>
                <a:lnTo>
                  <a:pt x="0" y="63509"/>
                </a:lnTo>
                <a:cubicBezTo>
                  <a:pt x="0" y="28434"/>
                  <a:pt x="28434" y="0"/>
                  <a:pt x="63509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2C3138"/>
              </a:gs>
            </a:gsLst>
            <a:lin ang="2700000" scaled="1"/>
          </a:gradFill>
          <a:ln w="25400">
            <a:solidFill>
              <a:srgbClr val="A99A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0531" y="11588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" name="Text 4"/>
          <p:cNvSpPr/>
          <p:nvPr/>
        </p:nvSpPr>
        <p:spPr>
          <a:xfrm>
            <a:off x="666750" y="1127125"/>
            <a:ext cx="5349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 Products by Customer Rating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8625" y="1444625"/>
            <a:ext cx="5492750" cy="539750"/>
          </a:xfrm>
          <a:custGeom>
            <a:avLst/>
            <a:gdLst/>
            <a:ahLst/>
            <a:cxnLst/>
            <a:rect l="l" t="t" r="r" b="b"/>
            <a:pathLst>
              <a:path w="5492750" h="539750">
                <a:moveTo>
                  <a:pt x="63502" y="0"/>
                </a:moveTo>
                <a:lnTo>
                  <a:pt x="5429248" y="0"/>
                </a:lnTo>
                <a:cubicBezTo>
                  <a:pt x="5464319" y="0"/>
                  <a:pt x="5492750" y="28431"/>
                  <a:pt x="5492750" y="63502"/>
                </a:cubicBezTo>
                <a:lnTo>
                  <a:pt x="5492750" y="476248"/>
                </a:lnTo>
                <a:cubicBezTo>
                  <a:pt x="5492750" y="511319"/>
                  <a:pt x="5464319" y="539750"/>
                  <a:pt x="542924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Shape 6"/>
          <p:cNvSpPr/>
          <p:nvPr/>
        </p:nvSpPr>
        <p:spPr>
          <a:xfrm>
            <a:off x="492125" y="1555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9" name="Text 7"/>
          <p:cNvSpPr/>
          <p:nvPr/>
        </p:nvSpPr>
        <p:spPr>
          <a:xfrm>
            <a:off x="456406" y="155575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4875" y="1539875"/>
            <a:ext cx="433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Premium Winter Jacket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4875" y="1730375"/>
            <a:ext cx="432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Category: Outerwear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80670" y="15557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3" name="Text 11"/>
          <p:cNvSpPr/>
          <p:nvPr/>
        </p:nvSpPr>
        <p:spPr>
          <a:xfrm>
            <a:off x="5383857" y="15081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7170" y="1762125"/>
            <a:ext cx="642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892 reviews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8625" y="2016125"/>
            <a:ext cx="5492750" cy="539750"/>
          </a:xfrm>
          <a:custGeom>
            <a:avLst/>
            <a:gdLst/>
            <a:ahLst/>
            <a:cxnLst/>
            <a:rect l="l" t="t" r="r" b="b"/>
            <a:pathLst>
              <a:path w="5492750" h="539750">
                <a:moveTo>
                  <a:pt x="63502" y="0"/>
                </a:moveTo>
                <a:lnTo>
                  <a:pt x="5429248" y="0"/>
                </a:lnTo>
                <a:cubicBezTo>
                  <a:pt x="5464319" y="0"/>
                  <a:pt x="5492750" y="28431"/>
                  <a:pt x="5492750" y="63502"/>
                </a:cubicBezTo>
                <a:lnTo>
                  <a:pt x="5492750" y="476248"/>
                </a:lnTo>
                <a:cubicBezTo>
                  <a:pt x="5492750" y="511319"/>
                  <a:pt x="5464319" y="539750"/>
                  <a:pt x="542924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Shape 14"/>
          <p:cNvSpPr/>
          <p:nvPr/>
        </p:nvSpPr>
        <p:spPr>
          <a:xfrm>
            <a:off x="492125" y="2127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7" name="Text 15"/>
          <p:cNvSpPr/>
          <p:nvPr/>
        </p:nvSpPr>
        <p:spPr>
          <a:xfrm>
            <a:off x="456406" y="212725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4875" y="2111375"/>
            <a:ext cx="434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 Denim Jeans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4875" y="2301875"/>
            <a:ext cx="4341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Category: Bottoms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96793" y="21272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21" name="Text 19"/>
          <p:cNvSpPr/>
          <p:nvPr/>
        </p:nvSpPr>
        <p:spPr>
          <a:xfrm>
            <a:off x="5399980" y="20796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33293" y="2333625"/>
            <a:ext cx="62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724 reviews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8625" y="2587625"/>
            <a:ext cx="5492750" cy="539750"/>
          </a:xfrm>
          <a:custGeom>
            <a:avLst/>
            <a:gdLst/>
            <a:ahLst/>
            <a:cxnLst/>
            <a:rect l="l" t="t" r="r" b="b"/>
            <a:pathLst>
              <a:path w="5492750" h="539750">
                <a:moveTo>
                  <a:pt x="63502" y="0"/>
                </a:moveTo>
                <a:lnTo>
                  <a:pt x="5429248" y="0"/>
                </a:lnTo>
                <a:cubicBezTo>
                  <a:pt x="5464319" y="0"/>
                  <a:pt x="5492750" y="28431"/>
                  <a:pt x="5492750" y="63502"/>
                </a:cubicBezTo>
                <a:lnTo>
                  <a:pt x="5492750" y="476248"/>
                </a:lnTo>
                <a:cubicBezTo>
                  <a:pt x="5492750" y="511319"/>
                  <a:pt x="5464319" y="539750"/>
                  <a:pt x="542924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Shape 22"/>
          <p:cNvSpPr/>
          <p:nvPr/>
        </p:nvSpPr>
        <p:spPr>
          <a:xfrm>
            <a:off x="492125" y="2698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5" name="Text 23"/>
          <p:cNvSpPr/>
          <p:nvPr/>
        </p:nvSpPr>
        <p:spPr>
          <a:xfrm>
            <a:off x="456406" y="269875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4875" y="2682875"/>
            <a:ext cx="426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Organic Cotton Tee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4875" y="2873375"/>
            <a:ext cx="425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Category: Tops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10225" y="26987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9" name="Text 27"/>
          <p:cNvSpPr/>
          <p:nvPr/>
        </p:nvSpPr>
        <p:spPr>
          <a:xfrm>
            <a:off x="5313412" y="2651125"/>
            <a:ext cx="26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46725" y="2905125"/>
            <a:ext cx="714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1,203 reviews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8625" y="3159125"/>
            <a:ext cx="5492750" cy="539750"/>
          </a:xfrm>
          <a:custGeom>
            <a:avLst/>
            <a:gdLst/>
            <a:ahLst/>
            <a:cxnLst/>
            <a:rect l="l" t="t" r="r" b="b"/>
            <a:pathLst>
              <a:path w="5492750" h="539750">
                <a:moveTo>
                  <a:pt x="63502" y="0"/>
                </a:moveTo>
                <a:lnTo>
                  <a:pt x="5429248" y="0"/>
                </a:lnTo>
                <a:cubicBezTo>
                  <a:pt x="5464319" y="0"/>
                  <a:pt x="5492750" y="28431"/>
                  <a:pt x="5492750" y="63502"/>
                </a:cubicBezTo>
                <a:lnTo>
                  <a:pt x="5492750" y="476248"/>
                </a:lnTo>
                <a:cubicBezTo>
                  <a:pt x="5492750" y="511319"/>
                  <a:pt x="5464319" y="539750"/>
                  <a:pt x="542924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Shape 30"/>
          <p:cNvSpPr/>
          <p:nvPr/>
        </p:nvSpPr>
        <p:spPr>
          <a:xfrm>
            <a:off x="492125" y="3270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3" name="Text 31"/>
          <p:cNvSpPr/>
          <p:nvPr/>
        </p:nvSpPr>
        <p:spPr>
          <a:xfrm>
            <a:off x="456406" y="327025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4875" y="3254375"/>
            <a:ext cx="434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Leather Ankle Boots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4875" y="3444875"/>
            <a:ext cx="4333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Category: Footwear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83150" y="32702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7" name="Text 35"/>
          <p:cNvSpPr/>
          <p:nvPr/>
        </p:nvSpPr>
        <p:spPr>
          <a:xfrm>
            <a:off x="5386338" y="32226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19650" y="3476625"/>
            <a:ext cx="63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456 reviews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8625" y="3730625"/>
            <a:ext cx="5492750" cy="539750"/>
          </a:xfrm>
          <a:custGeom>
            <a:avLst/>
            <a:gdLst/>
            <a:ahLst/>
            <a:cxnLst/>
            <a:rect l="l" t="t" r="r" b="b"/>
            <a:pathLst>
              <a:path w="5492750" h="539750">
                <a:moveTo>
                  <a:pt x="63502" y="0"/>
                </a:moveTo>
                <a:lnTo>
                  <a:pt x="5429248" y="0"/>
                </a:lnTo>
                <a:cubicBezTo>
                  <a:pt x="5464319" y="0"/>
                  <a:pt x="5492750" y="28431"/>
                  <a:pt x="5492750" y="63502"/>
                </a:cubicBezTo>
                <a:lnTo>
                  <a:pt x="5492750" y="476248"/>
                </a:lnTo>
                <a:cubicBezTo>
                  <a:pt x="5492750" y="511319"/>
                  <a:pt x="5464319" y="539750"/>
                  <a:pt x="542924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Shape 38"/>
          <p:cNvSpPr/>
          <p:nvPr/>
        </p:nvSpPr>
        <p:spPr>
          <a:xfrm>
            <a:off x="492125" y="3841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1" name="Text 39"/>
          <p:cNvSpPr/>
          <p:nvPr/>
        </p:nvSpPr>
        <p:spPr>
          <a:xfrm>
            <a:off x="456406" y="384175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4875" y="3825875"/>
            <a:ext cx="433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Cashmere Sweater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4875" y="4016375"/>
            <a:ext cx="432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Category: Knitwear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277776" y="38417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5" name="Text 43"/>
          <p:cNvSpPr/>
          <p:nvPr/>
        </p:nvSpPr>
        <p:spPr>
          <a:xfrm>
            <a:off x="5380964" y="37941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214276" y="4048125"/>
            <a:ext cx="642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389 reviews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20146" y="4479396"/>
            <a:ext cx="5712354" cy="1942042"/>
          </a:xfrm>
          <a:custGeom>
            <a:avLst/>
            <a:gdLst/>
            <a:ahLst/>
            <a:cxnLst/>
            <a:rect l="l" t="t" r="r" b="b"/>
            <a:pathLst>
              <a:path w="5712354" h="1942042">
                <a:moveTo>
                  <a:pt x="63505" y="0"/>
                </a:moveTo>
                <a:lnTo>
                  <a:pt x="5648849" y="0"/>
                </a:lnTo>
                <a:cubicBezTo>
                  <a:pt x="5683922" y="0"/>
                  <a:pt x="5712354" y="28432"/>
                  <a:pt x="5712354" y="63505"/>
                </a:cubicBezTo>
                <a:lnTo>
                  <a:pt x="5712354" y="1878537"/>
                </a:lnTo>
                <a:cubicBezTo>
                  <a:pt x="5712354" y="1913610"/>
                  <a:pt x="5683922" y="1942042"/>
                  <a:pt x="5648849" y="1942042"/>
                </a:cubicBezTo>
                <a:lnTo>
                  <a:pt x="63505" y="1942042"/>
                </a:lnTo>
                <a:cubicBezTo>
                  <a:pt x="28432" y="1942042"/>
                  <a:pt x="0" y="1913610"/>
                  <a:pt x="0" y="1878537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7807" y="4609044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14536" y="39688"/>
                </a:moveTo>
                <a:lnTo>
                  <a:pt x="103901" y="24805"/>
                </a:lnTo>
                <a:lnTo>
                  <a:pt x="35037" y="24805"/>
                </a:lnTo>
                <a:lnTo>
                  <a:pt x="24402" y="39688"/>
                </a:lnTo>
                <a:lnTo>
                  <a:pt x="114536" y="39688"/>
                </a:lnTo>
                <a:close/>
                <a:moveTo>
                  <a:pt x="0" y="46044"/>
                </a:moveTo>
                <a:cubicBezTo>
                  <a:pt x="0" y="41920"/>
                  <a:pt x="1302" y="37889"/>
                  <a:pt x="3690" y="34510"/>
                </a:cubicBezTo>
                <a:lnTo>
                  <a:pt x="18883" y="13271"/>
                </a:lnTo>
                <a:cubicBezTo>
                  <a:pt x="22603" y="8062"/>
                  <a:pt x="28618" y="4961"/>
                  <a:pt x="35006" y="4961"/>
                </a:cubicBezTo>
                <a:lnTo>
                  <a:pt x="103870" y="4961"/>
                </a:lnTo>
                <a:cubicBezTo>
                  <a:pt x="110288" y="4961"/>
                  <a:pt x="116303" y="8062"/>
                  <a:pt x="120024" y="13271"/>
                </a:cubicBezTo>
                <a:lnTo>
                  <a:pt x="135186" y="34510"/>
                </a:lnTo>
                <a:cubicBezTo>
                  <a:pt x="137604" y="37889"/>
                  <a:pt x="138875" y="41920"/>
                  <a:pt x="138875" y="46044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46044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49" name="Text 47"/>
          <p:cNvSpPr/>
          <p:nvPr/>
        </p:nvSpPr>
        <p:spPr>
          <a:xfrm>
            <a:off x="616479" y="4577294"/>
            <a:ext cx="5397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Discount-Dependent Products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18042" y="4863044"/>
            <a:ext cx="558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5 products with highest percentage of discounted purchases: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18042" y="5148794"/>
            <a:ext cx="5516563" cy="349250"/>
          </a:xfrm>
          <a:custGeom>
            <a:avLst/>
            <a:gdLst/>
            <a:ahLst/>
            <a:cxnLst/>
            <a:rect l="l" t="t" r="r" b="b"/>
            <a:pathLst>
              <a:path w="5516563" h="349250">
                <a:moveTo>
                  <a:pt x="63501" y="0"/>
                </a:moveTo>
                <a:lnTo>
                  <a:pt x="5453062" y="0"/>
                </a:lnTo>
                <a:cubicBezTo>
                  <a:pt x="5488132" y="0"/>
                  <a:pt x="5516563" y="28430"/>
                  <a:pt x="5516563" y="63501"/>
                </a:cubicBezTo>
                <a:lnTo>
                  <a:pt x="5516563" y="285749"/>
                </a:lnTo>
                <a:cubicBezTo>
                  <a:pt x="5516563" y="320820"/>
                  <a:pt x="5488132" y="349250"/>
                  <a:pt x="5453062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2" name="Text 50"/>
          <p:cNvSpPr/>
          <p:nvPr/>
        </p:nvSpPr>
        <p:spPr>
          <a:xfrm>
            <a:off x="481542" y="5228169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Summer Dresses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577417" y="5212294"/>
            <a:ext cx="37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18042" y="5561544"/>
            <a:ext cx="5516563" cy="349250"/>
          </a:xfrm>
          <a:custGeom>
            <a:avLst/>
            <a:gdLst/>
            <a:ahLst/>
            <a:cxnLst/>
            <a:rect l="l" t="t" r="r" b="b"/>
            <a:pathLst>
              <a:path w="5516563" h="349250">
                <a:moveTo>
                  <a:pt x="63501" y="0"/>
                </a:moveTo>
                <a:lnTo>
                  <a:pt x="5453062" y="0"/>
                </a:lnTo>
                <a:cubicBezTo>
                  <a:pt x="5488132" y="0"/>
                  <a:pt x="5516563" y="28430"/>
                  <a:pt x="5516563" y="63501"/>
                </a:cubicBezTo>
                <a:lnTo>
                  <a:pt x="5516563" y="285749"/>
                </a:lnTo>
                <a:cubicBezTo>
                  <a:pt x="5516563" y="320820"/>
                  <a:pt x="5488132" y="349250"/>
                  <a:pt x="5453062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5" name="Text 53"/>
          <p:cNvSpPr/>
          <p:nvPr/>
        </p:nvSpPr>
        <p:spPr>
          <a:xfrm>
            <a:off x="481542" y="5640919"/>
            <a:ext cx="84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Athletic Shoes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565676" y="5625044"/>
            <a:ext cx="38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65%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18042" y="5974294"/>
            <a:ext cx="5516563" cy="349250"/>
          </a:xfrm>
          <a:custGeom>
            <a:avLst/>
            <a:gdLst/>
            <a:ahLst/>
            <a:cxnLst/>
            <a:rect l="l" t="t" r="r" b="b"/>
            <a:pathLst>
              <a:path w="5516563" h="349250">
                <a:moveTo>
                  <a:pt x="63501" y="0"/>
                </a:moveTo>
                <a:lnTo>
                  <a:pt x="5453062" y="0"/>
                </a:lnTo>
                <a:cubicBezTo>
                  <a:pt x="5488132" y="0"/>
                  <a:pt x="5516563" y="28430"/>
                  <a:pt x="5516563" y="63501"/>
                </a:cubicBezTo>
                <a:lnTo>
                  <a:pt x="5516563" y="285749"/>
                </a:lnTo>
                <a:cubicBezTo>
                  <a:pt x="5516563" y="320820"/>
                  <a:pt x="5488132" y="349250"/>
                  <a:pt x="5453062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8" name="Text 56"/>
          <p:cNvSpPr/>
          <p:nvPr/>
        </p:nvSpPr>
        <p:spPr>
          <a:xfrm>
            <a:off x="481542" y="6053669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Casual Shorts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600733" y="6037794"/>
            <a:ext cx="34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61%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62146" y="1018646"/>
            <a:ext cx="5712354" cy="6506104"/>
          </a:xfrm>
          <a:custGeom>
            <a:avLst/>
            <a:gdLst/>
            <a:ahLst/>
            <a:cxnLst/>
            <a:rect l="l" t="t" r="r" b="b"/>
            <a:pathLst>
              <a:path w="5712354" h="6506104">
                <a:moveTo>
                  <a:pt x="63521" y="0"/>
                </a:moveTo>
                <a:lnTo>
                  <a:pt x="5648833" y="0"/>
                </a:lnTo>
                <a:cubicBezTo>
                  <a:pt x="5683915" y="0"/>
                  <a:pt x="5712354" y="28439"/>
                  <a:pt x="5712354" y="63521"/>
                </a:cubicBezTo>
                <a:lnTo>
                  <a:pt x="5712354" y="6442583"/>
                </a:lnTo>
                <a:cubicBezTo>
                  <a:pt x="5712354" y="6477665"/>
                  <a:pt x="5683915" y="6506104"/>
                  <a:pt x="5648833" y="6506104"/>
                </a:cubicBezTo>
                <a:lnTo>
                  <a:pt x="63521" y="6506104"/>
                </a:lnTo>
                <a:cubicBezTo>
                  <a:pt x="28439" y="6506104"/>
                  <a:pt x="0" y="6477665"/>
                  <a:pt x="0" y="6442583"/>
                </a:cubicBezTo>
                <a:lnTo>
                  <a:pt x="0" y="63521"/>
                </a:lnTo>
                <a:cubicBezTo>
                  <a:pt x="0" y="28439"/>
                  <a:pt x="28439" y="0"/>
                  <a:pt x="63521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83854" y="11482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2" name="Text 60"/>
          <p:cNvSpPr/>
          <p:nvPr/>
        </p:nvSpPr>
        <p:spPr>
          <a:xfrm>
            <a:off x="6498167" y="1116544"/>
            <a:ext cx="5373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3 Products per Category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275917" y="1434044"/>
            <a:ext cx="5500688" cy="1111250"/>
          </a:xfrm>
          <a:custGeom>
            <a:avLst/>
            <a:gdLst/>
            <a:ahLst/>
            <a:cxnLst/>
            <a:rect l="l" t="t" r="r" b="b"/>
            <a:pathLst>
              <a:path w="5500688" h="1111250">
                <a:moveTo>
                  <a:pt x="31750" y="0"/>
                </a:moveTo>
                <a:lnTo>
                  <a:pt x="5437191" y="0"/>
                </a:lnTo>
                <a:cubicBezTo>
                  <a:pt x="5472259" y="0"/>
                  <a:pt x="5500688" y="28428"/>
                  <a:pt x="5500688" y="63497"/>
                </a:cubicBezTo>
                <a:lnTo>
                  <a:pt x="5500688" y="1047753"/>
                </a:lnTo>
                <a:cubicBezTo>
                  <a:pt x="5500688" y="1082822"/>
                  <a:pt x="5472259" y="1111250"/>
                  <a:pt x="5437191" y="1111250"/>
                </a:cubicBezTo>
                <a:lnTo>
                  <a:pt x="31750" y="1111250"/>
                </a:lnTo>
                <a:cubicBezTo>
                  <a:pt x="14215" y="1111250"/>
                  <a:pt x="0" y="1097035"/>
                  <a:pt x="0" y="1079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4" name="Shape 62"/>
          <p:cNvSpPr/>
          <p:nvPr/>
        </p:nvSpPr>
        <p:spPr>
          <a:xfrm>
            <a:off x="6275917" y="1434044"/>
            <a:ext cx="31750" cy="1111250"/>
          </a:xfrm>
          <a:custGeom>
            <a:avLst/>
            <a:gdLst/>
            <a:ahLst/>
            <a:cxnLst/>
            <a:rect l="l" t="t" r="r" b="b"/>
            <a:pathLst>
              <a:path w="31750" h="1111250">
                <a:moveTo>
                  <a:pt x="31750" y="0"/>
                </a:moveTo>
                <a:lnTo>
                  <a:pt x="31750" y="0"/>
                </a:lnTo>
                <a:lnTo>
                  <a:pt x="31750" y="1111250"/>
                </a:lnTo>
                <a:lnTo>
                  <a:pt x="31750" y="1111250"/>
                </a:lnTo>
                <a:cubicBezTo>
                  <a:pt x="14227" y="1111250"/>
                  <a:pt x="0" y="1097023"/>
                  <a:pt x="0" y="1079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5" name="Shape 63"/>
          <p:cNvSpPr/>
          <p:nvPr/>
        </p:nvSpPr>
        <p:spPr>
          <a:xfrm>
            <a:off x="6389026" y="1568982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89353" y="31254"/>
                </a:moveTo>
                <a:cubicBezTo>
                  <a:pt x="101687" y="31254"/>
                  <a:pt x="111677" y="21264"/>
                  <a:pt x="111677" y="8930"/>
                </a:cubicBezTo>
                <a:lnTo>
                  <a:pt x="126606" y="8930"/>
                </a:lnTo>
                <a:cubicBezTo>
                  <a:pt x="131350" y="8930"/>
                  <a:pt x="135899" y="10799"/>
                  <a:pt x="139247" y="14148"/>
                </a:cubicBezTo>
                <a:lnTo>
                  <a:pt x="172343" y="47272"/>
                </a:lnTo>
                <a:cubicBezTo>
                  <a:pt x="175831" y="50760"/>
                  <a:pt x="175831" y="56424"/>
                  <a:pt x="172343" y="59913"/>
                </a:cubicBezTo>
                <a:lnTo>
                  <a:pt x="158195" y="74061"/>
                </a:lnTo>
                <a:cubicBezTo>
                  <a:pt x="154707" y="77549"/>
                  <a:pt x="149042" y="77549"/>
                  <a:pt x="145554" y="74061"/>
                </a:cubicBezTo>
                <a:lnTo>
                  <a:pt x="134001" y="62508"/>
                </a:lnTo>
                <a:lnTo>
                  <a:pt x="134001" y="125016"/>
                </a:lnTo>
                <a:cubicBezTo>
                  <a:pt x="134001" y="134866"/>
                  <a:pt x="125992" y="142875"/>
                  <a:pt x="116142" y="142875"/>
                </a:cubicBezTo>
                <a:lnTo>
                  <a:pt x="62564" y="142875"/>
                </a:lnTo>
                <a:cubicBezTo>
                  <a:pt x="52713" y="142875"/>
                  <a:pt x="44704" y="134866"/>
                  <a:pt x="44704" y="125016"/>
                </a:cubicBezTo>
                <a:lnTo>
                  <a:pt x="44704" y="62508"/>
                </a:lnTo>
                <a:lnTo>
                  <a:pt x="33151" y="74061"/>
                </a:lnTo>
                <a:cubicBezTo>
                  <a:pt x="29663" y="77549"/>
                  <a:pt x="23999" y="77549"/>
                  <a:pt x="20510" y="74061"/>
                </a:cubicBezTo>
                <a:lnTo>
                  <a:pt x="6390" y="59885"/>
                </a:lnTo>
                <a:cubicBezTo>
                  <a:pt x="2902" y="56397"/>
                  <a:pt x="2902" y="50732"/>
                  <a:pt x="6390" y="47244"/>
                </a:cubicBezTo>
                <a:lnTo>
                  <a:pt x="39486" y="14148"/>
                </a:lnTo>
                <a:cubicBezTo>
                  <a:pt x="42835" y="10799"/>
                  <a:pt x="47383" y="8930"/>
                  <a:pt x="52127" y="8930"/>
                </a:cubicBezTo>
                <a:lnTo>
                  <a:pt x="67056" y="8930"/>
                </a:lnTo>
                <a:cubicBezTo>
                  <a:pt x="67056" y="21264"/>
                  <a:pt x="77046" y="31254"/>
                  <a:pt x="89381" y="31254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6" name="Text 64"/>
          <p:cNvSpPr/>
          <p:nvPr/>
        </p:nvSpPr>
        <p:spPr>
          <a:xfrm>
            <a:off x="6569604" y="1529294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Tops Category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387042" y="1815044"/>
            <a:ext cx="123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Organic Cotton Tee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211471" y="1815044"/>
            <a:ext cx="53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892 sold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387042" y="2037294"/>
            <a:ext cx="122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Classic White Shirt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226519" y="2037294"/>
            <a:ext cx="51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743 sold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387042" y="2259544"/>
            <a:ext cx="110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V-Neck Sweater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242146" y="2259544"/>
            <a:ext cx="50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621 sold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275917" y="2608794"/>
            <a:ext cx="5500688" cy="1111250"/>
          </a:xfrm>
          <a:custGeom>
            <a:avLst/>
            <a:gdLst/>
            <a:ahLst/>
            <a:cxnLst/>
            <a:rect l="l" t="t" r="r" b="b"/>
            <a:pathLst>
              <a:path w="5500688" h="1111250">
                <a:moveTo>
                  <a:pt x="31750" y="0"/>
                </a:moveTo>
                <a:lnTo>
                  <a:pt x="5437191" y="0"/>
                </a:lnTo>
                <a:cubicBezTo>
                  <a:pt x="5472259" y="0"/>
                  <a:pt x="5500688" y="28428"/>
                  <a:pt x="5500688" y="63497"/>
                </a:cubicBezTo>
                <a:lnTo>
                  <a:pt x="5500688" y="1047753"/>
                </a:lnTo>
                <a:cubicBezTo>
                  <a:pt x="5500688" y="1082822"/>
                  <a:pt x="5472259" y="1111250"/>
                  <a:pt x="5437191" y="1111250"/>
                </a:cubicBezTo>
                <a:lnTo>
                  <a:pt x="31750" y="1111250"/>
                </a:lnTo>
                <a:cubicBezTo>
                  <a:pt x="14215" y="1111250"/>
                  <a:pt x="0" y="1097035"/>
                  <a:pt x="0" y="1079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4" name="Shape 72"/>
          <p:cNvSpPr/>
          <p:nvPr/>
        </p:nvSpPr>
        <p:spPr>
          <a:xfrm>
            <a:off x="6275917" y="2608794"/>
            <a:ext cx="31750" cy="1111250"/>
          </a:xfrm>
          <a:custGeom>
            <a:avLst/>
            <a:gdLst/>
            <a:ahLst/>
            <a:cxnLst/>
            <a:rect l="l" t="t" r="r" b="b"/>
            <a:pathLst>
              <a:path w="31750" h="1111250">
                <a:moveTo>
                  <a:pt x="31750" y="0"/>
                </a:moveTo>
                <a:lnTo>
                  <a:pt x="31750" y="0"/>
                </a:lnTo>
                <a:lnTo>
                  <a:pt x="31750" y="1111250"/>
                </a:lnTo>
                <a:lnTo>
                  <a:pt x="31750" y="1111250"/>
                </a:lnTo>
                <a:cubicBezTo>
                  <a:pt x="14227" y="1111250"/>
                  <a:pt x="0" y="1097023"/>
                  <a:pt x="0" y="1079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75" name="Shape 73"/>
          <p:cNvSpPr/>
          <p:nvPr/>
        </p:nvSpPr>
        <p:spPr>
          <a:xfrm>
            <a:off x="6397956" y="2743732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2600" y="53578"/>
                </a:moveTo>
                <a:cubicBezTo>
                  <a:pt x="76712" y="50202"/>
                  <a:pt x="70796" y="46825"/>
                  <a:pt x="62508" y="45402"/>
                </a:cubicBezTo>
                <a:lnTo>
                  <a:pt x="62508" y="6251"/>
                </a:lnTo>
                <a:cubicBezTo>
                  <a:pt x="71912" y="3628"/>
                  <a:pt x="86897" y="0"/>
                  <a:pt x="98227" y="0"/>
                </a:cubicBezTo>
                <a:cubicBezTo>
                  <a:pt x="125016" y="0"/>
                  <a:pt x="160734" y="13395"/>
                  <a:pt x="160734" y="35719"/>
                </a:cubicBezTo>
                <a:cubicBezTo>
                  <a:pt x="160734" y="58043"/>
                  <a:pt x="127360" y="62508"/>
                  <a:pt x="111621" y="62508"/>
                </a:cubicBezTo>
                <a:cubicBezTo>
                  <a:pt x="98227" y="62508"/>
                  <a:pt x="90413" y="58043"/>
                  <a:pt x="82600" y="53578"/>
                </a:cubicBezTo>
                <a:close/>
                <a:moveTo>
                  <a:pt x="35719" y="8930"/>
                </a:moveTo>
                <a:lnTo>
                  <a:pt x="49113" y="8930"/>
                </a:lnTo>
                <a:lnTo>
                  <a:pt x="49113" y="44648"/>
                </a:lnTo>
                <a:lnTo>
                  <a:pt x="35719" y="44648"/>
                </a:lnTo>
                <a:cubicBezTo>
                  <a:pt x="25868" y="44648"/>
                  <a:pt x="17859" y="36640"/>
                  <a:pt x="17859" y="26789"/>
                </a:cubicBezTo>
                <a:cubicBezTo>
                  <a:pt x="17859" y="16939"/>
                  <a:pt x="25868" y="8930"/>
                  <a:pt x="35719" y="8930"/>
                </a:cubicBezTo>
                <a:close/>
                <a:moveTo>
                  <a:pt x="64740" y="89297"/>
                </a:moveTo>
                <a:cubicBezTo>
                  <a:pt x="72554" y="84832"/>
                  <a:pt x="80367" y="80367"/>
                  <a:pt x="93762" y="80367"/>
                </a:cubicBezTo>
                <a:cubicBezTo>
                  <a:pt x="109500" y="80367"/>
                  <a:pt x="142875" y="84832"/>
                  <a:pt x="142875" y="107156"/>
                </a:cubicBezTo>
                <a:cubicBezTo>
                  <a:pt x="142875" y="129480"/>
                  <a:pt x="107156" y="142875"/>
                  <a:pt x="80367" y="142875"/>
                </a:cubicBezTo>
                <a:cubicBezTo>
                  <a:pt x="69066" y="142875"/>
                  <a:pt x="54053" y="139247"/>
                  <a:pt x="44648" y="136624"/>
                </a:cubicBezTo>
                <a:lnTo>
                  <a:pt x="44648" y="97473"/>
                </a:lnTo>
                <a:cubicBezTo>
                  <a:pt x="52936" y="96022"/>
                  <a:pt x="58852" y="92646"/>
                  <a:pt x="64740" y="89269"/>
                </a:cubicBezTo>
                <a:close/>
                <a:moveTo>
                  <a:pt x="17859" y="133945"/>
                </a:moveTo>
                <a:cubicBezTo>
                  <a:pt x="8009" y="133945"/>
                  <a:pt x="0" y="125936"/>
                  <a:pt x="0" y="116086"/>
                </a:cubicBezTo>
                <a:cubicBezTo>
                  <a:pt x="0" y="106235"/>
                  <a:pt x="8009" y="98227"/>
                  <a:pt x="17859" y="98227"/>
                </a:cubicBezTo>
                <a:lnTo>
                  <a:pt x="31254" y="98227"/>
                </a:lnTo>
                <a:lnTo>
                  <a:pt x="31254" y="133945"/>
                </a:lnTo>
                <a:lnTo>
                  <a:pt x="17859" y="133945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76" name="Text 74"/>
          <p:cNvSpPr/>
          <p:nvPr/>
        </p:nvSpPr>
        <p:spPr>
          <a:xfrm>
            <a:off x="6569604" y="2704044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Footwear Category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387042" y="2989794"/>
            <a:ext cx="1135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Running Sneakers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214199" y="2989794"/>
            <a:ext cx="53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654 sold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387042" y="3212044"/>
            <a:ext cx="127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Leather Ankle Boots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1220732" y="3212044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567 sold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387042" y="3434294"/>
            <a:ext cx="98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Casual Loafers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11219656" y="3434294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445 sold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275917" y="3783544"/>
            <a:ext cx="5500688" cy="1111250"/>
          </a:xfrm>
          <a:custGeom>
            <a:avLst/>
            <a:gdLst/>
            <a:ahLst/>
            <a:cxnLst/>
            <a:rect l="l" t="t" r="r" b="b"/>
            <a:pathLst>
              <a:path w="5500688" h="1111250">
                <a:moveTo>
                  <a:pt x="31750" y="0"/>
                </a:moveTo>
                <a:lnTo>
                  <a:pt x="5437191" y="0"/>
                </a:lnTo>
                <a:cubicBezTo>
                  <a:pt x="5472259" y="0"/>
                  <a:pt x="5500688" y="28428"/>
                  <a:pt x="5500688" y="63497"/>
                </a:cubicBezTo>
                <a:lnTo>
                  <a:pt x="5500688" y="1047753"/>
                </a:lnTo>
                <a:cubicBezTo>
                  <a:pt x="5500688" y="1082822"/>
                  <a:pt x="5472259" y="1111250"/>
                  <a:pt x="5437191" y="1111250"/>
                </a:cubicBezTo>
                <a:lnTo>
                  <a:pt x="31750" y="1111250"/>
                </a:lnTo>
                <a:cubicBezTo>
                  <a:pt x="14215" y="1111250"/>
                  <a:pt x="0" y="1097035"/>
                  <a:pt x="0" y="1079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4" name="Shape 82"/>
          <p:cNvSpPr/>
          <p:nvPr/>
        </p:nvSpPr>
        <p:spPr>
          <a:xfrm>
            <a:off x="6275917" y="3783544"/>
            <a:ext cx="31750" cy="1111250"/>
          </a:xfrm>
          <a:custGeom>
            <a:avLst/>
            <a:gdLst/>
            <a:ahLst/>
            <a:cxnLst/>
            <a:rect l="l" t="t" r="r" b="b"/>
            <a:pathLst>
              <a:path w="31750" h="1111250">
                <a:moveTo>
                  <a:pt x="31750" y="0"/>
                </a:moveTo>
                <a:lnTo>
                  <a:pt x="31750" y="0"/>
                </a:lnTo>
                <a:lnTo>
                  <a:pt x="31750" y="1111250"/>
                </a:lnTo>
                <a:lnTo>
                  <a:pt x="31750" y="1111250"/>
                </a:lnTo>
                <a:cubicBezTo>
                  <a:pt x="14227" y="1111250"/>
                  <a:pt x="0" y="1097023"/>
                  <a:pt x="0" y="1079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85" name="Shape 83"/>
          <p:cNvSpPr/>
          <p:nvPr/>
        </p:nvSpPr>
        <p:spPr>
          <a:xfrm>
            <a:off x="6415815" y="3918482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62508" y="69205"/>
                </a:moveTo>
                <a:cubicBezTo>
                  <a:pt x="44026" y="69205"/>
                  <a:pt x="29021" y="54200"/>
                  <a:pt x="29021" y="35719"/>
                </a:cubicBezTo>
                <a:cubicBezTo>
                  <a:pt x="29021" y="17237"/>
                  <a:pt x="44026" y="2232"/>
                  <a:pt x="62508" y="2232"/>
                </a:cubicBezTo>
                <a:cubicBezTo>
                  <a:pt x="80989" y="2232"/>
                  <a:pt x="95994" y="17237"/>
                  <a:pt x="95994" y="35719"/>
                </a:cubicBezTo>
                <a:cubicBezTo>
                  <a:pt x="95994" y="54200"/>
                  <a:pt x="80989" y="69205"/>
                  <a:pt x="62508" y="69205"/>
                </a:cubicBezTo>
                <a:close/>
                <a:moveTo>
                  <a:pt x="53997" y="84832"/>
                </a:moveTo>
                <a:lnTo>
                  <a:pt x="71019" y="84832"/>
                </a:lnTo>
                <a:cubicBezTo>
                  <a:pt x="73726" y="84832"/>
                  <a:pt x="75902" y="87009"/>
                  <a:pt x="75902" y="89715"/>
                </a:cubicBezTo>
                <a:cubicBezTo>
                  <a:pt x="75902" y="90887"/>
                  <a:pt x="75484" y="92004"/>
                  <a:pt x="74730" y="92897"/>
                </a:cubicBezTo>
                <a:lnTo>
                  <a:pt x="67084" y="101826"/>
                </a:lnTo>
                <a:lnTo>
                  <a:pt x="75735" y="133945"/>
                </a:lnTo>
                <a:lnTo>
                  <a:pt x="75902" y="133945"/>
                </a:lnTo>
                <a:lnTo>
                  <a:pt x="85558" y="95297"/>
                </a:lnTo>
                <a:cubicBezTo>
                  <a:pt x="86171" y="92869"/>
                  <a:pt x="88655" y="91390"/>
                  <a:pt x="90999" y="92283"/>
                </a:cubicBezTo>
                <a:cubicBezTo>
                  <a:pt x="108272" y="98868"/>
                  <a:pt x="120551" y="115612"/>
                  <a:pt x="120551" y="135201"/>
                </a:cubicBezTo>
                <a:cubicBezTo>
                  <a:pt x="120551" y="139415"/>
                  <a:pt x="117118" y="142847"/>
                  <a:pt x="112905" y="142847"/>
                </a:cubicBezTo>
                <a:lnTo>
                  <a:pt x="12111" y="142875"/>
                </a:lnTo>
                <a:cubicBezTo>
                  <a:pt x="7897" y="142875"/>
                  <a:pt x="4465" y="139443"/>
                  <a:pt x="4465" y="135229"/>
                </a:cubicBezTo>
                <a:cubicBezTo>
                  <a:pt x="4465" y="115639"/>
                  <a:pt x="16743" y="98896"/>
                  <a:pt x="34017" y="92311"/>
                </a:cubicBezTo>
                <a:cubicBezTo>
                  <a:pt x="36361" y="91418"/>
                  <a:pt x="38844" y="92897"/>
                  <a:pt x="39458" y="95324"/>
                </a:cubicBezTo>
                <a:lnTo>
                  <a:pt x="49113" y="133973"/>
                </a:lnTo>
                <a:lnTo>
                  <a:pt x="49281" y="133973"/>
                </a:lnTo>
                <a:lnTo>
                  <a:pt x="57931" y="101854"/>
                </a:lnTo>
                <a:lnTo>
                  <a:pt x="50285" y="92925"/>
                </a:lnTo>
                <a:cubicBezTo>
                  <a:pt x="49532" y="92032"/>
                  <a:pt x="49113" y="90915"/>
                  <a:pt x="49113" y="89743"/>
                </a:cubicBezTo>
                <a:cubicBezTo>
                  <a:pt x="49113" y="87037"/>
                  <a:pt x="51290" y="84860"/>
                  <a:pt x="53997" y="8486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86" name="Text 84"/>
          <p:cNvSpPr/>
          <p:nvPr/>
        </p:nvSpPr>
        <p:spPr>
          <a:xfrm>
            <a:off x="6569604" y="3878794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Outerwear Category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6387042" y="4164544"/>
            <a:ext cx="143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Premium Winter Jacket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11219904" y="4164544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432 sold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387042" y="4386794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Trench Coat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11220236" y="4386794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387 sold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6387042" y="4609044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Denim Jacket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11211471" y="4609044"/>
            <a:ext cx="53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298 sold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320146" y="7589822"/>
            <a:ext cx="11554354" cy="576792"/>
          </a:xfrm>
          <a:custGeom>
            <a:avLst/>
            <a:gdLst/>
            <a:ahLst/>
            <a:cxnLst/>
            <a:rect l="l" t="t" r="r" b="b"/>
            <a:pathLst>
              <a:path w="11554354" h="576792">
                <a:moveTo>
                  <a:pt x="63499" y="0"/>
                </a:moveTo>
                <a:lnTo>
                  <a:pt x="11490855" y="0"/>
                </a:lnTo>
                <a:cubicBezTo>
                  <a:pt x="11525925" y="0"/>
                  <a:pt x="11554354" y="28429"/>
                  <a:pt x="11554354" y="63499"/>
                </a:cubicBezTo>
                <a:lnTo>
                  <a:pt x="11554354" y="513293"/>
                </a:lnTo>
                <a:cubicBezTo>
                  <a:pt x="11554354" y="548362"/>
                  <a:pt x="11525925" y="576792"/>
                  <a:pt x="11490855" y="576792"/>
                </a:cubicBezTo>
                <a:lnTo>
                  <a:pt x="63499" y="576792"/>
                </a:lnTo>
                <a:cubicBezTo>
                  <a:pt x="28429" y="576792"/>
                  <a:pt x="0" y="548362"/>
                  <a:pt x="0" y="513293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 w="8467">
            <a:solidFill>
              <a:srgbClr val="A99A8D">
                <a:alpha val="30196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25979" y="7714176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95" name="Text 93"/>
          <p:cNvSpPr/>
          <p:nvPr/>
        </p:nvSpPr>
        <p:spPr>
          <a:xfrm>
            <a:off x="616479" y="7687717"/>
            <a:ext cx="11223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Strategy: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Premium Winter Jacket and Organic Cotton Tee are top-rated bestsellers. Summer Dresses and Athletic Shoes depend heavily on discounts (61-78%), indicating a need for margin optimization strategies.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742" y="327742"/>
            <a:ext cx="11602065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b="1" spc="103" kern="0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7742" y="589935"/>
            <a:ext cx="11733161" cy="393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97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Shopping Behavior Drivers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5935" y="1056968"/>
            <a:ext cx="5686323" cy="2884129"/>
          </a:xfrm>
          <a:custGeom>
            <a:avLst/>
            <a:gdLst/>
            <a:ahLst/>
            <a:cxnLst/>
            <a:rect l="l" t="t" r="r" b="b"/>
            <a:pathLst>
              <a:path w="5686323" h="2884129">
                <a:moveTo>
                  <a:pt x="65556" y="0"/>
                </a:moveTo>
                <a:lnTo>
                  <a:pt x="5620766" y="0"/>
                </a:lnTo>
                <a:cubicBezTo>
                  <a:pt x="5656972" y="0"/>
                  <a:pt x="5686323" y="29351"/>
                  <a:pt x="5686323" y="65556"/>
                </a:cubicBezTo>
                <a:lnTo>
                  <a:pt x="5686323" y="2818573"/>
                </a:lnTo>
                <a:cubicBezTo>
                  <a:pt x="5686323" y="2854778"/>
                  <a:pt x="5656972" y="2884129"/>
                  <a:pt x="5620766" y="2884129"/>
                </a:cubicBezTo>
                <a:lnTo>
                  <a:pt x="65556" y="2884129"/>
                </a:lnTo>
                <a:cubicBezTo>
                  <a:pt x="29351" y="2884129"/>
                  <a:pt x="0" y="2854778"/>
                  <a:pt x="0" y="2818573"/>
                </a:cubicBezTo>
                <a:lnTo>
                  <a:pt x="0" y="65556"/>
                </a:lnTo>
                <a:cubicBezTo>
                  <a:pt x="0" y="29375"/>
                  <a:pt x="29375" y="0"/>
                  <a:pt x="65556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2C3138"/>
              </a:gs>
            </a:gsLst>
            <a:lin ang="2700000" scaled="1"/>
          </a:gradFill>
          <a:ln w="25400">
            <a:solidFill>
              <a:srgbClr val="A99A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9323" y="1196258"/>
            <a:ext cx="172065" cy="196645"/>
          </a:xfrm>
          <a:custGeom>
            <a:avLst/>
            <a:gdLst/>
            <a:ahLst/>
            <a:cxnLst/>
            <a:rect l="l" t="t" r="r" b="b"/>
            <a:pathLst>
              <a:path w="172065" h="196645">
                <a:moveTo>
                  <a:pt x="73742" y="49161"/>
                </a:moveTo>
                <a:cubicBezTo>
                  <a:pt x="73742" y="28812"/>
                  <a:pt x="57221" y="12290"/>
                  <a:pt x="36871" y="12290"/>
                </a:cubicBezTo>
                <a:cubicBezTo>
                  <a:pt x="16521" y="12290"/>
                  <a:pt x="0" y="28812"/>
                  <a:pt x="0" y="49161"/>
                </a:cubicBezTo>
                <a:cubicBezTo>
                  <a:pt x="0" y="69511"/>
                  <a:pt x="16521" y="86032"/>
                  <a:pt x="36871" y="86032"/>
                </a:cubicBezTo>
                <a:cubicBezTo>
                  <a:pt x="57221" y="86032"/>
                  <a:pt x="73742" y="69511"/>
                  <a:pt x="73742" y="49161"/>
                </a:cubicBezTo>
                <a:close/>
                <a:moveTo>
                  <a:pt x="172065" y="147484"/>
                </a:moveTo>
                <a:cubicBezTo>
                  <a:pt x="172065" y="127134"/>
                  <a:pt x="155543" y="110613"/>
                  <a:pt x="135194" y="110613"/>
                </a:cubicBezTo>
                <a:cubicBezTo>
                  <a:pt x="114844" y="110613"/>
                  <a:pt x="98323" y="127134"/>
                  <a:pt x="98323" y="147484"/>
                </a:cubicBezTo>
                <a:cubicBezTo>
                  <a:pt x="98323" y="167834"/>
                  <a:pt x="114844" y="184355"/>
                  <a:pt x="135194" y="184355"/>
                </a:cubicBezTo>
                <a:cubicBezTo>
                  <a:pt x="155543" y="184355"/>
                  <a:pt x="172065" y="167834"/>
                  <a:pt x="172065" y="147484"/>
                </a:cubicBezTo>
                <a:close/>
                <a:moveTo>
                  <a:pt x="168454" y="33261"/>
                </a:moveTo>
                <a:cubicBezTo>
                  <a:pt x="173255" y="28460"/>
                  <a:pt x="173255" y="20663"/>
                  <a:pt x="168454" y="15862"/>
                </a:cubicBezTo>
                <a:cubicBezTo>
                  <a:pt x="163653" y="11061"/>
                  <a:pt x="155857" y="11061"/>
                  <a:pt x="151056" y="15862"/>
                </a:cubicBezTo>
                <a:lnTo>
                  <a:pt x="3572" y="163346"/>
                </a:lnTo>
                <a:cubicBezTo>
                  <a:pt x="-1229" y="168147"/>
                  <a:pt x="-1229" y="175944"/>
                  <a:pt x="3572" y="180745"/>
                </a:cubicBezTo>
                <a:cubicBezTo>
                  <a:pt x="8373" y="185545"/>
                  <a:pt x="16169" y="185545"/>
                  <a:pt x="20970" y="180745"/>
                </a:cubicBezTo>
                <a:lnTo>
                  <a:pt x="168454" y="33261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" name="Text 4"/>
          <p:cNvSpPr/>
          <p:nvPr/>
        </p:nvSpPr>
        <p:spPr>
          <a:xfrm>
            <a:off x="688258" y="1163484"/>
            <a:ext cx="5325806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8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Discount Impact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2452" y="1491226"/>
            <a:ext cx="2687484" cy="1032387"/>
          </a:xfrm>
          <a:custGeom>
            <a:avLst/>
            <a:gdLst/>
            <a:ahLst/>
            <a:cxnLst/>
            <a:rect l="l" t="t" r="r" b="b"/>
            <a:pathLst>
              <a:path w="2687484" h="1032387">
                <a:moveTo>
                  <a:pt x="65546" y="0"/>
                </a:moveTo>
                <a:lnTo>
                  <a:pt x="2621938" y="0"/>
                </a:lnTo>
                <a:cubicBezTo>
                  <a:pt x="2658138" y="0"/>
                  <a:pt x="2687484" y="29346"/>
                  <a:pt x="2687484" y="65546"/>
                </a:cubicBezTo>
                <a:lnTo>
                  <a:pt x="2687484" y="966841"/>
                </a:lnTo>
                <a:cubicBezTo>
                  <a:pt x="2687484" y="1003041"/>
                  <a:pt x="2658138" y="1032387"/>
                  <a:pt x="2621938" y="1032387"/>
                </a:cubicBezTo>
                <a:lnTo>
                  <a:pt x="65546" y="1032387"/>
                </a:lnTo>
                <a:cubicBezTo>
                  <a:pt x="29346" y="1032387"/>
                  <a:pt x="0" y="1003041"/>
                  <a:pt x="0" y="966841"/>
                </a:cubicBezTo>
                <a:lnTo>
                  <a:pt x="0" y="65546"/>
                </a:lnTo>
                <a:cubicBezTo>
                  <a:pt x="0" y="29370"/>
                  <a:pt x="29370" y="0"/>
                  <a:pt x="65546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Shape 6"/>
          <p:cNvSpPr/>
          <p:nvPr/>
        </p:nvSpPr>
        <p:spPr>
          <a:xfrm>
            <a:off x="1665339" y="1589548"/>
            <a:ext cx="245806" cy="245806"/>
          </a:xfrm>
          <a:custGeom>
            <a:avLst/>
            <a:gdLst/>
            <a:ahLst/>
            <a:cxnLst/>
            <a:rect l="l" t="t" r="r" b="b"/>
            <a:pathLst>
              <a:path w="245806" h="245806">
                <a:moveTo>
                  <a:pt x="15603" y="46089"/>
                </a:moveTo>
                <a:lnTo>
                  <a:pt x="15603" y="117862"/>
                </a:lnTo>
                <a:cubicBezTo>
                  <a:pt x="15603" y="126024"/>
                  <a:pt x="18820" y="133849"/>
                  <a:pt x="24581" y="139610"/>
                </a:cubicBezTo>
                <a:lnTo>
                  <a:pt x="116758" y="231788"/>
                </a:lnTo>
                <a:cubicBezTo>
                  <a:pt x="128760" y="243790"/>
                  <a:pt x="148204" y="243790"/>
                  <a:pt x="160206" y="231788"/>
                </a:cubicBezTo>
                <a:lnTo>
                  <a:pt x="231980" y="160014"/>
                </a:lnTo>
                <a:cubicBezTo>
                  <a:pt x="243982" y="148012"/>
                  <a:pt x="243982" y="128568"/>
                  <a:pt x="231980" y="116566"/>
                </a:cubicBezTo>
                <a:lnTo>
                  <a:pt x="139802" y="24389"/>
                </a:lnTo>
                <a:cubicBezTo>
                  <a:pt x="134041" y="18580"/>
                  <a:pt x="126264" y="15363"/>
                  <a:pt x="118102" y="15363"/>
                </a:cubicBezTo>
                <a:lnTo>
                  <a:pt x="46329" y="15363"/>
                </a:lnTo>
                <a:cubicBezTo>
                  <a:pt x="29382" y="15363"/>
                  <a:pt x="15603" y="29142"/>
                  <a:pt x="15603" y="46089"/>
                </a:cubicBezTo>
                <a:close/>
                <a:moveTo>
                  <a:pt x="69373" y="53770"/>
                </a:moveTo>
                <a:cubicBezTo>
                  <a:pt x="77852" y="53770"/>
                  <a:pt x="84736" y="60654"/>
                  <a:pt x="84736" y="69133"/>
                </a:cubicBezTo>
                <a:cubicBezTo>
                  <a:pt x="84736" y="77612"/>
                  <a:pt x="77852" y="84496"/>
                  <a:pt x="69373" y="84496"/>
                </a:cubicBezTo>
                <a:cubicBezTo>
                  <a:pt x="60894" y="84496"/>
                  <a:pt x="54010" y="77612"/>
                  <a:pt x="54010" y="69133"/>
                </a:cubicBezTo>
                <a:cubicBezTo>
                  <a:pt x="54010" y="60654"/>
                  <a:pt x="60894" y="53770"/>
                  <a:pt x="69373" y="5377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9" name="Text 7"/>
          <p:cNvSpPr/>
          <p:nvPr/>
        </p:nvSpPr>
        <p:spPr>
          <a:xfrm>
            <a:off x="479323" y="1900903"/>
            <a:ext cx="2613742" cy="294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5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8000" y="2228645"/>
            <a:ext cx="2556387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2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Discounts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28258" y="1491226"/>
            <a:ext cx="2687484" cy="1032387"/>
          </a:xfrm>
          <a:custGeom>
            <a:avLst/>
            <a:gdLst/>
            <a:ahLst/>
            <a:cxnLst/>
            <a:rect l="l" t="t" r="r" b="b"/>
            <a:pathLst>
              <a:path w="2687484" h="1032387">
                <a:moveTo>
                  <a:pt x="65546" y="0"/>
                </a:moveTo>
                <a:lnTo>
                  <a:pt x="2621938" y="0"/>
                </a:lnTo>
                <a:cubicBezTo>
                  <a:pt x="2658138" y="0"/>
                  <a:pt x="2687484" y="29346"/>
                  <a:pt x="2687484" y="65546"/>
                </a:cubicBezTo>
                <a:lnTo>
                  <a:pt x="2687484" y="966841"/>
                </a:lnTo>
                <a:cubicBezTo>
                  <a:pt x="2687484" y="1003041"/>
                  <a:pt x="2658138" y="1032387"/>
                  <a:pt x="2621938" y="1032387"/>
                </a:cubicBezTo>
                <a:lnTo>
                  <a:pt x="65546" y="1032387"/>
                </a:lnTo>
                <a:cubicBezTo>
                  <a:pt x="29346" y="1032387"/>
                  <a:pt x="0" y="1003041"/>
                  <a:pt x="0" y="966841"/>
                </a:cubicBezTo>
                <a:lnTo>
                  <a:pt x="0" y="65546"/>
                </a:lnTo>
                <a:cubicBezTo>
                  <a:pt x="0" y="29370"/>
                  <a:pt x="29370" y="0"/>
                  <a:pt x="65546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Shape 10"/>
          <p:cNvSpPr/>
          <p:nvPr/>
        </p:nvSpPr>
        <p:spPr>
          <a:xfrm>
            <a:off x="4451145" y="1589548"/>
            <a:ext cx="245806" cy="245806"/>
          </a:xfrm>
          <a:custGeom>
            <a:avLst/>
            <a:gdLst/>
            <a:ahLst/>
            <a:cxnLst/>
            <a:rect l="l" t="t" r="r" b="b"/>
            <a:pathLst>
              <a:path w="245806" h="245806">
                <a:moveTo>
                  <a:pt x="30726" y="30726"/>
                </a:moveTo>
                <a:cubicBezTo>
                  <a:pt x="30726" y="22228"/>
                  <a:pt x="23861" y="15363"/>
                  <a:pt x="15363" y="15363"/>
                </a:cubicBezTo>
                <a:cubicBezTo>
                  <a:pt x="6865" y="15363"/>
                  <a:pt x="0" y="22228"/>
                  <a:pt x="0" y="30726"/>
                </a:cubicBezTo>
                <a:lnTo>
                  <a:pt x="0" y="192036"/>
                </a:lnTo>
                <a:cubicBezTo>
                  <a:pt x="0" y="213256"/>
                  <a:pt x="17187" y="230444"/>
                  <a:pt x="38407" y="230444"/>
                </a:cubicBezTo>
                <a:lnTo>
                  <a:pt x="230444" y="230444"/>
                </a:lnTo>
                <a:cubicBezTo>
                  <a:pt x="238941" y="230444"/>
                  <a:pt x="245806" y="223578"/>
                  <a:pt x="245806" y="215081"/>
                </a:cubicBezTo>
                <a:cubicBezTo>
                  <a:pt x="245806" y="206583"/>
                  <a:pt x="238941" y="199718"/>
                  <a:pt x="230444" y="199718"/>
                </a:cubicBezTo>
                <a:lnTo>
                  <a:pt x="38407" y="199718"/>
                </a:lnTo>
                <a:cubicBezTo>
                  <a:pt x="34182" y="199718"/>
                  <a:pt x="30726" y="196261"/>
                  <a:pt x="30726" y="192036"/>
                </a:cubicBezTo>
                <a:lnTo>
                  <a:pt x="30726" y="30726"/>
                </a:lnTo>
                <a:close/>
                <a:moveTo>
                  <a:pt x="225931" y="72302"/>
                </a:moveTo>
                <a:cubicBezTo>
                  <a:pt x="231932" y="66301"/>
                  <a:pt x="231932" y="56555"/>
                  <a:pt x="225931" y="50554"/>
                </a:cubicBezTo>
                <a:cubicBezTo>
                  <a:pt x="219930" y="44552"/>
                  <a:pt x="210184" y="44552"/>
                  <a:pt x="204183" y="50554"/>
                </a:cubicBezTo>
                <a:lnTo>
                  <a:pt x="153629" y="101155"/>
                </a:lnTo>
                <a:lnTo>
                  <a:pt x="126072" y="73646"/>
                </a:lnTo>
                <a:cubicBezTo>
                  <a:pt x="120071" y="67645"/>
                  <a:pt x="110325" y="67645"/>
                  <a:pt x="104324" y="73646"/>
                </a:cubicBezTo>
                <a:lnTo>
                  <a:pt x="58235" y="119735"/>
                </a:lnTo>
                <a:cubicBezTo>
                  <a:pt x="52234" y="125736"/>
                  <a:pt x="52234" y="135482"/>
                  <a:pt x="58235" y="141483"/>
                </a:cubicBezTo>
                <a:cubicBezTo>
                  <a:pt x="64236" y="147484"/>
                  <a:pt x="73982" y="147484"/>
                  <a:pt x="79983" y="141483"/>
                </a:cubicBezTo>
                <a:lnTo>
                  <a:pt x="115222" y="106244"/>
                </a:lnTo>
                <a:lnTo>
                  <a:pt x="142779" y="133801"/>
                </a:lnTo>
                <a:cubicBezTo>
                  <a:pt x="148780" y="139802"/>
                  <a:pt x="158526" y="139802"/>
                  <a:pt x="164527" y="133801"/>
                </a:cubicBezTo>
                <a:lnTo>
                  <a:pt x="225979" y="72350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3" name="Text 11"/>
          <p:cNvSpPr/>
          <p:nvPr/>
        </p:nvSpPr>
        <p:spPr>
          <a:xfrm>
            <a:off x="3265129" y="1900903"/>
            <a:ext cx="2613742" cy="294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5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+42%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3806" y="2228645"/>
            <a:ext cx="2556387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2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Lift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2452" y="2589161"/>
            <a:ext cx="5473290" cy="1245419"/>
          </a:xfrm>
          <a:custGeom>
            <a:avLst/>
            <a:gdLst/>
            <a:ahLst/>
            <a:cxnLst/>
            <a:rect l="l" t="t" r="r" b="b"/>
            <a:pathLst>
              <a:path w="5473290" h="1245419">
                <a:moveTo>
                  <a:pt x="65546" y="0"/>
                </a:moveTo>
                <a:lnTo>
                  <a:pt x="5407744" y="0"/>
                </a:lnTo>
                <a:cubicBezTo>
                  <a:pt x="5443944" y="0"/>
                  <a:pt x="5473290" y="29346"/>
                  <a:pt x="5473290" y="65546"/>
                </a:cubicBezTo>
                <a:lnTo>
                  <a:pt x="5473290" y="1179873"/>
                </a:lnTo>
                <a:cubicBezTo>
                  <a:pt x="5473290" y="1216073"/>
                  <a:pt x="5443944" y="1245419"/>
                  <a:pt x="5407744" y="1245419"/>
                </a:cubicBezTo>
                <a:lnTo>
                  <a:pt x="65546" y="1245419"/>
                </a:lnTo>
                <a:cubicBezTo>
                  <a:pt x="29346" y="1245419"/>
                  <a:pt x="0" y="1216073"/>
                  <a:pt x="0" y="1179873"/>
                </a:cubicBezTo>
                <a:lnTo>
                  <a:pt x="0" y="65546"/>
                </a:lnTo>
                <a:cubicBezTo>
                  <a:pt x="0" y="29370"/>
                  <a:pt x="29370" y="0"/>
                  <a:pt x="65546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540774" y="2687484"/>
            <a:ext cx="5350387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Discount Strategy Effectiveness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0774" y="2998839"/>
            <a:ext cx="1065161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Discount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46606" y="2982452"/>
            <a:ext cx="344129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0774" y="3261032"/>
            <a:ext cx="884903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 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98981" y="3244645"/>
            <a:ext cx="393290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-15%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0774" y="3523226"/>
            <a:ext cx="991419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Conversion Rate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65182" y="3506839"/>
            <a:ext cx="426065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+35%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0473" y="4050344"/>
            <a:ext cx="5699978" cy="2135785"/>
          </a:xfrm>
          <a:custGeom>
            <a:avLst/>
            <a:gdLst/>
            <a:ahLst/>
            <a:cxnLst/>
            <a:rect l="l" t="t" r="r" b="b"/>
            <a:pathLst>
              <a:path w="5699978" h="2135785">
                <a:moveTo>
                  <a:pt x="65547" y="0"/>
                </a:moveTo>
                <a:lnTo>
                  <a:pt x="5634431" y="0"/>
                </a:lnTo>
                <a:cubicBezTo>
                  <a:pt x="5670632" y="0"/>
                  <a:pt x="5699978" y="29346"/>
                  <a:pt x="5699978" y="65547"/>
                </a:cubicBezTo>
                <a:lnTo>
                  <a:pt x="5699978" y="2070238"/>
                </a:lnTo>
                <a:cubicBezTo>
                  <a:pt x="5699978" y="2106414"/>
                  <a:pt x="5670608" y="2135785"/>
                  <a:pt x="5634431" y="2135785"/>
                </a:cubicBezTo>
                <a:lnTo>
                  <a:pt x="65547" y="2135785"/>
                </a:lnTo>
                <a:cubicBezTo>
                  <a:pt x="29346" y="2135785"/>
                  <a:pt x="0" y="2106438"/>
                  <a:pt x="0" y="2070238"/>
                </a:cubicBezTo>
                <a:lnTo>
                  <a:pt x="0" y="65547"/>
                </a:lnTo>
                <a:cubicBezTo>
                  <a:pt x="0" y="29347"/>
                  <a:pt x="29346" y="0"/>
                  <a:pt x="65547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27" y="4184171"/>
            <a:ext cx="204839" cy="163871"/>
          </a:xfrm>
          <a:custGeom>
            <a:avLst/>
            <a:gdLst/>
            <a:ahLst/>
            <a:cxnLst/>
            <a:rect l="l" t="t" r="r" b="b"/>
            <a:pathLst>
              <a:path w="204839" h="163871">
                <a:moveTo>
                  <a:pt x="20484" y="30726"/>
                </a:moveTo>
                <a:cubicBezTo>
                  <a:pt x="20484" y="19428"/>
                  <a:pt x="29670" y="10242"/>
                  <a:pt x="40968" y="10242"/>
                </a:cubicBezTo>
                <a:lnTo>
                  <a:pt x="133145" y="10242"/>
                </a:lnTo>
                <a:cubicBezTo>
                  <a:pt x="144443" y="10242"/>
                  <a:pt x="153629" y="19428"/>
                  <a:pt x="153629" y="30726"/>
                </a:cubicBezTo>
                <a:lnTo>
                  <a:pt x="153629" y="40968"/>
                </a:lnTo>
                <a:lnTo>
                  <a:pt x="169856" y="40968"/>
                </a:lnTo>
                <a:cubicBezTo>
                  <a:pt x="175297" y="40968"/>
                  <a:pt x="180514" y="43112"/>
                  <a:pt x="184355" y="46953"/>
                </a:cubicBezTo>
                <a:lnTo>
                  <a:pt x="198854" y="61452"/>
                </a:lnTo>
                <a:cubicBezTo>
                  <a:pt x="202694" y="65292"/>
                  <a:pt x="204839" y="70509"/>
                  <a:pt x="204839" y="75950"/>
                </a:cubicBezTo>
                <a:lnTo>
                  <a:pt x="204839" y="122903"/>
                </a:lnTo>
                <a:cubicBezTo>
                  <a:pt x="204839" y="134201"/>
                  <a:pt x="195653" y="143387"/>
                  <a:pt x="184355" y="143387"/>
                </a:cubicBezTo>
                <a:lnTo>
                  <a:pt x="183299" y="143387"/>
                </a:lnTo>
                <a:cubicBezTo>
                  <a:pt x="179970" y="155197"/>
                  <a:pt x="169088" y="163871"/>
                  <a:pt x="156190" y="163871"/>
                </a:cubicBezTo>
                <a:cubicBezTo>
                  <a:pt x="143291" y="163871"/>
                  <a:pt x="132441" y="155197"/>
                  <a:pt x="129080" y="143387"/>
                </a:cubicBezTo>
                <a:lnTo>
                  <a:pt x="96242" y="143387"/>
                </a:lnTo>
                <a:cubicBezTo>
                  <a:pt x="92914" y="155197"/>
                  <a:pt x="82032" y="163871"/>
                  <a:pt x="69133" y="163871"/>
                </a:cubicBezTo>
                <a:cubicBezTo>
                  <a:pt x="56235" y="163871"/>
                  <a:pt x="45385" y="155197"/>
                  <a:pt x="42024" y="143387"/>
                </a:cubicBezTo>
                <a:lnTo>
                  <a:pt x="40968" y="143387"/>
                </a:lnTo>
                <a:cubicBezTo>
                  <a:pt x="29670" y="143387"/>
                  <a:pt x="20484" y="134201"/>
                  <a:pt x="20484" y="122903"/>
                </a:cubicBezTo>
                <a:lnTo>
                  <a:pt x="20484" y="107540"/>
                </a:lnTo>
                <a:lnTo>
                  <a:pt x="7681" y="107540"/>
                </a:lnTo>
                <a:cubicBezTo>
                  <a:pt x="3425" y="107540"/>
                  <a:pt x="0" y="104116"/>
                  <a:pt x="0" y="99859"/>
                </a:cubicBezTo>
                <a:cubicBezTo>
                  <a:pt x="0" y="95602"/>
                  <a:pt x="3425" y="92177"/>
                  <a:pt x="7681" y="92177"/>
                </a:cubicBezTo>
                <a:lnTo>
                  <a:pt x="43528" y="92177"/>
                </a:lnTo>
                <a:cubicBezTo>
                  <a:pt x="47785" y="92177"/>
                  <a:pt x="51210" y="88753"/>
                  <a:pt x="51210" y="84496"/>
                </a:cubicBezTo>
                <a:cubicBezTo>
                  <a:pt x="51210" y="80239"/>
                  <a:pt x="47785" y="76815"/>
                  <a:pt x="43528" y="76815"/>
                </a:cubicBezTo>
                <a:lnTo>
                  <a:pt x="7681" y="76815"/>
                </a:lnTo>
                <a:cubicBezTo>
                  <a:pt x="3425" y="76815"/>
                  <a:pt x="0" y="73390"/>
                  <a:pt x="0" y="69133"/>
                </a:cubicBezTo>
                <a:cubicBezTo>
                  <a:pt x="0" y="64876"/>
                  <a:pt x="3425" y="61452"/>
                  <a:pt x="7681" y="61452"/>
                </a:cubicBezTo>
                <a:lnTo>
                  <a:pt x="64012" y="61452"/>
                </a:lnTo>
                <a:cubicBezTo>
                  <a:pt x="68269" y="61452"/>
                  <a:pt x="71694" y="58027"/>
                  <a:pt x="71694" y="53770"/>
                </a:cubicBezTo>
                <a:cubicBezTo>
                  <a:pt x="71694" y="49513"/>
                  <a:pt x="68269" y="46089"/>
                  <a:pt x="64012" y="46089"/>
                </a:cubicBezTo>
                <a:lnTo>
                  <a:pt x="7681" y="46089"/>
                </a:lnTo>
                <a:cubicBezTo>
                  <a:pt x="3425" y="46089"/>
                  <a:pt x="0" y="42664"/>
                  <a:pt x="0" y="38407"/>
                </a:cubicBezTo>
                <a:cubicBezTo>
                  <a:pt x="0" y="34150"/>
                  <a:pt x="3425" y="30726"/>
                  <a:pt x="7681" y="30726"/>
                </a:cubicBezTo>
                <a:lnTo>
                  <a:pt x="20484" y="30726"/>
                </a:lnTo>
                <a:close/>
                <a:moveTo>
                  <a:pt x="184355" y="92177"/>
                </a:moveTo>
                <a:lnTo>
                  <a:pt x="184355" y="75950"/>
                </a:lnTo>
                <a:lnTo>
                  <a:pt x="169856" y="61452"/>
                </a:lnTo>
                <a:lnTo>
                  <a:pt x="153629" y="61452"/>
                </a:lnTo>
                <a:lnTo>
                  <a:pt x="153629" y="92177"/>
                </a:lnTo>
                <a:lnTo>
                  <a:pt x="184355" y="92177"/>
                </a:lnTo>
                <a:close/>
                <a:moveTo>
                  <a:pt x="81935" y="135706"/>
                </a:moveTo>
                <a:cubicBezTo>
                  <a:pt x="81935" y="128640"/>
                  <a:pt x="76199" y="122903"/>
                  <a:pt x="69133" y="122903"/>
                </a:cubicBezTo>
                <a:cubicBezTo>
                  <a:pt x="62067" y="122903"/>
                  <a:pt x="56331" y="128640"/>
                  <a:pt x="56331" y="135706"/>
                </a:cubicBezTo>
                <a:cubicBezTo>
                  <a:pt x="56331" y="142771"/>
                  <a:pt x="62067" y="148508"/>
                  <a:pt x="69133" y="148508"/>
                </a:cubicBezTo>
                <a:cubicBezTo>
                  <a:pt x="76199" y="148508"/>
                  <a:pt x="81935" y="142771"/>
                  <a:pt x="81935" y="135706"/>
                </a:cubicBezTo>
                <a:close/>
                <a:moveTo>
                  <a:pt x="156190" y="148508"/>
                </a:moveTo>
                <a:cubicBezTo>
                  <a:pt x="163255" y="148508"/>
                  <a:pt x="168992" y="142771"/>
                  <a:pt x="168992" y="135706"/>
                </a:cubicBezTo>
                <a:cubicBezTo>
                  <a:pt x="168992" y="128640"/>
                  <a:pt x="163255" y="122903"/>
                  <a:pt x="156190" y="122903"/>
                </a:cubicBezTo>
                <a:cubicBezTo>
                  <a:pt x="149124" y="122903"/>
                  <a:pt x="143387" y="128640"/>
                  <a:pt x="143387" y="135706"/>
                </a:cubicBezTo>
                <a:cubicBezTo>
                  <a:pt x="143387" y="142771"/>
                  <a:pt x="149124" y="148508"/>
                  <a:pt x="156190" y="148508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25" name="Text 23"/>
          <p:cNvSpPr/>
          <p:nvPr/>
        </p:nvSpPr>
        <p:spPr>
          <a:xfrm>
            <a:off x="636366" y="4151397"/>
            <a:ext cx="5374968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Shipping Preferences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7914" y="4446364"/>
            <a:ext cx="5481484" cy="786581"/>
          </a:xfrm>
          <a:custGeom>
            <a:avLst/>
            <a:gdLst/>
            <a:ahLst/>
            <a:cxnLst/>
            <a:rect l="l" t="t" r="r" b="b"/>
            <a:pathLst>
              <a:path w="5481484" h="786581">
                <a:moveTo>
                  <a:pt x="32774" y="0"/>
                </a:moveTo>
                <a:lnTo>
                  <a:pt x="5415938" y="0"/>
                </a:lnTo>
                <a:cubicBezTo>
                  <a:pt x="5452138" y="0"/>
                  <a:pt x="5481484" y="29346"/>
                  <a:pt x="5481484" y="65546"/>
                </a:cubicBezTo>
                <a:lnTo>
                  <a:pt x="5481484" y="721035"/>
                </a:lnTo>
                <a:cubicBezTo>
                  <a:pt x="5481484" y="757235"/>
                  <a:pt x="5452138" y="786581"/>
                  <a:pt x="5415938" y="786581"/>
                </a:cubicBezTo>
                <a:lnTo>
                  <a:pt x="32774" y="786581"/>
                </a:lnTo>
                <a:cubicBezTo>
                  <a:pt x="14674" y="786581"/>
                  <a:pt x="0" y="771907"/>
                  <a:pt x="0" y="753806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Shape 25"/>
          <p:cNvSpPr/>
          <p:nvPr/>
        </p:nvSpPr>
        <p:spPr>
          <a:xfrm>
            <a:off x="447914" y="4446364"/>
            <a:ext cx="32774" cy="786581"/>
          </a:xfrm>
          <a:custGeom>
            <a:avLst/>
            <a:gdLst/>
            <a:ahLst/>
            <a:cxnLst/>
            <a:rect l="l" t="t" r="r" b="b"/>
            <a:pathLst>
              <a:path w="32774" h="786581">
                <a:moveTo>
                  <a:pt x="32774" y="0"/>
                </a:moveTo>
                <a:lnTo>
                  <a:pt x="32774" y="0"/>
                </a:lnTo>
                <a:lnTo>
                  <a:pt x="32774" y="786581"/>
                </a:lnTo>
                <a:lnTo>
                  <a:pt x="32774" y="786581"/>
                </a:lnTo>
                <a:cubicBezTo>
                  <a:pt x="14674" y="786581"/>
                  <a:pt x="0" y="771907"/>
                  <a:pt x="0" y="753806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8" name="Text 26"/>
          <p:cNvSpPr/>
          <p:nvPr/>
        </p:nvSpPr>
        <p:spPr>
          <a:xfrm>
            <a:off x="562624" y="4561074"/>
            <a:ext cx="1720645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 Shipping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2624" y="4790493"/>
            <a:ext cx="1712452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delivery preference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90981" y="4544687"/>
            <a:ext cx="835742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48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3755" y="4806880"/>
            <a:ext cx="802968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32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customers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2624" y="5069074"/>
            <a:ext cx="5268452" cy="65548"/>
          </a:xfrm>
          <a:custGeom>
            <a:avLst/>
            <a:gdLst/>
            <a:ahLst/>
            <a:cxnLst/>
            <a:rect l="l" t="t" r="r" b="b"/>
            <a:pathLst>
              <a:path w="5268452" h="65548">
                <a:moveTo>
                  <a:pt x="32774" y="0"/>
                </a:moveTo>
                <a:lnTo>
                  <a:pt x="5235677" y="0"/>
                </a:lnTo>
                <a:cubicBezTo>
                  <a:pt x="5253778" y="0"/>
                  <a:pt x="5268452" y="14674"/>
                  <a:pt x="5268452" y="32774"/>
                </a:cubicBezTo>
                <a:lnTo>
                  <a:pt x="5268452" y="32774"/>
                </a:lnTo>
                <a:cubicBezTo>
                  <a:pt x="5268452" y="50875"/>
                  <a:pt x="5253778" y="65548"/>
                  <a:pt x="5235677" y="65548"/>
                </a:cubicBezTo>
                <a:lnTo>
                  <a:pt x="32774" y="65548"/>
                </a:lnTo>
                <a:cubicBezTo>
                  <a:pt x="14686" y="65548"/>
                  <a:pt x="0" y="50863"/>
                  <a:pt x="0" y="32774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33" name="Shape 31"/>
          <p:cNvSpPr/>
          <p:nvPr/>
        </p:nvSpPr>
        <p:spPr>
          <a:xfrm>
            <a:off x="562624" y="5069074"/>
            <a:ext cx="1843548" cy="65548"/>
          </a:xfrm>
          <a:custGeom>
            <a:avLst/>
            <a:gdLst/>
            <a:ahLst/>
            <a:cxnLst/>
            <a:rect l="l" t="t" r="r" b="b"/>
            <a:pathLst>
              <a:path w="1843548" h="65548">
                <a:moveTo>
                  <a:pt x="32774" y="0"/>
                </a:moveTo>
                <a:lnTo>
                  <a:pt x="1810774" y="0"/>
                </a:lnTo>
                <a:cubicBezTo>
                  <a:pt x="1828875" y="0"/>
                  <a:pt x="1843548" y="14674"/>
                  <a:pt x="1843548" y="32774"/>
                </a:cubicBezTo>
                <a:lnTo>
                  <a:pt x="1843548" y="32774"/>
                </a:lnTo>
                <a:cubicBezTo>
                  <a:pt x="1843548" y="50875"/>
                  <a:pt x="1828875" y="65548"/>
                  <a:pt x="1810774" y="65548"/>
                </a:cubicBezTo>
                <a:lnTo>
                  <a:pt x="32774" y="65548"/>
                </a:lnTo>
                <a:cubicBezTo>
                  <a:pt x="14686" y="65548"/>
                  <a:pt x="0" y="50863"/>
                  <a:pt x="0" y="32774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34" name="Shape 32"/>
          <p:cNvSpPr/>
          <p:nvPr/>
        </p:nvSpPr>
        <p:spPr>
          <a:xfrm>
            <a:off x="447914" y="5298493"/>
            <a:ext cx="5481484" cy="786581"/>
          </a:xfrm>
          <a:custGeom>
            <a:avLst/>
            <a:gdLst/>
            <a:ahLst/>
            <a:cxnLst/>
            <a:rect l="l" t="t" r="r" b="b"/>
            <a:pathLst>
              <a:path w="5481484" h="786581">
                <a:moveTo>
                  <a:pt x="32774" y="0"/>
                </a:moveTo>
                <a:lnTo>
                  <a:pt x="5415938" y="0"/>
                </a:lnTo>
                <a:cubicBezTo>
                  <a:pt x="5452138" y="0"/>
                  <a:pt x="5481484" y="29346"/>
                  <a:pt x="5481484" y="65546"/>
                </a:cubicBezTo>
                <a:lnTo>
                  <a:pt x="5481484" y="721035"/>
                </a:lnTo>
                <a:cubicBezTo>
                  <a:pt x="5481484" y="757235"/>
                  <a:pt x="5452138" y="786581"/>
                  <a:pt x="5415938" y="786581"/>
                </a:cubicBezTo>
                <a:lnTo>
                  <a:pt x="32774" y="786581"/>
                </a:lnTo>
                <a:cubicBezTo>
                  <a:pt x="14674" y="786581"/>
                  <a:pt x="0" y="771907"/>
                  <a:pt x="0" y="753806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Shape 33"/>
          <p:cNvSpPr/>
          <p:nvPr/>
        </p:nvSpPr>
        <p:spPr>
          <a:xfrm>
            <a:off x="447914" y="5298493"/>
            <a:ext cx="32774" cy="786581"/>
          </a:xfrm>
          <a:custGeom>
            <a:avLst/>
            <a:gdLst/>
            <a:ahLst/>
            <a:cxnLst/>
            <a:rect l="l" t="t" r="r" b="b"/>
            <a:pathLst>
              <a:path w="32774" h="786581">
                <a:moveTo>
                  <a:pt x="32774" y="0"/>
                </a:moveTo>
                <a:lnTo>
                  <a:pt x="32774" y="0"/>
                </a:lnTo>
                <a:lnTo>
                  <a:pt x="32774" y="786581"/>
                </a:lnTo>
                <a:lnTo>
                  <a:pt x="32774" y="786581"/>
                </a:lnTo>
                <a:cubicBezTo>
                  <a:pt x="14674" y="786581"/>
                  <a:pt x="0" y="771907"/>
                  <a:pt x="0" y="753806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2624" y="5413203"/>
            <a:ext cx="1368323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Shipping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2624" y="5642622"/>
            <a:ext cx="1360129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Cost-conscious choice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90981" y="5396816"/>
            <a:ext cx="835742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48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23755" y="5659009"/>
            <a:ext cx="802968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32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customers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2624" y="5921203"/>
            <a:ext cx="5268452" cy="65548"/>
          </a:xfrm>
          <a:custGeom>
            <a:avLst/>
            <a:gdLst/>
            <a:ahLst/>
            <a:cxnLst/>
            <a:rect l="l" t="t" r="r" b="b"/>
            <a:pathLst>
              <a:path w="5268452" h="65548">
                <a:moveTo>
                  <a:pt x="32774" y="0"/>
                </a:moveTo>
                <a:lnTo>
                  <a:pt x="5235677" y="0"/>
                </a:lnTo>
                <a:cubicBezTo>
                  <a:pt x="5253778" y="0"/>
                  <a:pt x="5268452" y="14674"/>
                  <a:pt x="5268452" y="32774"/>
                </a:cubicBezTo>
                <a:lnTo>
                  <a:pt x="5268452" y="32774"/>
                </a:lnTo>
                <a:cubicBezTo>
                  <a:pt x="5268452" y="50875"/>
                  <a:pt x="5253778" y="65548"/>
                  <a:pt x="5235677" y="65548"/>
                </a:cubicBezTo>
                <a:lnTo>
                  <a:pt x="32774" y="65548"/>
                </a:lnTo>
                <a:cubicBezTo>
                  <a:pt x="14686" y="65548"/>
                  <a:pt x="0" y="50863"/>
                  <a:pt x="0" y="32774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41" name="Shape 39"/>
          <p:cNvSpPr/>
          <p:nvPr/>
        </p:nvSpPr>
        <p:spPr>
          <a:xfrm>
            <a:off x="562624" y="5921203"/>
            <a:ext cx="3424903" cy="65548"/>
          </a:xfrm>
          <a:custGeom>
            <a:avLst/>
            <a:gdLst/>
            <a:ahLst/>
            <a:cxnLst/>
            <a:rect l="l" t="t" r="r" b="b"/>
            <a:pathLst>
              <a:path w="3424903" h="65548">
                <a:moveTo>
                  <a:pt x="32774" y="0"/>
                </a:moveTo>
                <a:lnTo>
                  <a:pt x="3392129" y="0"/>
                </a:lnTo>
                <a:cubicBezTo>
                  <a:pt x="3410230" y="0"/>
                  <a:pt x="3424903" y="14674"/>
                  <a:pt x="3424903" y="32774"/>
                </a:cubicBezTo>
                <a:lnTo>
                  <a:pt x="3424903" y="32774"/>
                </a:lnTo>
                <a:cubicBezTo>
                  <a:pt x="3424903" y="50875"/>
                  <a:pt x="3410230" y="65548"/>
                  <a:pt x="3392129" y="65548"/>
                </a:cubicBezTo>
                <a:lnTo>
                  <a:pt x="32774" y="65548"/>
                </a:lnTo>
                <a:cubicBezTo>
                  <a:pt x="14686" y="65548"/>
                  <a:pt x="0" y="50863"/>
                  <a:pt x="0" y="32774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42" name="Shape 40"/>
          <p:cNvSpPr/>
          <p:nvPr/>
        </p:nvSpPr>
        <p:spPr>
          <a:xfrm>
            <a:off x="6164280" y="1051505"/>
            <a:ext cx="5699978" cy="3995720"/>
          </a:xfrm>
          <a:custGeom>
            <a:avLst/>
            <a:gdLst/>
            <a:ahLst/>
            <a:cxnLst/>
            <a:rect l="l" t="t" r="r" b="b"/>
            <a:pathLst>
              <a:path w="5699978" h="3995720">
                <a:moveTo>
                  <a:pt x="65530" y="0"/>
                </a:moveTo>
                <a:lnTo>
                  <a:pt x="5634449" y="0"/>
                </a:lnTo>
                <a:cubicBezTo>
                  <a:pt x="5670640" y="0"/>
                  <a:pt x="5699978" y="29339"/>
                  <a:pt x="5699978" y="65530"/>
                </a:cubicBezTo>
                <a:lnTo>
                  <a:pt x="5699978" y="3930191"/>
                </a:lnTo>
                <a:cubicBezTo>
                  <a:pt x="5699978" y="3966382"/>
                  <a:pt x="5670640" y="3995720"/>
                  <a:pt x="5634449" y="3995720"/>
                </a:cubicBezTo>
                <a:lnTo>
                  <a:pt x="65530" y="3995720"/>
                </a:lnTo>
                <a:cubicBezTo>
                  <a:pt x="29339" y="3995720"/>
                  <a:pt x="0" y="3966382"/>
                  <a:pt x="0" y="3930191"/>
                </a:cubicBezTo>
                <a:lnTo>
                  <a:pt x="0" y="65530"/>
                </a:lnTo>
                <a:cubicBezTo>
                  <a:pt x="0" y="29339"/>
                  <a:pt x="29339" y="0"/>
                  <a:pt x="65530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89914" y="1185332"/>
            <a:ext cx="196645" cy="196645"/>
          </a:xfrm>
          <a:custGeom>
            <a:avLst/>
            <a:gdLst/>
            <a:ahLst/>
            <a:cxnLst/>
            <a:rect l="l" t="t" r="r" b="b"/>
            <a:pathLst>
              <a:path w="196645" h="196645">
                <a:moveTo>
                  <a:pt x="184393" y="73742"/>
                </a:moveTo>
                <a:lnTo>
                  <a:pt x="187427" y="73742"/>
                </a:lnTo>
                <a:cubicBezTo>
                  <a:pt x="192536" y="73742"/>
                  <a:pt x="196645" y="69632"/>
                  <a:pt x="196645" y="64524"/>
                </a:cubicBezTo>
                <a:lnTo>
                  <a:pt x="196645" y="9218"/>
                </a:lnTo>
                <a:cubicBezTo>
                  <a:pt x="196645" y="5492"/>
                  <a:pt x="194418" y="2112"/>
                  <a:pt x="190961" y="691"/>
                </a:cubicBezTo>
                <a:cubicBezTo>
                  <a:pt x="187504" y="-730"/>
                  <a:pt x="183548" y="77"/>
                  <a:pt x="180898" y="2689"/>
                </a:cubicBezTo>
                <a:lnTo>
                  <a:pt x="161042" y="22583"/>
                </a:lnTo>
                <a:cubicBezTo>
                  <a:pt x="144027" y="8488"/>
                  <a:pt x="122135" y="0"/>
                  <a:pt x="98323" y="0"/>
                </a:cubicBezTo>
                <a:cubicBezTo>
                  <a:pt x="48777" y="0"/>
                  <a:pt x="7797" y="36641"/>
                  <a:pt x="999" y="84304"/>
                </a:cubicBezTo>
                <a:cubicBezTo>
                  <a:pt x="38" y="91025"/>
                  <a:pt x="4686" y="97247"/>
                  <a:pt x="11407" y="98207"/>
                </a:cubicBezTo>
                <a:cubicBezTo>
                  <a:pt x="18128" y="99168"/>
                  <a:pt x="24350" y="94482"/>
                  <a:pt x="25310" y="87799"/>
                </a:cubicBezTo>
                <a:cubicBezTo>
                  <a:pt x="30419" y="52042"/>
                  <a:pt x="61183" y="24581"/>
                  <a:pt x="98323" y="24581"/>
                </a:cubicBezTo>
                <a:cubicBezTo>
                  <a:pt x="115375" y="24581"/>
                  <a:pt x="131046" y="30342"/>
                  <a:pt x="143528" y="40059"/>
                </a:cubicBezTo>
                <a:lnTo>
                  <a:pt x="125592" y="57995"/>
                </a:lnTo>
                <a:cubicBezTo>
                  <a:pt x="122942" y="60645"/>
                  <a:pt x="122173" y="64601"/>
                  <a:pt x="123595" y="68058"/>
                </a:cubicBezTo>
                <a:cubicBezTo>
                  <a:pt x="125016" y="71514"/>
                  <a:pt x="128395" y="73742"/>
                  <a:pt x="132121" y="73742"/>
                </a:cubicBezTo>
                <a:lnTo>
                  <a:pt x="184393" y="73742"/>
                </a:lnTo>
                <a:close/>
                <a:moveTo>
                  <a:pt x="195685" y="112341"/>
                </a:moveTo>
                <a:cubicBezTo>
                  <a:pt x="196645" y="105620"/>
                  <a:pt x="191959" y="99398"/>
                  <a:pt x="185277" y="98438"/>
                </a:cubicBezTo>
                <a:cubicBezTo>
                  <a:pt x="178594" y="97478"/>
                  <a:pt x="172333" y="102163"/>
                  <a:pt x="171373" y="108846"/>
                </a:cubicBezTo>
                <a:cubicBezTo>
                  <a:pt x="166265" y="144565"/>
                  <a:pt x="135501" y="172026"/>
                  <a:pt x="98361" y="172026"/>
                </a:cubicBezTo>
                <a:cubicBezTo>
                  <a:pt x="81308" y="172026"/>
                  <a:pt x="65638" y="166265"/>
                  <a:pt x="53156" y="156548"/>
                </a:cubicBezTo>
                <a:lnTo>
                  <a:pt x="71053" y="138650"/>
                </a:lnTo>
                <a:cubicBezTo>
                  <a:pt x="73704" y="136000"/>
                  <a:pt x="74472" y="132044"/>
                  <a:pt x="73051" y="128588"/>
                </a:cubicBezTo>
                <a:cubicBezTo>
                  <a:pt x="71630" y="125131"/>
                  <a:pt x="68250" y="122903"/>
                  <a:pt x="64524" y="122903"/>
                </a:cubicBezTo>
                <a:lnTo>
                  <a:pt x="9218" y="122903"/>
                </a:lnTo>
                <a:cubicBezTo>
                  <a:pt x="4110" y="122903"/>
                  <a:pt x="0" y="127013"/>
                  <a:pt x="0" y="132121"/>
                </a:cubicBezTo>
                <a:lnTo>
                  <a:pt x="0" y="187427"/>
                </a:lnTo>
                <a:cubicBezTo>
                  <a:pt x="0" y="191153"/>
                  <a:pt x="2228" y="194533"/>
                  <a:pt x="5684" y="195954"/>
                </a:cubicBezTo>
                <a:cubicBezTo>
                  <a:pt x="9141" y="197375"/>
                  <a:pt x="13097" y="196568"/>
                  <a:pt x="15747" y="193957"/>
                </a:cubicBezTo>
                <a:lnTo>
                  <a:pt x="35642" y="174062"/>
                </a:lnTo>
                <a:cubicBezTo>
                  <a:pt x="52618" y="188157"/>
                  <a:pt x="74510" y="196645"/>
                  <a:pt x="98323" y="196645"/>
                </a:cubicBezTo>
                <a:cubicBezTo>
                  <a:pt x="147868" y="196645"/>
                  <a:pt x="188848" y="160005"/>
                  <a:pt x="195647" y="112341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4" name="Text 42"/>
          <p:cNvSpPr/>
          <p:nvPr/>
        </p:nvSpPr>
        <p:spPr>
          <a:xfrm>
            <a:off x="6511140" y="1152558"/>
            <a:ext cx="5350387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8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 Frequency Patterns</a:t>
            </a:r>
            <a:endParaRPr lang="en-US" sz="1600" dirty="0"/>
          </a:p>
        </p:txBody>
      </p:sp>
      <p:pic>
        <p:nvPicPr>
          <p:cNvPr id="45" name="Image 0" descr="https://kimi-img.moonshot.cn/pub/slides/26-01-09-03:39:29-d5g0fsefaja6gaoibnmg.png">    </p:cNvPr>
          <p:cNvPicPr>
            <a:picLocks noChangeAspect="1"/>
          </p:cNvPicPr>
          <p:nvPr/>
        </p:nvPicPr>
        <p:blipFill>
          <a:blip r:embed="rId1"/>
          <a:srcRect l="0" r="0" t="29" b="29"/>
          <a:stretch/>
        </p:blipFill>
        <p:spPr>
          <a:xfrm>
            <a:off x="6265334" y="1480300"/>
            <a:ext cx="4645742" cy="2130323"/>
          </a:xfrm>
          <a:prstGeom prst="roundRect">
            <a:avLst>
              <a:gd name="adj" fmla="val 0"/>
            </a:avLst>
          </a:prstGeom>
        </p:spPr>
      </p:pic>
      <p:sp>
        <p:nvSpPr>
          <p:cNvPr id="46" name="Shape 43"/>
          <p:cNvSpPr/>
          <p:nvPr/>
        </p:nvSpPr>
        <p:spPr>
          <a:xfrm>
            <a:off x="6164280" y="5151096"/>
            <a:ext cx="5699978" cy="1824430"/>
          </a:xfrm>
          <a:custGeom>
            <a:avLst/>
            <a:gdLst/>
            <a:ahLst/>
            <a:cxnLst/>
            <a:rect l="l" t="t" r="r" b="b"/>
            <a:pathLst>
              <a:path w="5699978" h="1824430">
                <a:moveTo>
                  <a:pt x="65552" y="0"/>
                </a:moveTo>
                <a:lnTo>
                  <a:pt x="5634427" y="0"/>
                </a:lnTo>
                <a:cubicBezTo>
                  <a:pt x="5670630" y="0"/>
                  <a:pt x="5699978" y="29349"/>
                  <a:pt x="5699978" y="65552"/>
                </a:cubicBezTo>
                <a:lnTo>
                  <a:pt x="5699978" y="1758878"/>
                </a:lnTo>
                <a:cubicBezTo>
                  <a:pt x="5699978" y="1795082"/>
                  <a:pt x="5670630" y="1824430"/>
                  <a:pt x="5634427" y="1824430"/>
                </a:cubicBezTo>
                <a:lnTo>
                  <a:pt x="65552" y="1824430"/>
                </a:lnTo>
                <a:cubicBezTo>
                  <a:pt x="29349" y="1824430"/>
                  <a:pt x="0" y="1795082"/>
                  <a:pt x="0" y="1758878"/>
                </a:cubicBezTo>
                <a:lnTo>
                  <a:pt x="0" y="65552"/>
                </a:lnTo>
                <a:cubicBezTo>
                  <a:pt x="0" y="29349"/>
                  <a:pt x="29349" y="0"/>
                  <a:pt x="65552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285817" y="5284923"/>
            <a:ext cx="163871" cy="163871"/>
          </a:xfrm>
          <a:custGeom>
            <a:avLst/>
            <a:gdLst/>
            <a:ahLst/>
            <a:cxnLst/>
            <a:rect l="l" t="t" r="r" b="b"/>
            <a:pathLst>
              <a:path w="163871" h="163871">
                <a:moveTo>
                  <a:pt x="77135" y="27877"/>
                </a:moveTo>
                <a:lnTo>
                  <a:pt x="81935" y="34503"/>
                </a:lnTo>
                <a:lnTo>
                  <a:pt x="86736" y="27877"/>
                </a:lnTo>
                <a:cubicBezTo>
                  <a:pt x="94738" y="16803"/>
                  <a:pt x="107604" y="10242"/>
                  <a:pt x="121271" y="10242"/>
                </a:cubicBezTo>
                <a:cubicBezTo>
                  <a:pt x="144795" y="10242"/>
                  <a:pt x="163871" y="29318"/>
                  <a:pt x="163871" y="52842"/>
                </a:cubicBezTo>
                <a:lnTo>
                  <a:pt x="163871" y="53674"/>
                </a:lnTo>
                <a:cubicBezTo>
                  <a:pt x="163871" y="89585"/>
                  <a:pt x="119095" y="131289"/>
                  <a:pt x="95730" y="149116"/>
                </a:cubicBezTo>
                <a:cubicBezTo>
                  <a:pt x="91761" y="152125"/>
                  <a:pt x="86896" y="153629"/>
                  <a:pt x="81935" y="153629"/>
                </a:cubicBezTo>
                <a:cubicBezTo>
                  <a:pt x="76975" y="153629"/>
                  <a:pt x="72078" y="152157"/>
                  <a:pt x="68141" y="149116"/>
                </a:cubicBezTo>
                <a:cubicBezTo>
                  <a:pt x="44776" y="131289"/>
                  <a:pt x="0" y="89585"/>
                  <a:pt x="0" y="53674"/>
                </a:cubicBezTo>
                <a:lnTo>
                  <a:pt x="0" y="52842"/>
                </a:lnTo>
                <a:cubicBezTo>
                  <a:pt x="0" y="29318"/>
                  <a:pt x="19076" y="10242"/>
                  <a:pt x="42600" y="10242"/>
                </a:cubicBezTo>
                <a:cubicBezTo>
                  <a:pt x="56267" y="10242"/>
                  <a:pt x="69133" y="16803"/>
                  <a:pt x="77135" y="27877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48" name="Text 45"/>
          <p:cNvSpPr/>
          <p:nvPr/>
        </p:nvSpPr>
        <p:spPr>
          <a:xfrm>
            <a:off x="6470172" y="5252149"/>
            <a:ext cx="5374968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Subscription Correlations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265334" y="5547116"/>
            <a:ext cx="2695677" cy="1327355"/>
          </a:xfrm>
          <a:custGeom>
            <a:avLst/>
            <a:gdLst/>
            <a:ahLst/>
            <a:cxnLst/>
            <a:rect l="l" t="t" r="r" b="b"/>
            <a:pathLst>
              <a:path w="2695677" h="1327355">
                <a:moveTo>
                  <a:pt x="65545" y="0"/>
                </a:moveTo>
                <a:lnTo>
                  <a:pt x="2630133" y="0"/>
                </a:lnTo>
                <a:cubicBezTo>
                  <a:pt x="2666332" y="0"/>
                  <a:pt x="2695677" y="29345"/>
                  <a:pt x="2695677" y="65545"/>
                </a:cubicBezTo>
                <a:lnTo>
                  <a:pt x="2695677" y="1261810"/>
                </a:lnTo>
                <a:cubicBezTo>
                  <a:pt x="2695677" y="1298009"/>
                  <a:pt x="2666332" y="1327355"/>
                  <a:pt x="2630133" y="1327355"/>
                </a:cubicBezTo>
                <a:lnTo>
                  <a:pt x="65545" y="1327355"/>
                </a:lnTo>
                <a:cubicBezTo>
                  <a:pt x="29345" y="1327355"/>
                  <a:pt x="0" y="1298009"/>
                  <a:pt x="0" y="1261810"/>
                </a:cubicBezTo>
                <a:lnTo>
                  <a:pt x="0" y="65545"/>
                </a:lnTo>
                <a:cubicBezTo>
                  <a:pt x="0" y="29345"/>
                  <a:pt x="29345" y="0"/>
                  <a:pt x="6554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0" name="Shape 47"/>
          <p:cNvSpPr/>
          <p:nvPr/>
        </p:nvSpPr>
        <p:spPr>
          <a:xfrm>
            <a:off x="7509046" y="5645439"/>
            <a:ext cx="215081" cy="245806"/>
          </a:xfrm>
          <a:custGeom>
            <a:avLst/>
            <a:gdLst/>
            <a:ahLst/>
            <a:cxnLst/>
            <a:rect l="l" t="t" r="r" b="b"/>
            <a:pathLst>
              <a:path w="215081" h="245806">
                <a:moveTo>
                  <a:pt x="76815" y="38407"/>
                </a:moveTo>
                <a:cubicBezTo>
                  <a:pt x="76815" y="21460"/>
                  <a:pt x="90593" y="7681"/>
                  <a:pt x="107540" y="7681"/>
                </a:cubicBezTo>
                <a:cubicBezTo>
                  <a:pt x="124488" y="7681"/>
                  <a:pt x="138266" y="21460"/>
                  <a:pt x="138266" y="38407"/>
                </a:cubicBezTo>
                <a:lnTo>
                  <a:pt x="138266" y="61452"/>
                </a:lnTo>
                <a:lnTo>
                  <a:pt x="76815" y="61452"/>
                </a:lnTo>
                <a:lnTo>
                  <a:pt x="76815" y="38407"/>
                </a:lnTo>
                <a:close/>
                <a:moveTo>
                  <a:pt x="53770" y="61452"/>
                </a:moveTo>
                <a:lnTo>
                  <a:pt x="23044" y="61452"/>
                </a:lnTo>
                <a:cubicBezTo>
                  <a:pt x="10322" y="61452"/>
                  <a:pt x="0" y="71774"/>
                  <a:pt x="0" y="84496"/>
                </a:cubicBezTo>
                <a:lnTo>
                  <a:pt x="0" y="184355"/>
                </a:lnTo>
                <a:cubicBezTo>
                  <a:pt x="0" y="209800"/>
                  <a:pt x="20644" y="230444"/>
                  <a:pt x="46089" y="230444"/>
                </a:cubicBezTo>
                <a:lnTo>
                  <a:pt x="168992" y="230444"/>
                </a:lnTo>
                <a:cubicBezTo>
                  <a:pt x="194437" y="230444"/>
                  <a:pt x="215081" y="209800"/>
                  <a:pt x="215081" y="184355"/>
                </a:cubicBezTo>
                <a:lnTo>
                  <a:pt x="215081" y="84496"/>
                </a:lnTo>
                <a:cubicBezTo>
                  <a:pt x="215081" y="71774"/>
                  <a:pt x="204759" y="61452"/>
                  <a:pt x="192036" y="61452"/>
                </a:cubicBezTo>
                <a:lnTo>
                  <a:pt x="161310" y="61452"/>
                </a:lnTo>
                <a:lnTo>
                  <a:pt x="161310" y="38407"/>
                </a:lnTo>
                <a:cubicBezTo>
                  <a:pt x="161310" y="8690"/>
                  <a:pt x="137258" y="-15363"/>
                  <a:pt x="107540" y="-15363"/>
                </a:cubicBezTo>
                <a:cubicBezTo>
                  <a:pt x="77823" y="-15363"/>
                  <a:pt x="53770" y="8690"/>
                  <a:pt x="53770" y="38407"/>
                </a:cubicBezTo>
                <a:lnTo>
                  <a:pt x="53770" y="61452"/>
                </a:lnTo>
                <a:close/>
                <a:moveTo>
                  <a:pt x="65292" y="84496"/>
                </a:moveTo>
                <a:cubicBezTo>
                  <a:pt x="71652" y="84496"/>
                  <a:pt x="76815" y="89659"/>
                  <a:pt x="76815" y="96018"/>
                </a:cubicBezTo>
                <a:cubicBezTo>
                  <a:pt x="76815" y="102377"/>
                  <a:pt x="71652" y="107540"/>
                  <a:pt x="65292" y="107540"/>
                </a:cubicBezTo>
                <a:cubicBezTo>
                  <a:pt x="58933" y="107540"/>
                  <a:pt x="53770" y="102377"/>
                  <a:pt x="53770" y="96018"/>
                </a:cubicBezTo>
                <a:cubicBezTo>
                  <a:pt x="53770" y="89659"/>
                  <a:pt x="58933" y="84496"/>
                  <a:pt x="65292" y="84496"/>
                </a:cubicBezTo>
                <a:close/>
                <a:moveTo>
                  <a:pt x="138266" y="96018"/>
                </a:moveTo>
                <a:cubicBezTo>
                  <a:pt x="138266" y="89659"/>
                  <a:pt x="143429" y="84496"/>
                  <a:pt x="149788" y="84496"/>
                </a:cubicBezTo>
                <a:cubicBezTo>
                  <a:pt x="156148" y="84496"/>
                  <a:pt x="161310" y="89659"/>
                  <a:pt x="161310" y="96018"/>
                </a:cubicBezTo>
                <a:cubicBezTo>
                  <a:pt x="161310" y="102377"/>
                  <a:pt x="156148" y="107540"/>
                  <a:pt x="149788" y="107540"/>
                </a:cubicBezTo>
                <a:cubicBezTo>
                  <a:pt x="143429" y="107540"/>
                  <a:pt x="138266" y="102377"/>
                  <a:pt x="138266" y="96018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51" name="Text 48"/>
          <p:cNvSpPr/>
          <p:nvPr/>
        </p:nvSpPr>
        <p:spPr>
          <a:xfrm>
            <a:off x="6302204" y="5956794"/>
            <a:ext cx="2621935" cy="294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5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5+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330882" y="6284536"/>
            <a:ext cx="2564581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2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Purchases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326785" y="6546729"/>
            <a:ext cx="2572774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68% Subscribe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9062065" y="5547116"/>
            <a:ext cx="2695677" cy="1327355"/>
          </a:xfrm>
          <a:custGeom>
            <a:avLst/>
            <a:gdLst/>
            <a:ahLst/>
            <a:cxnLst/>
            <a:rect l="l" t="t" r="r" b="b"/>
            <a:pathLst>
              <a:path w="2695677" h="1327355">
                <a:moveTo>
                  <a:pt x="65545" y="0"/>
                </a:moveTo>
                <a:lnTo>
                  <a:pt x="2630133" y="0"/>
                </a:lnTo>
                <a:cubicBezTo>
                  <a:pt x="2666332" y="0"/>
                  <a:pt x="2695677" y="29345"/>
                  <a:pt x="2695677" y="65545"/>
                </a:cubicBezTo>
                <a:lnTo>
                  <a:pt x="2695677" y="1261810"/>
                </a:lnTo>
                <a:cubicBezTo>
                  <a:pt x="2695677" y="1298009"/>
                  <a:pt x="2666332" y="1327355"/>
                  <a:pt x="2630133" y="1327355"/>
                </a:cubicBezTo>
                <a:lnTo>
                  <a:pt x="65545" y="1327355"/>
                </a:lnTo>
                <a:cubicBezTo>
                  <a:pt x="29345" y="1327355"/>
                  <a:pt x="0" y="1298009"/>
                  <a:pt x="0" y="1261810"/>
                </a:cubicBezTo>
                <a:lnTo>
                  <a:pt x="0" y="65545"/>
                </a:lnTo>
                <a:cubicBezTo>
                  <a:pt x="0" y="29345"/>
                  <a:pt x="29345" y="0"/>
                  <a:pt x="6554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5" name="Shape 52"/>
          <p:cNvSpPr/>
          <p:nvPr/>
        </p:nvSpPr>
        <p:spPr>
          <a:xfrm>
            <a:off x="10305778" y="5645439"/>
            <a:ext cx="215081" cy="245806"/>
          </a:xfrm>
          <a:custGeom>
            <a:avLst/>
            <a:gdLst/>
            <a:ahLst/>
            <a:cxnLst/>
            <a:rect l="l" t="t" r="r" b="b"/>
            <a:pathLst>
              <a:path w="215081" h="245806">
                <a:moveTo>
                  <a:pt x="107540" y="119063"/>
                </a:moveTo>
                <a:cubicBezTo>
                  <a:pt x="139337" y="119063"/>
                  <a:pt x="165151" y="93248"/>
                  <a:pt x="165151" y="61452"/>
                </a:cubicBezTo>
                <a:cubicBezTo>
                  <a:pt x="165151" y="29655"/>
                  <a:pt x="139337" y="3841"/>
                  <a:pt x="107540" y="3841"/>
                </a:cubicBezTo>
                <a:cubicBezTo>
                  <a:pt x="75744" y="3841"/>
                  <a:pt x="49929" y="29655"/>
                  <a:pt x="49929" y="61452"/>
                </a:cubicBezTo>
                <a:cubicBezTo>
                  <a:pt x="49929" y="93248"/>
                  <a:pt x="75744" y="119063"/>
                  <a:pt x="107540" y="119063"/>
                </a:cubicBezTo>
                <a:close/>
                <a:moveTo>
                  <a:pt x="93282" y="145948"/>
                </a:moveTo>
                <a:cubicBezTo>
                  <a:pt x="45993" y="145948"/>
                  <a:pt x="7681" y="184259"/>
                  <a:pt x="7681" y="231548"/>
                </a:cubicBezTo>
                <a:cubicBezTo>
                  <a:pt x="7681" y="239421"/>
                  <a:pt x="14067" y="245806"/>
                  <a:pt x="21940" y="245806"/>
                </a:cubicBezTo>
                <a:lnTo>
                  <a:pt x="193140" y="245806"/>
                </a:lnTo>
                <a:cubicBezTo>
                  <a:pt x="201014" y="245806"/>
                  <a:pt x="207399" y="239421"/>
                  <a:pt x="207399" y="231548"/>
                </a:cubicBezTo>
                <a:cubicBezTo>
                  <a:pt x="207399" y="184259"/>
                  <a:pt x="169088" y="145948"/>
                  <a:pt x="121799" y="145948"/>
                </a:cubicBezTo>
                <a:lnTo>
                  <a:pt x="93282" y="145948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56" name="Text 53"/>
          <p:cNvSpPr/>
          <p:nvPr/>
        </p:nvSpPr>
        <p:spPr>
          <a:xfrm>
            <a:off x="9098935" y="5956794"/>
            <a:ext cx="2621935" cy="294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5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1-2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9127613" y="6284536"/>
            <a:ext cx="2564581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2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Purchases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9123516" y="6546729"/>
            <a:ext cx="2572774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12% Subscribe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330473" y="7046534"/>
            <a:ext cx="11533785" cy="595398"/>
          </a:xfrm>
          <a:custGeom>
            <a:avLst/>
            <a:gdLst/>
            <a:ahLst/>
            <a:cxnLst/>
            <a:rect l="l" t="t" r="r" b="b"/>
            <a:pathLst>
              <a:path w="11533785" h="595398">
                <a:moveTo>
                  <a:pt x="65547" y="0"/>
                </a:moveTo>
                <a:lnTo>
                  <a:pt x="11468238" y="0"/>
                </a:lnTo>
                <a:cubicBezTo>
                  <a:pt x="11504438" y="0"/>
                  <a:pt x="11533785" y="29347"/>
                  <a:pt x="11533785" y="65547"/>
                </a:cubicBezTo>
                <a:lnTo>
                  <a:pt x="11533785" y="529851"/>
                </a:lnTo>
                <a:cubicBezTo>
                  <a:pt x="11533785" y="566051"/>
                  <a:pt x="11504438" y="595398"/>
                  <a:pt x="11468238" y="595398"/>
                </a:cubicBezTo>
                <a:lnTo>
                  <a:pt x="65547" y="595398"/>
                </a:lnTo>
                <a:cubicBezTo>
                  <a:pt x="29347" y="595398"/>
                  <a:pt x="0" y="566051"/>
                  <a:pt x="0" y="529851"/>
                </a:cubicBezTo>
                <a:lnTo>
                  <a:pt x="0" y="65547"/>
                </a:lnTo>
                <a:cubicBezTo>
                  <a:pt x="0" y="29371"/>
                  <a:pt x="29371" y="0"/>
                  <a:pt x="65547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5E6D55">
                  <a:alpha val="20000"/>
                </a:srgbClr>
              </a:gs>
            </a:gsLst>
            <a:lin ang="0" scaled="1"/>
          </a:gradFill>
          <a:ln w="8467">
            <a:solidFill>
              <a:srgbClr val="A99A8D">
                <a:alpha val="4000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64301" y="7174900"/>
            <a:ext cx="98323" cy="131097"/>
          </a:xfrm>
          <a:custGeom>
            <a:avLst/>
            <a:gdLst/>
            <a:ahLst/>
            <a:cxnLst/>
            <a:rect l="l" t="t" r="r" b="b"/>
            <a:pathLst>
              <a:path w="98323" h="131097">
                <a:moveTo>
                  <a:pt x="74997" y="98323"/>
                </a:moveTo>
                <a:cubicBezTo>
                  <a:pt x="76866" y="92613"/>
                  <a:pt x="80604" y="87441"/>
                  <a:pt x="84829" y="82985"/>
                </a:cubicBezTo>
                <a:cubicBezTo>
                  <a:pt x="93202" y="74177"/>
                  <a:pt x="98323" y="62271"/>
                  <a:pt x="98323" y="49161"/>
                </a:cubicBezTo>
                <a:cubicBezTo>
                  <a:pt x="98323" y="22020"/>
                  <a:pt x="76302" y="0"/>
                  <a:pt x="49161" y="0"/>
                </a:cubicBezTo>
                <a:cubicBezTo>
                  <a:pt x="22020" y="0"/>
                  <a:pt x="0" y="22020"/>
                  <a:pt x="0" y="49161"/>
                </a:cubicBezTo>
                <a:cubicBezTo>
                  <a:pt x="0" y="62271"/>
                  <a:pt x="5121" y="74177"/>
                  <a:pt x="13494" y="82985"/>
                </a:cubicBezTo>
                <a:cubicBezTo>
                  <a:pt x="17719" y="87441"/>
                  <a:pt x="21482" y="92613"/>
                  <a:pt x="23326" y="98323"/>
                </a:cubicBezTo>
                <a:lnTo>
                  <a:pt x="74971" y="98323"/>
                </a:lnTo>
                <a:close/>
                <a:moveTo>
                  <a:pt x="73742" y="110613"/>
                </a:moveTo>
                <a:lnTo>
                  <a:pt x="24581" y="110613"/>
                </a:lnTo>
                <a:lnTo>
                  <a:pt x="24581" y="114710"/>
                </a:lnTo>
                <a:cubicBezTo>
                  <a:pt x="24581" y="126027"/>
                  <a:pt x="33747" y="135194"/>
                  <a:pt x="45065" y="135194"/>
                </a:cubicBezTo>
                <a:lnTo>
                  <a:pt x="53258" y="135194"/>
                </a:lnTo>
                <a:cubicBezTo>
                  <a:pt x="64575" y="135194"/>
                  <a:pt x="73742" y="126027"/>
                  <a:pt x="73742" y="114710"/>
                </a:cubicBezTo>
                <a:lnTo>
                  <a:pt x="73742" y="110613"/>
                </a:lnTo>
                <a:close/>
                <a:moveTo>
                  <a:pt x="47113" y="28677"/>
                </a:moveTo>
                <a:cubicBezTo>
                  <a:pt x="36922" y="28677"/>
                  <a:pt x="28677" y="36922"/>
                  <a:pt x="28677" y="47113"/>
                </a:cubicBezTo>
                <a:cubicBezTo>
                  <a:pt x="28677" y="50518"/>
                  <a:pt x="25938" y="53258"/>
                  <a:pt x="22532" y="53258"/>
                </a:cubicBezTo>
                <a:cubicBezTo>
                  <a:pt x="19127" y="53258"/>
                  <a:pt x="16387" y="50518"/>
                  <a:pt x="16387" y="47113"/>
                </a:cubicBezTo>
                <a:cubicBezTo>
                  <a:pt x="16387" y="30137"/>
                  <a:pt x="30137" y="16387"/>
                  <a:pt x="47113" y="16387"/>
                </a:cubicBezTo>
                <a:cubicBezTo>
                  <a:pt x="50518" y="16387"/>
                  <a:pt x="53258" y="19127"/>
                  <a:pt x="53258" y="22532"/>
                </a:cubicBezTo>
                <a:cubicBezTo>
                  <a:pt x="53258" y="25938"/>
                  <a:pt x="50518" y="28677"/>
                  <a:pt x="47113" y="28677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1" name="Text 58"/>
          <p:cNvSpPr/>
          <p:nvPr/>
        </p:nvSpPr>
        <p:spPr>
          <a:xfrm>
            <a:off x="637687" y="7147591"/>
            <a:ext cx="11191066" cy="393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 Insight:</a:t>
            </a:r>
            <a:pPr>
              <a:lnSpc>
                <a:spcPct val="130000"/>
              </a:lnSpc>
            </a:pPr>
            <a:r>
              <a:rPr lang="en-US" sz="1032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73% of customers use discounts, driving 42% sales lift. Express shipping users show 28% higher spend. Customers with 5+ purchases have 68% subscription rate vs 12% for 1-2 purchases.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495" y="337495"/>
            <a:ext cx="11584509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spc="106" kern="0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SYNTHESIS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7495" y="607491"/>
            <a:ext cx="11719507" cy="404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89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Strategic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5932" y="1155920"/>
            <a:ext cx="5678350" cy="2632460"/>
          </a:xfrm>
          <a:custGeom>
            <a:avLst/>
            <a:gdLst/>
            <a:ahLst/>
            <a:cxnLst/>
            <a:rect l="l" t="t" r="r" b="b"/>
            <a:pathLst>
              <a:path w="5678350" h="2632460">
                <a:moveTo>
                  <a:pt x="67496" y="0"/>
                </a:moveTo>
                <a:lnTo>
                  <a:pt x="5610854" y="0"/>
                </a:lnTo>
                <a:cubicBezTo>
                  <a:pt x="5648131" y="0"/>
                  <a:pt x="5678350" y="30219"/>
                  <a:pt x="5678350" y="67496"/>
                </a:cubicBezTo>
                <a:lnTo>
                  <a:pt x="5678350" y="2564963"/>
                </a:lnTo>
                <a:cubicBezTo>
                  <a:pt x="5678350" y="2602240"/>
                  <a:pt x="5648131" y="2632460"/>
                  <a:pt x="5610854" y="2632460"/>
                </a:cubicBezTo>
                <a:lnTo>
                  <a:pt x="67496" y="2632460"/>
                </a:lnTo>
                <a:cubicBezTo>
                  <a:pt x="30219" y="2632460"/>
                  <a:pt x="0" y="2602240"/>
                  <a:pt x="0" y="2564963"/>
                </a:cubicBezTo>
                <a:lnTo>
                  <a:pt x="0" y="67496"/>
                </a:lnTo>
                <a:cubicBezTo>
                  <a:pt x="0" y="30244"/>
                  <a:pt x="30244" y="0"/>
                  <a:pt x="67496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2C3138"/>
              </a:gs>
            </a:gsLst>
            <a:lin ang="2700000" scaled="1"/>
          </a:gradFill>
          <a:ln w="25400">
            <a:solidFill>
              <a:srgbClr val="A99A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367" y="1299355"/>
            <a:ext cx="472493" cy="472493"/>
          </a:xfrm>
          <a:custGeom>
            <a:avLst/>
            <a:gdLst/>
            <a:ahLst/>
            <a:cxnLst/>
            <a:rect l="l" t="t" r="r" b="b"/>
            <a:pathLst>
              <a:path w="472493" h="472493">
                <a:moveTo>
                  <a:pt x="67500" y="0"/>
                </a:moveTo>
                <a:lnTo>
                  <a:pt x="404992" y="0"/>
                </a:lnTo>
                <a:cubicBezTo>
                  <a:pt x="442247" y="0"/>
                  <a:pt x="472493" y="30246"/>
                  <a:pt x="472493" y="67500"/>
                </a:cubicBezTo>
                <a:lnTo>
                  <a:pt x="472493" y="404992"/>
                </a:lnTo>
                <a:cubicBezTo>
                  <a:pt x="472493" y="442247"/>
                  <a:pt x="442247" y="472493"/>
                  <a:pt x="404992" y="472493"/>
                </a:cubicBezTo>
                <a:lnTo>
                  <a:pt x="67500" y="472493"/>
                </a:lnTo>
                <a:cubicBezTo>
                  <a:pt x="30246" y="472493"/>
                  <a:pt x="0" y="442247"/>
                  <a:pt x="0" y="404992"/>
                </a:cubicBezTo>
                <a:lnTo>
                  <a:pt x="0" y="67500"/>
                </a:lnTo>
                <a:cubicBezTo>
                  <a:pt x="0" y="30246"/>
                  <a:pt x="30246" y="0"/>
                  <a:pt x="6750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" name="Text 4"/>
          <p:cNvSpPr/>
          <p:nvPr/>
        </p:nvSpPr>
        <p:spPr>
          <a:xfrm>
            <a:off x="438743" y="1299355"/>
            <a:ext cx="573741" cy="47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4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6858" y="1299355"/>
            <a:ext cx="4885237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Subscribers Drive 73% Higher Order Values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6858" y="1636850"/>
            <a:ext cx="4851488" cy="6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3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 customers demonstrate significantly higher purchase frequency and order values compared to non-subscribers, with 68% conversion rate for customers with 5+ purchases.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9367" y="2669023"/>
            <a:ext cx="5391480" cy="978735"/>
          </a:xfrm>
          <a:custGeom>
            <a:avLst/>
            <a:gdLst/>
            <a:ahLst/>
            <a:cxnLst/>
            <a:rect l="l" t="t" r="r" b="b"/>
            <a:pathLst>
              <a:path w="5391480" h="978735">
                <a:moveTo>
                  <a:pt x="67503" y="0"/>
                </a:moveTo>
                <a:lnTo>
                  <a:pt x="5323976" y="0"/>
                </a:lnTo>
                <a:cubicBezTo>
                  <a:pt x="5361257" y="0"/>
                  <a:pt x="5391480" y="30222"/>
                  <a:pt x="5391480" y="67503"/>
                </a:cubicBezTo>
                <a:lnTo>
                  <a:pt x="5391480" y="911232"/>
                </a:lnTo>
                <a:cubicBezTo>
                  <a:pt x="5391480" y="948513"/>
                  <a:pt x="5361257" y="978735"/>
                  <a:pt x="5323976" y="978735"/>
                </a:cubicBezTo>
                <a:lnTo>
                  <a:pt x="67503" y="978735"/>
                </a:lnTo>
                <a:cubicBezTo>
                  <a:pt x="30222" y="978735"/>
                  <a:pt x="0" y="948513"/>
                  <a:pt x="0" y="911232"/>
                </a:cubicBezTo>
                <a:lnTo>
                  <a:pt x="0" y="67503"/>
                </a:lnTo>
                <a:cubicBezTo>
                  <a:pt x="0" y="30247"/>
                  <a:pt x="30247" y="0"/>
                  <a:pt x="675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Shape 8"/>
          <p:cNvSpPr/>
          <p:nvPr/>
        </p:nvSpPr>
        <p:spPr>
          <a:xfrm>
            <a:off x="611709" y="2812458"/>
            <a:ext cx="151873" cy="151873"/>
          </a:xfrm>
          <a:custGeom>
            <a:avLst/>
            <a:gdLst/>
            <a:ahLst/>
            <a:cxnLst/>
            <a:rect l="l" t="t" r="r" b="b"/>
            <a:pathLst>
              <a:path w="151873" h="151873">
                <a:moveTo>
                  <a:pt x="18984" y="18984"/>
                </a:moveTo>
                <a:cubicBezTo>
                  <a:pt x="18984" y="13734"/>
                  <a:pt x="14742" y="9492"/>
                  <a:pt x="9492" y="9492"/>
                </a:cubicBezTo>
                <a:cubicBezTo>
                  <a:pt x="4242" y="9492"/>
                  <a:pt x="0" y="13734"/>
                  <a:pt x="0" y="18984"/>
                </a:cubicBezTo>
                <a:lnTo>
                  <a:pt x="0" y="118651"/>
                </a:lnTo>
                <a:cubicBezTo>
                  <a:pt x="0" y="131761"/>
                  <a:pt x="10619" y="142381"/>
                  <a:pt x="23730" y="142381"/>
                </a:cubicBezTo>
                <a:lnTo>
                  <a:pt x="142381" y="142381"/>
                </a:lnTo>
                <a:cubicBezTo>
                  <a:pt x="147631" y="142381"/>
                  <a:pt x="151873" y="138139"/>
                  <a:pt x="151873" y="132889"/>
                </a:cubicBezTo>
                <a:cubicBezTo>
                  <a:pt x="151873" y="127638"/>
                  <a:pt x="147631" y="123397"/>
                  <a:pt x="142381" y="123397"/>
                </a:cubicBezTo>
                <a:lnTo>
                  <a:pt x="23730" y="123397"/>
                </a:lnTo>
                <a:cubicBezTo>
                  <a:pt x="21120" y="123397"/>
                  <a:pt x="18984" y="121261"/>
                  <a:pt x="18984" y="118651"/>
                </a:cubicBezTo>
                <a:lnTo>
                  <a:pt x="18984" y="18984"/>
                </a:lnTo>
                <a:close/>
                <a:moveTo>
                  <a:pt x="139592" y="44672"/>
                </a:moveTo>
                <a:cubicBezTo>
                  <a:pt x="143300" y="40964"/>
                  <a:pt x="143300" y="34943"/>
                  <a:pt x="139592" y="31235"/>
                </a:cubicBezTo>
                <a:cubicBezTo>
                  <a:pt x="135885" y="27527"/>
                  <a:pt x="129863" y="27527"/>
                  <a:pt x="126155" y="31235"/>
                </a:cubicBezTo>
                <a:lnTo>
                  <a:pt x="94920" y="62499"/>
                </a:lnTo>
                <a:lnTo>
                  <a:pt x="77894" y="45502"/>
                </a:lnTo>
                <a:cubicBezTo>
                  <a:pt x="74186" y="41795"/>
                  <a:pt x="68165" y="41795"/>
                  <a:pt x="64457" y="45502"/>
                </a:cubicBezTo>
                <a:lnTo>
                  <a:pt x="35981" y="73979"/>
                </a:lnTo>
                <a:cubicBezTo>
                  <a:pt x="32273" y="77686"/>
                  <a:pt x="32273" y="83708"/>
                  <a:pt x="35981" y="87416"/>
                </a:cubicBezTo>
                <a:cubicBezTo>
                  <a:pt x="39689" y="91124"/>
                  <a:pt x="45710" y="91124"/>
                  <a:pt x="49418" y="87416"/>
                </a:cubicBezTo>
                <a:lnTo>
                  <a:pt x="71190" y="65643"/>
                </a:lnTo>
                <a:lnTo>
                  <a:pt x="88217" y="82670"/>
                </a:lnTo>
                <a:cubicBezTo>
                  <a:pt x="91924" y="86378"/>
                  <a:pt x="97946" y="86378"/>
                  <a:pt x="101654" y="82670"/>
                </a:cubicBezTo>
                <a:lnTo>
                  <a:pt x="139622" y="44702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1" name="Text 9"/>
          <p:cNvSpPr/>
          <p:nvPr/>
        </p:nvSpPr>
        <p:spPr>
          <a:xfrm>
            <a:off x="784675" y="2770271"/>
            <a:ext cx="5070860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992" y="3074017"/>
            <a:ext cx="2640897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4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+$120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6866" y="3344012"/>
            <a:ext cx="2607147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3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Order Value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83701" y="3074017"/>
            <a:ext cx="2640897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4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2.3x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576" y="3344012"/>
            <a:ext cx="2607147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3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Purchase Frequency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67718" y="1150295"/>
            <a:ext cx="5683975" cy="2646522"/>
          </a:xfrm>
          <a:custGeom>
            <a:avLst/>
            <a:gdLst/>
            <a:ahLst/>
            <a:cxnLst/>
            <a:rect l="l" t="t" r="r" b="b"/>
            <a:pathLst>
              <a:path w="5683975" h="2646522">
                <a:moveTo>
                  <a:pt x="67486" y="0"/>
                </a:moveTo>
                <a:lnTo>
                  <a:pt x="5616489" y="0"/>
                </a:lnTo>
                <a:cubicBezTo>
                  <a:pt x="5653760" y="0"/>
                  <a:pt x="5683975" y="30215"/>
                  <a:pt x="5683975" y="67486"/>
                </a:cubicBezTo>
                <a:lnTo>
                  <a:pt x="5683975" y="2579035"/>
                </a:lnTo>
                <a:cubicBezTo>
                  <a:pt x="5683975" y="2616307"/>
                  <a:pt x="5653760" y="2646522"/>
                  <a:pt x="5616489" y="2646522"/>
                </a:cubicBezTo>
                <a:lnTo>
                  <a:pt x="67486" y="2646522"/>
                </a:lnTo>
                <a:cubicBezTo>
                  <a:pt x="30215" y="2646522"/>
                  <a:pt x="0" y="2616307"/>
                  <a:pt x="0" y="2579035"/>
                </a:cubicBezTo>
                <a:lnTo>
                  <a:pt x="0" y="67486"/>
                </a:lnTo>
                <a:cubicBezTo>
                  <a:pt x="0" y="30240"/>
                  <a:pt x="30240" y="0"/>
                  <a:pt x="67486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5528" y="1288104"/>
            <a:ext cx="472493" cy="472493"/>
          </a:xfrm>
          <a:custGeom>
            <a:avLst/>
            <a:gdLst/>
            <a:ahLst/>
            <a:cxnLst/>
            <a:rect l="l" t="t" r="r" b="b"/>
            <a:pathLst>
              <a:path w="472493" h="472493">
                <a:moveTo>
                  <a:pt x="67500" y="0"/>
                </a:moveTo>
                <a:lnTo>
                  <a:pt x="404992" y="0"/>
                </a:lnTo>
                <a:cubicBezTo>
                  <a:pt x="442247" y="0"/>
                  <a:pt x="472493" y="30246"/>
                  <a:pt x="472493" y="67500"/>
                </a:cubicBezTo>
                <a:lnTo>
                  <a:pt x="472493" y="404992"/>
                </a:lnTo>
                <a:cubicBezTo>
                  <a:pt x="472493" y="442247"/>
                  <a:pt x="442247" y="472493"/>
                  <a:pt x="404992" y="472493"/>
                </a:cubicBezTo>
                <a:lnTo>
                  <a:pt x="67500" y="472493"/>
                </a:lnTo>
                <a:cubicBezTo>
                  <a:pt x="30246" y="472493"/>
                  <a:pt x="0" y="442247"/>
                  <a:pt x="0" y="404992"/>
                </a:cubicBezTo>
                <a:lnTo>
                  <a:pt x="0" y="67500"/>
                </a:lnTo>
                <a:cubicBezTo>
                  <a:pt x="0" y="30246"/>
                  <a:pt x="30246" y="0"/>
                  <a:pt x="6750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8" name="Text 16"/>
          <p:cNvSpPr/>
          <p:nvPr/>
        </p:nvSpPr>
        <p:spPr>
          <a:xfrm>
            <a:off x="6254904" y="1288104"/>
            <a:ext cx="573741" cy="47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4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13019" y="1288104"/>
            <a:ext cx="4902112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Journey: New → Returning → Loyal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13019" y="1625599"/>
            <a:ext cx="4868363" cy="6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3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progression path from new to loyal customers. Loyal customers show consistent week-over-week growth in purchase frequency, while new customers decline after initial purchase.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5528" y="2747769"/>
            <a:ext cx="5408354" cy="911236"/>
          </a:xfrm>
          <a:custGeom>
            <a:avLst/>
            <a:gdLst/>
            <a:ahLst/>
            <a:cxnLst/>
            <a:rect l="l" t="t" r="r" b="b"/>
            <a:pathLst>
              <a:path w="5408354" h="911236">
                <a:moveTo>
                  <a:pt x="67495" y="0"/>
                </a:moveTo>
                <a:lnTo>
                  <a:pt x="5340859" y="0"/>
                </a:lnTo>
                <a:cubicBezTo>
                  <a:pt x="5378136" y="0"/>
                  <a:pt x="5408354" y="30219"/>
                  <a:pt x="5408354" y="67495"/>
                </a:cubicBezTo>
                <a:lnTo>
                  <a:pt x="5408354" y="843741"/>
                </a:lnTo>
                <a:cubicBezTo>
                  <a:pt x="5408354" y="881017"/>
                  <a:pt x="5378136" y="911236"/>
                  <a:pt x="5340859" y="911236"/>
                </a:cubicBezTo>
                <a:lnTo>
                  <a:pt x="67495" y="911236"/>
                </a:lnTo>
                <a:cubicBezTo>
                  <a:pt x="30219" y="911236"/>
                  <a:pt x="0" y="881017"/>
                  <a:pt x="0" y="843741"/>
                </a:cubicBezTo>
                <a:lnTo>
                  <a:pt x="0" y="67495"/>
                </a:lnTo>
                <a:cubicBezTo>
                  <a:pt x="0" y="30244"/>
                  <a:pt x="30244" y="0"/>
                  <a:pt x="6749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8378" y="2891204"/>
            <a:ext cx="170857" cy="151873"/>
          </a:xfrm>
          <a:custGeom>
            <a:avLst/>
            <a:gdLst/>
            <a:ahLst/>
            <a:cxnLst/>
            <a:rect l="l" t="t" r="r" b="b"/>
            <a:pathLst>
              <a:path w="170857" h="151873">
                <a:moveTo>
                  <a:pt x="9492" y="18984"/>
                </a:moveTo>
                <a:cubicBezTo>
                  <a:pt x="5666" y="18984"/>
                  <a:pt x="2195" y="21298"/>
                  <a:pt x="712" y="24857"/>
                </a:cubicBezTo>
                <a:lnTo>
                  <a:pt x="81157" y="150864"/>
                </a:lnTo>
                <a:cubicBezTo>
                  <a:pt x="83589" y="152080"/>
                  <a:pt x="86467" y="152229"/>
                  <a:pt x="89047" y="151161"/>
                </a:cubicBezTo>
                <a:cubicBezTo>
                  <a:pt x="91747" y="150034"/>
                  <a:pt x="93734" y="147750"/>
                  <a:pt x="94535" y="145050"/>
                </a:cubicBezTo>
                <a:cubicBezTo>
                  <a:pt x="102366" y="154987"/>
                  <a:pt x="114498" y="161394"/>
                  <a:pt x="128143" y="161394"/>
                </a:cubicBezTo>
                <a:cubicBezTo>
                  <a:pt x="151724" y="161394"/>
                  <a:pt x="170857" y="142262"/>
                  <a:pt x="170857" y="118680"/>
                </a:cubicBezTo>
                <a:cubicBezTo>
                  <a:pt x="170857" y="95098"/>
                  <a:pt x="151724" y="75936"/>
                  <a:pt x="128143" y="75936"/>
                </a:cubicBezTo>
                <a:cubicBezTo>
                  <a:pt x="114735" y="75936"/>
                  <a:pt x="102751" y="82136"/>
                  <a:pt x="94920" y="91806"/>
                </a:cubicBezTo>
                <a:lnTo>
                  <a:pt x="94920" y="89374"/>
                </a:lnTo>
                <a:lnTo>
                  <a:pt x="149084" y="35210"/>
                </a:lnTo>
                <a:cubicBezTo>
                  <a:pt x="151813" y="32481"/>
                  <a:pt x="152614" y="28417"/>
                  <a:pt x="151131" y="24857"/>
                </a:cubicBezTo>
                <a:cubicBezTo>
                  <a:pt x="149648" y="21298"/>
                  <a:pt x="146207" y="18984"/>
                  <a:pt x="142381" y="18984"/>
                </a:cubicBezTo>
                <a:lnTo>
                  <a:pt x="9492" y="18984"/>
                </a:lnTo>
                <a:close/>
                <a:moveTo>
                  <a:pt x="123397" y="94920"/>
                </a:moveTo>
                <a:cubicBezTo>
                  <a:pt x="123397" y="92310"/>
                  <a:pt x="125532" y="90174"/>
                  <a:pt x="128143" y="90174"/>
                </a:cubicBezTo>
                <a:cubicBezTo>
                  <a:pt x="130753" y="90174"/>
                  <a:pt x="132889" y="92310"/>
                  <a:pt x="132889" y="94920"/>
                </a:cubicBezTo>
                <a:lnTo>
                  <a:pt x="132889" y="97293"/>
                </a:lnTo>
                <a:lnTo>
                  <a:pt x="137635" y="97293"/>
                </a:lnTo>
                <a:cubicBezTo>
                  <a:pt x="140245" y="97293"/>
                  <a:pt x="142381" y="99429"/>
                  <a:pt x="142381" y="102039"/>
                </a:cubicBezTo>
                <a:cubicBezTo>
                  <a:pt x="142381" y="104650"/>
                  <a:pt x="140245" y="106785"/>
                  <a:pt x="137635" y="106785"/>
                </a:cubicBezTo>
                <a:lnTo>
                  <a:pt x="124049" y="106785"/>
                </a:lnTo>
                <a:cubicBezTo>
                  <a:pt x="122388" y="106785"/>
                  <a:pt x="121024" y="108150"/>
                  <a:pt x="121024" y="109811"/>
                </a:cubicBezTo>
                <a:cubicBezTo>
                  <a:pt x="121024" y="111265"/>
                  <a:pt x="122062" y="112510"/>
                  <a:pt x="123486" y="112777"/>
                </a:cubicBezTo>
                <a:lnTo>
                  <a:pt x="136834" y="115210"/>
                </a:lnTo>
                <a:cubicBezTo>
                  <a:pt x="142766" y="116278"/>
                  <a:pt x="147097" y="121468"/>
                  <a:pt x="147097" y="127520"/>
                </a:cubicBezTo>
                <a:cubicBezTo>
                  <a:pt x="147097" y="134431"/>
                  <a:pt x="141491" y="140037"/>
                  <a:pt x="134579" y="140037"/>
                </a:cubicBezTo>
                <a:lnTo>
                  <a:pt x="132859" y="140037"/>
                </a:lnTo>
                <a:lnTo>
                  <a:pt x="132859" y="142410"/>
                </a:lnTo>
                <a:cubicBezTo>
                  <a:pt x="132859" y="145021"/>
                  <a:pt x="130723" y="147156"/>
                  <a:pt x="128113" y="147156"/>
                </a:cubicBezTo>
                <a:cubicBezTo>
                  <a:pt x="125503" y="147156"/>
                  <a:pt x="123367" y="145021"/>
                  <a:pt x="123367" y="142410"/>
                </a:cubicBezTo>
                <a:lnTo>
                  <a:pt x="123367" y="140037"/>
                </a:lnTo>
                <a:lnTo>
                  <a:pt x="118621" y="140037"/>
                </a:lnTo>
                <a:cubicBezTo>
                  <a:pt x="116011" y="140037"/>
                  <a:pt x="113875" y="137902"/>
                  <a:pt x="113875" y="135291"/>
                </a:cubicBezTo>
                <a:cubicBezTo>
                  <a:pt x="113875" y="132681"/>
                  <a:pt x="116011" y="130545"/>
                  <a:pt x="118621" y="130545"/>
                </a:cubicBezTo>
                <a:lnTo>
                  <a:pt x="134579" y="130545"/>
                </a:lnTo>
                <a:cubicBezTo>
                  <a:pt x="136240" y="130545"/>
                  <a:pt x="137605" y="129181"/>
                  <a:pt x="137605" y="127520"/>
                </a:cubicBezTo>
                <a:cubicBezTo>
                  <a:pt x="137605" y="126066"/>
                  <a:pt x="136567" y="124820"/>
                  <a:pt x="135143" y="124553"/>
                </a:cubicBezTo>
                <a:lnTo>
                  <a:pt x="121795" y="122121"/>
                </a:lnTo>
                <a:cubicBezTo>
                  <a:pt x="115862" y="121053"/>
                  <a:pt x="111531" y="115862"/>
                  <a:pt x="111531" y="109811"/>
                </a:cubicBezTo>
                <a:cubicBezTo>
                  <a:pt x="111531" y="103107"/>
                  <a:pt x="116782" y="97649"/>
                  <a:pt x="123397" y="97323"/>
                </a:cubicBezTo>
                <a:lnTo>
                  <a:pt x="123397" y="94920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23" name="Text 21"/>
          <p:cNvSpPr/>
          <p:nvPr/>
        </p:nvSpPr>
        <p:spPr>
          <a:xfrm>
            <a:off x="6600836" y="2849017"/>
            <a:ext cx="5087734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 Opportunities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4590" y="3152763"/>
            <a:ext cx="1771848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9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77246" y="3389009"/>
            <a:ext cx="1746536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5+ Purchases → Subscribe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23254" y="3152763"/>
            <a:ext cx="1771848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9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35910" y="3389009"/>
            <a:ext cx="1746536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Returning → Loyal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82006" y="3152763"/>
            <a:ext cx="1771848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9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94662" y="3389009"/>
            <a:ext cx="1746536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→ Subscribe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0307" y="3937441"/>
            <a:ext cx="5683975" cy="2646522"/>
          </a:xfrm>
          <a:custGeom>
            <a:avLst/>
            <a:gdLst/>
            <a:ahLst/>
            <a:cxnLst/>
            <a:rect l="l" t="t" r="r" b="b"/>
            <a:pathLst>
              <a:path w="5683975" h="2646522">
                <a:moveTo>
                  <a:pt x="67486" y="0"/>
                </a:moveTo>
                <a:lnTo>
                  <a:pt x="5616489" y="0"/>
                </a:lnTo>
                <a:cubicBezTo>
                  <a:pt x="5653760" y="0"/>
                  <a:pt x="5683975" y="30215"/>
                  <a:pt x="5683975" y="67486"/>
                </a:cubicBezTo>
                <a:lnTo>
                  <a:pt x="5683975" y="2579035"/>
                </a:lnTo>
                <a:cubicBezTo>
                  <a:pt x="5683975" y="2616307"/>
                  <a:pt x="5653760" y="2646522"/>
                  <a:pt x="5616489" y="2646522"/>
                </a:cubicBezTo>
                <a:lnTo>
                  <a:pt x="67486" y="2646522"/>
                </a:lnTo>
                <a:cubicBezTo>
                  <a:pt x="30215" y="2646522"/>
                  <a:pt x="0" y="2616307"/>
                  <a:pt x="0" y="2579035"/>
                </a:cubicBezTo>
                <a:lnTo>
                  <a:pt x="0" y="67486"/>
                </a:lnTo>
                <a:cubicBezTo>
                  <a:pt x="0" y="30240"/>
                  <a:pt x="30240" y="0"/>
                  <a:pt x="67486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8118" y="4075250"/>
            <a:ext cx="472493" cy="472493"/>
          </a:xfrm>
          <a:custGeom>
            <a:avLst/>
            <a:gdLst/>
            <a:ahLst/>
            <a:cxnLst/>
            <a:rect l="l" t="t" r="r" b="b"/>
            <a:pathLst>
              <a:path w="472493" h="472493">
                <a:moveTo>
                  <a:pt x="67500" y="0"/>
                </a:moveTo>
                <a:lnTo>
                  <a:pt x="404992" y="0"/>
                </a:lnTo>
                <a:cubicBezTo>
                  <a:pt x="442247" y="0"/>
                  <a:pt x="472493" y="30246"/>
                  <a:pt x="472493" y="67500"/>
                </a:cubicBezTo>
                <a:lnTo>
                  <a:pt x="472493" y="404992"/>
                </a:lnTo>
                <a:cubicBezTo>
                  <a:pt x="472493" y="442247"/>
                  <a:pt x="442247" y="472493"/>
                  <a:pt x="404992" y="472493"/>
                </a:cubicBezTo>
                <a:lnTo>
                  <a:pt x="67500" y="472493"/>
                </a:lnTo>
                <a:cubicBezTo>
                  <a:pt x="30246" y="472493"/>
                  <a:pt x="0" y="442247"/>
                  <a:pt x="0" y="404992"/>
                </a:cubicBezTo>
                <a:lnTo>
                  <a:pt x="0" y="67500"/>
                </a:lnTo>
                <a:cubicBezTo>
                  <a:pt x="0" y="30246"/>
                  <a:pt x="30246" y="0"/>
                  <a:pt x="6750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32" name="Text 30"/>
          <p:cNvSpPr/>
          <p:nvPr/>
        </p:nvSpPr>
        <p:spPr>
          <a:xfrm>
            <a:off x="427493" y="4075250"/>
            <a:ext cx="573741" cy="47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4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85608" y="4075250"/>
            <a:ext cx="4902112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Discount Strategy Requires Rebalancing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85608" y="4412745"/>
            <a:ext cx="4868363" cy="6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3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73% of customers use discounts, driving 42% sales lift but with 15% margin impact. 27% of customers are high-spending discount users who leverage promotions for premium purchases.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78118" y="5535001"/>
            <a:ext cx="5408354" cy="911236"/>
          </a:xfrm>
          <a:custGeom>
            <a:avLst/>
            <a:gdLst/>
            <a:ahLst/>
            <a:cxnLst/>
            <a:rect l="l" t="t" r="r" b="b"/>
            <a:pathLst>
              <a:path w="5408354" h="911236">
                <a:moveTo>
                  <a:pt x="67495" y="0"/>
                </a:moveTo>
                <a:lnTo>
                  <a:pt x="5340859" y="0"/>
                </a:lnTo>
                <a:cubicBezTo>
                  <a:pt x="5378136" y="0"/>
                  <a:pt x="5408354" y="30219"/>
                  <a:pt x="5408354" y="67495"/>
                </a:cubicBezTo>
                <a:lnTo>
                  <a:pt x="5408354" y="843741"/>
                </a:lnTo>
                <a:cubicBezTo>
                  <a:pt x="5408354" y="881017"/>
                  <a:pt x="5378136" y="911236"/>
                  <a:pt x="5340859" y="911236"/>
                </a:cubicBezTo>
                <a:lnTo>
                  <a:pt x="67495" y="911236"/>
                </a:lnTo>
                <a:cubicBezTo>
                  <a:pt x="30219" y="911236"/>
                  <a:pt x="0" y="881017"/>
                  <a:pt x="0" y="843741"/>
                </a:cubicBezTo>
                <a:lnTo>
                  <a:pt x="0" y="67495"/>
                </a:lnTo>
                <a:cubicBezTo>
                  <a:pt x="0" y="30244"/>
                  <a:pt x="30244" y="0"/>
                  <a:pt x="6749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Shape 34"/>
          <p:cNvSpPr/>
          <p:nvPr/>
        </p:nvSpPr>
        <p:spPr>
          <a:xfrm>
            <a:off x="581475" y="5678437"/>
            <a:ext cx="189841" cy="151873"/>
          </a:xfrm>
          <a:custGeom>
            <a:avLst/>
            <a:gdLst/>
            <a:ahLst/>
            <a:cxnLst/>
            <a:rect l="l" t="t" r="r" b="b"/>
            <a:pathLst>
              <a:path w="189841" h="151873">
                <a:moveTo>
                  <a:pt x="113904" y="9492"/>
                </a:moveTo>
                <a:lnTo>
                  <a:pt x="151873" y="9492"/>
                </a:lnTo>
                <a:cubicBezTo>
                  <a:pt x="157123" y="9492"/>
                  <a:pt x="161365" y="13734"/>
                  <a:pt x="161365" y="18984"/>
                </a:cubicBezTo>
                <a:cubicBezTo>
                  <a:pt x="161365" y="24234"/>
                  <a:pt x="157123" y="28476"/>
                  <a:pt x="151873" y="28476"/>
                </a:cubicBezTo>
                <a:lnTo>
                  <a:pt x="118176" y="28476"/>
                </a:lnTo>
                <a:cubicBezTo>
                  <a:pt x="116633" y="36129"/>
                  <a:pt x="111383" y="42447"/>
                  <a:pt x="104412" y="45473"/>
                </a:cubicBezTo>
                <a:lnTo>
                  <a:pt x="104412" y="132889"/>
                </a:lnTo>
                <a:lnTo>
                  <a:pt x="151873" y="132889"/>
                </a:lnTo>
                <a:cubicBezTo>
                  <a:pt x="157123" y="132889"/>
                  <a:pt x="161365" y="137130"/>
                  <a:pt x="161365" y="142381"/>
                </a:cubicBezTo>
                <a:cubicBezTo>
                  <a:pt x="161365" y="147631"/>
                  <a:pt x="157123" y="151873"/>
                  <a:pt x="151873" y="151873"/>
                </a:cubicBezTo>
                <a:lnTo>
                  <a:pt x="37968" y="151873"/>
                </a:lnTo>
                <a:cubicBezTo>
                  <a:pt x="32718" y="151873"/>
                  <a:pt x="28476" y="147631"/>
                  <a:pt x="28476" y="142381"/>
                </a:cubicBezTo>
                <a:cubicBezTo>
                  <a:pt x="28476" y="137130"/>
                  <a:pt x="32718" y="132889"/>
                  <a:pt x="37968" y="132889"/>
                </a:cubicBezTo>
                <a:lnTo>
                  <a:pt x="85428" y="132889"/>
                </a:lnTo>
                <a:lnTo>
                  <a:pt x="85428" y="45473"/>
                </a:lnTo>
                <a:cubicBezTo>
                  <a:pt x="78458" y="42418"/>
                  <a:pt x="73207" y="36099"/>
                  <a:pt x="71665" y="28476"/>
                </a:cubicBezTo>
                <a:lnTo>
                  <a:pt x="37968" y="28476"/>
                </a:lnTo>
                <a:cubicBezTo>
                  <a:pt x="32718" y="28476"/>
                  <a:pt x="28476" y="24234"/>
                  <a:pt x="28476" y="18984"/>
                </a:cubicBezTo>
                <a:cubicBezTo>
                  <a:pt x="28476" y="13734"/>
                  <a:pt x="32718" y="9492"/>
                  <a:pt x="37968" y="9492"/>
                </a:cubicBezTo>
                <a:lnTo>
                  <a:pt x="75936" y="9492"/>
                </a:lnTo>
                <a:cubicBezTo>
                  <a:pt x="80267" y="3737"/>
                  <a:pt x="87149" y="0"/>
                  <a:pt x="94920" y="0"/>
                </a:cubicBezTo>
                <a:cubicBezTo>
                  <a:pt x="102692" y="0"/>
                  <a:pt x="109574" y="3737"/>
                  <a:pt x="113904" y="9492"/>
                </a:cubicBezTo>
                <a:close/>
                <a:moveTo>
                  <a:pt x="130397" y="94920"/>
                </a:moveTo>
                <a:lnTo>
                  <a:pt x="173348" y="94920"/>
                </a:lnTo>
                <a:lnTo>
                  <a:pt x="151873" y="58079"/>
                </a:lnTo>
                <a:lnTo>
                  <a:pt x="130397" y="94920"/>
                </a:lnTo>
                <a:close/>
                <a:moveTo>
                  <a:pt x="151873" y="123397"/>
                </a:moveTo>
                <a:cubicBezTo>
                  <a:pt x="133215" y="123397"/>
                  <a:pt x="117701" y="113311"/>
                  <a:pt x="114498" y="99993"/>
                </a:cubicBezTo>
                <a:cubicBezTo>
                  <a:pt x="113727" y="96730"/>
                  <a:pt x="114794" y="93378"/>
                  <a:pt x="116485" y="90471"/>
                </a:cubicBezTo>
                <a:lnTo>
                  <a:pt x="144724" y="42062"/>
                </a:lnTo>
                <a:cubicBezTo>
                  <a:pt x="146207" y="39511"/>
                  <a:pt x="148936" y="37968"/>
                  <a:pt x="151873" y="37968"/>
                </a:cubicBezTo>
                <a:cubicBezTo>
                  <a:pt x="154809" y="37968"/>
                  <a:pt x="157538" y="39540"/>
                  <a:pt x="159021" y="42062"/>
                </a:cubicBezTo>
                <a:lnTo>
                  <a:pt x="187260" y="90471"/>
                </a:lnTo>
                <a:cubicBezTo>
                  <a:pt x="188951" y="93378"/>
                  <a:pt x="190019" y="96730"/>
                  <a:pt x="189248" y="99993"/>
                </a:cubicBezTo>
                <a:cubicBezTo>
                  <a:pt x="186044" y="113282"/>
                  <a:pt x="170530" y="123397"/>
                  <a:pt x="151873" y="123397"/>
                </a:cubicBezTo>
                <a:close/>
                <a:moveTo>
                  <a:pt x="37612" y="58079"/>
                </a:moveTo>
                <a:lnTo>
                  <a:pt x="16136" y="94920"/>
                </a:lnTo>
                <a:lnTo>
                  <a:pt x="59118" y="94920"/>
                </a:lnTo>
                <a:lnTo>
                  <a:pt x="37612" y="58079"/>
                </a:lnTo>
                <a:close/>
                <a:moveTo>
                  <a:pt x="267" y="99993"/>
                </a:moveTo>
                <a:cubicBezTo>
                  <a:pt x="-504" y="96730"/>
                  <a:pt x="564" y="93378"/>
                  <a:pt x="2254" y="90471"/>
                </a:cubicBezTo>
                <a:lnTo>
                  <a:pt x="30493" y="42062"/>
                </a:lnTo>
                <a:cubicBezTo>
                  <a:pt x="31976" y="39511"/>
                  <a:pt x="34705" y="37968"/>
                  <a:pt x="37642" y="37968"/>
                </a:cubicBezTo>
                <a:cubicBezTo>
                  <a:pt x="40578" y="37968"/>
                  <a:pt x="43307" y="39540"/>
                  <a:pt x="44791" y="42062"/>
                </a:cubicBezTo>
                <a:lnTo>
                  <a:pt x="73029" y="90471"/>
                </a:lnTo>
                <a:cubicBezTo>
                  <a:pt x="74720" y="93378"/>
                  <a:pt x="75788" y="96730"/>
                  <a:pt x="75017" y="99993"/>
                </a:cubicBezTo>
                <a:cubicBezTo>
                  <a:pt x="71813" y="113282"/>
                  <a:pt x="56300" y="123397"/>
                  <a:pt x="37642" y="123397"/>
                </a:cubicBezTo>
                <a:cubicBezTo>
                  <a:pt x="18984" y="123397"/>
                  <a:pt x="3471" y="113311"/>
                  <a:pt x="267" y="99993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37" name="Text 35"/>
          <p:cNvSpPr/>
          <p:nvPr/>
        </p:nvSpPr>
        <p:spPr>
          <a:xfrm>
            <a:off x="773426" y="5636250"/>
            <a:ext cx="5087734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Margin Optimization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7179" y="5939995"/>
            <a:ext cx="1771848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9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9835" y="6176242"/>
            <a:ext cx="1746536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Discount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295844" y="5939995"/>
            <a:ext cx="1771848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9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-15%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308500" y="6176242"/>
            <a:ext cx="1746536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 Impact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054596" y="5939995"/>
            <a:ext cx="1771848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9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+42%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067252" y="6176242"/>
            <a:ext cx="1746536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Lift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3343" y="3943066"/>
            <a:ext cx="5678350" cy="2632460"/>
          </a:xfrm>
          <a:custGeom>
            <a:avLst/>
            <a:gdLst/>
            <a:ahLst/>
            <a:cxnLst/>
            <a:rect l="l" t="t" r="r" b="b"/>
            <a:pathLst>
              <a:path w="5678350" h="2632460">
                <a:moveTo>
                  <a:pt x="67496" y="0"/>
                </a:moveTo>
                <a:lnTo>
                  <a:pt x="5610854" y="0"/>
                </a:lnTo>
                <a:cubicBezTo>
                  <a:pt x="5648131" y="0"/>
                  <a:pt x="5678350" y="30219"/>
                  <a:pt x="5678350" y="67496"/>
                </a:cubicBezTo>
                <a:lnTo>
                  <a:pt x="5678350" y="2564963"/>
                </a:lnTo>
                <a:cubicBezTo>
                  <a:pt x="5678350" y="2602240"/>
                  <a:pt x="5648131" y="2632460"/>
                  <a:pt x="5610854" y="2632460"/>
                </a:cubicBezTo>
                <a:lnTo>
                  <a:pt x="67496" y="2632460"/>
                </a:lnTo>
                <a:cubicBezTo>
                  <a:pt x="30219" y="2632460"/>
                  <a:pt x="0" y="2602240"/>
                  <a:pt x="0" y="2564963"/>
                </a:cubicBezTo>
                <a:lnTo>
                  <a:pt x="0" y="67496"/>
                </a:lnTo>
                <a:cubicBezTo>
                  <a:pt x="0" y="30244"/>
                  <a:pt x="30244" y="0"/>
                  <a:pt x="67496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2C3138"/>
              </a:gs>
            </a:gsLst>
            <a:lin ang="2700000" scaled="1"/>
          </a:gradFill>
          <a:ln w="25400">
            <a:solidFill>
              <a:srgbClr val="A99A8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16778" y="4086501"/>
            <a:ext cx="472493" cy="472493"/>
          </a:xfrm>
          <a:custGeom>
            <a:avLst/>
            <a:gdLst/>
            <a:ahLst/>
            <a:cxnLst/>
            <a:rect l="l" t="t" r="r" b="b"/>
            <a:pathLst>
              <a:path w="472493" h="472493">
                <a:moveTo>
                  <a:pt x="67500" y="0"/>
                </a:moveTo>
                <a:lnTo>
                  <a:pt x="404992" y="0"/>
                </a:lnTo>
                <a:cubicBezTo>
                  <a:pt x="442247" y="0"/>
                  <a:pt x="472493" y="30246"/>
                  <a:pt x="472493" y="67500"/>
                </a:cubicBezTo>
                <a:lnTo>
                  <a:pt x="472493" y="404992"/>
                </a:lnTo>
                <a:cubicBezTo>
                  <a:pt x="472493" y="442247"/>
                  <a:pt x="442247" y="472493"/>
                  <a:pt x="404992" y="472493"/>
                </a:cubicBezTo>
                <a:lnTo>
                  <a:pt x="67500" y="472493"/>
                </a:lnTo>
                <a:cubicBezTo>
                  <a:pt x="30246" y="472493"/>
                  <a:pt x="0" y="442247"/>
                  <a:pt x="0" y="404992"/>
                </a:cubicBezTo>
                <a:lnTo>
                  <a:pt x="0" y="67500"/>
                </a:lnTo>
                <a:cubicBezTo>
                  <a:pt x="0" y="30246"/>
                  <a:pt x="30246" y="0"/>
                  <a:pt x="6750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46" name="Text 44"/>
          <p:cNvSpPr/>
          <p:nvPr/>
        </p:nvSpPr>
        <p:spPr>
          <a:xfrm>
            <a:off x="6266154" y="4086501"/>
            <a:ext cx="573741" cy="47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4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24269" y="4086501"/>
            <a:ext cx="4885237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Female Customers Generate 58% of Revenue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24269" y="4423996"/>
            <a:ext cx="4851488" cy="6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3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Despite similar transaction volumes, female customers generate 38% more revenue ($1.16M vs $0.84M), showing higher engagement with seasonal items and discount strategies.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16778" y="5456255"/>
            <a:ext cx="5391480" cy="978735"/>
          </a:xfrm>
          <a:custGeom>
            <a:avLst/>
            <a:gdLst/>
            <a:ahLst/>
            <a:cxnLst/>
            <a:rect l="l" t="t" r="r" b="b"/>
            <a:pathLst>
              <a:path w="5391480" h="978735">
                <a:moveTo>
                  <a:pt x="67503" y="0"/>
                </a:moveTo>
                <a:lnTo>
                  <a:pt x="5323976" y="0"/>
                </a:lnTo>
                <a:cubicBezTo>
                  <a:pt x="5361257" y="0"/>
                  <a:pt x="5391480" y="30222"/>
                  <a:pt x="5391480" y="67503"/>
                </a:cubicBezTo>
                <a:lnTo>
                  <a:pt x="5391480" y="911232"/>
                </a:lnTo>
                <a:cubicBezTo>
                  <a:pt x="5391480" y="948513"/>
                  <a:pt x="5361257" y="978735"/>
                  <a:pt x="5323976" y="978735"/>
                </a:cubicBezTo>
                <a:lnTo>
                  <a:pt x="67503" y="978735"/>
                </a:lnTo>
                <a:cubicBezTo>
                  <a:pt x="30222" y="978735"/>
                  <a:pt x="0" y="948513"/>
                  <a:pt x="0" y="911232"/>
                </a:cubicBezTo>
                <a:lnTo>
                  <a:pt x="0" y="67503"/>
                </a:lnTo>
                <a:cubicBezTo>
                  <a:pt x="0" y="30247"/>
                  <a:pt x="30247" y="0"/>
                  <a:pt x="675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0" name="Shape 48"/>
          <p:cNvSpPr/>
          <p:nvPr/>
        </p:nvSpPr>
        <p:spPr>
          <a:xfrm>
            <a:off x="6458104" y="5599691"/>
            <a:ext cx="113904" cy="151873"/>
          </a:xfrm>
          <a:custGeom>
            <a:avLst/>
            <a:gdLst/>
            <a:ahLst/>
            <a:cxnLst/>
            <a:rect l="l" t="t" r="r" b="b"/>
            <a:pathLst>
              <a:path w="113904" h="151873">
                <a:moveTo>
                  <a:pt x="23730" y="52206"/>
                </a:moveTo>
                <a:cubicBezTo>
                  <a:pt x="23730" y="33870"/>
                  <a:pt x="38616" y="18984"/>
                  <a:pt x="56952" y="18984"/>
                </a:cubicBezTo>
                <a:cubicBezTo>
                  <a:pt x="75288" y="18984"/>
                  <a:pt x="90174" y="33870"/>
                  <a:pt x="90174" y="52206"/>
                </a:cubicBezTo>
                <a:cubicBezTo>
                  <a:pt x="90174" y="70542"/>
                  <a:pt x="75288" y="85428"/>
                  <a:pt x="56952" y="85428"/>
                </a:cubicBezTo>
                <a:cubicBezTo>
                  <a:pt x="38616" y="85428"/>
                  <a:pt x="23730" y="70542"/>
                  <a:pt x="23730" y="52206"/>
                </a:cubicBezTo>
                <a:close/>
                <a:moveTo>
                  <a:pt x="66415" y="103552"/>
                </a:moveTo>
                <a:cubicBezTo>
                  <a:pt x="90738" y="99103"/>
                  <a:pt x="109158" y="77805"/>
                  <a:pt x="109158" y="52206"/>
                </a:cubicBezTo>
                <a:cubicBezTo>
                  <a:pt x="109158" y="23374"/>
                  <a:pt x="85784" y="0"/>
                  <a:pt x="56952" y="0"/>
                </a:cubicBezTo>
                <a:cubicBezTo>
                  <a:pt x="28120" y="0"/>
                  <a:pt x="4746" y="23374"/>
                  <a:pt x="4746" y="52206"/>
                </a:cubicBezTo>
                <a:cubicBezTo>
                  <a:pt x="4746" y="77805"/>
                  <a:pt x="23167" y="99103"/>
                  <a:pt x="47490" y="103552"/>
                </a:cubicBezTo>
                <a:cubicBezTo>
                  <a:pt x="47460" y="103849"/>
                  <a:pt x="47460" y="104116"/>
                  <a:pt x="47460" y="104412"/>
                </a:cubicBezTo>
                <a:lnTo>
                  <a:pt x="47460" y="123397"/>
                </a:lnTo>
                <a:lnTo>
                  <a:pt x="37968" y="123397"/>
                </a:lnTo>
                <a:cubicBezTo>
                  <a:pt x="32718" y="123397"/>
                  <a:pt x="28476" y="127638"/>
                  <a:pt x="28476" y="132889"/>
                </a:cubicBezTo>
                <a:cubicBezTo>
                  <a:pt x="28476" y="138139"/>
                  <a:pt x="32718" y="142381"/>
                  <a:pt x="37968" y="142381"/>
                </a:cubicBezTo>
                <a:lnTo>
                  <a:pt x="47460" y="142381"/>
                </a:lnTo>
                <a:lnTo>
                  <a:pt x="47460" y="151873"/>
                </a:lnTo>
                <a:cubicBezTo>
                  <a:pt x="47460" y="157123"/>
                  <a:pt x="51702" y="161365"/>
                  <a:pt x="56952" y="161365"/>
                </a:cubicBezTo>
                <a:cubicBezTo>
                  <a:pt x="62203" y="161365"/>
                  <a:pt x="66444" y="157123"/>
                  <a:pt x="66444" y="151873"/>
                </a:cubicBezTo>
                <a:lnTo>
                  <a:pt x="66444" y="142381"/>
                </a:lnTo>
                <a:lnTo>
                  <a:pt x="75936" y="142381"/>
                </a:lnTo>
                <a:cubicBezTo>
                  <a:pt x="81187" y="142381"/>
                  <a:pt x="85428" y="138139"/>
                  <a:pt x="85428" y="132889"/>
                </a:cubicBezTo>
                <a:cubicBezTo>
                  <a:pt x="85428" y="127638"/>
                  <a:pt x="81187" y="123397"/>
                  <a:pt x="75936" y="123397"/>
                </a:cubicBezTo>
                <a:lnTo>
                  <a:pt x="66444" y="123397"/>
                </a:lnTo>
                <a:lnTo>
                  <a:pt x="66444" y="104412"/>
                </a:lnTo>
                <a:cubicBezTo>
                  <a:pt x="66444" y="104116"/>
                  <a:pt x="66444" y="103849"/>
                  <a:pt x="66415" y="103552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51" name="Text 49"/>
          <p:cNvSpPr/>
          <p:nvPr/>
        </p:nvSpPr>
        <p:spPr>
          <a:xfrm>
            <a:off x="6612086" y="5557504"/>
            <a:ext cx="5070860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Targeting Insights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67402" y="5861249"/>
            <a:ext cx="2640897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4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$1.16M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84277" y="6131245"/>
            <a:ext cx="2607147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3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Female Revenue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11111" y="5861249"/>
            <a:ext cx="2640897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4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$0.84M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027986" y="6131245"/>
            <a:ext cx="2607147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3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Male Revenue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40307" y="6724673"/>
            <a:ext cx="11514198" cy="680615"/>
          </a:xfrm>
          <a:custGeom>
            <a:avLst/>
            <a:gdLst/>
            <a:ahLst/>
            <a:cxnLst/>
            <a:rect l="l" t="t" r="r" b="b"/>
            <a:pathLst>
              <a:path w="11514198" h="680615">
                <a:moveTo>
                  <a:pt x="67497" y="0"/>
                </a:moveTo>
                <a:lnTo>
                  <a:pt x="11446701" y="0"/>
                </a:lnTo>
                <a:cubicBezTo>
                  <a:pt x="11483979" y="0"/>
                  <a:pt x="11514198" y="30219"/>
                  <a:pt x="11514198" y="67497"/>
                </a:cubicBezTo>
                <a:lnTo>
                  <a:pt x="11514198" y="613118"/>
                </a:lnTo>
                <a:cubicBezTo>
                  <a:pt x="11514198" y="650395"/>
                  <a:pt x="11483979" y="680615"/>
                  <a:pt x="11446701" y="680615"/>
                </a:cubicBezTo>
                <a:lnTo>
                  <a:pt x="67497" y="680615"/>
                </a:lnTo>
                <a:cubicBezTo>
                  <a:pt x="30219" y="680615"/>
                  <a:pt x="0" y="650395"/>
                  <a:pt x="0" y="613118"/>
                </a:cubicBezTo>
                <a:lnTo>
                  <a:pt x="0" y="67497"/>
                </a:lnTo>
                <a:cubicBezTo>
                  <a:pt x="0" y="30219"/>
                  <a:pt x="30219" y="0"/>
                  <a:pt x="67497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5E6D55">
                  <a:alpha val="20000"/>
                </a:srgbClr>
              </a:gs>
            </a:gsLst>
            <a:lin ang="0" scaled="1"/>
          </a:gradFill>
          <a:ln w="8467">
            <a:solidFill>
              <a:srgbClr val="A99A8D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6555" y="6890608"/>
            <a:ext cx="151873" cy="134998"/>
          </a:xfrm>
          <a:custGeom>
            <a:avLst/>
            <a:gdLst/>
            <a:ahLst/>
            <a:cxnLst/>
            <a:rect l="l" t="t" r="r" b="b"/>
            <a:pathLst>
              <a:path w="151873" h="134998">
                <a:moveTo>
                  <a:pt x="81605" y="-4983"/>
                </a:moveTo>
                <a:cubicBezTo>
                  <a:pt x="80524" y="-7093"/>
                  <a:pt x="78336" y="-8437"/>
                  <a:pt x="75963" y="-8437"/>
                </a:cubicBezTo>
                <a:cubicBezTo>
                  <a:pt x="73590" y="-8437"/>
                  <a:pt x="71401" y="-7093"/>
                  <a:pt x="70320" y="-4983"/>
                </a:cubicBezTo>
                <a:lnTo>
                  <a:pt x="50914" y="33038"/>
                </a:lnTo>
                <a:lnTo>
                  <a:pt x="8754" y="39735"/>
                </a:lnTo>
                <a:cubicBezTo>
                  <a:pt x="6407" y="40104"/>
                  <a:pt x="4456" y="41765"/>
                  <a:pt x="3718" y="44033"/>
                </a:cubicBezTo>
                <a:cubicBezTo>
                  <a:pt x="2979" y="46300"/>
                  <a:pt x="3586" y="48779"/>
                  <a:pt x="5247" y="50466"/>
                </a:cubicBezTo>
                <a:lnTo>
                  <a:pt x="35411" y="80656"/>
                </a:lnTo>
                <a:lnTo>
                  <a:pt x="28766" y="122816"/>
                </a:lnTo>
                <a:cubicBezTo>
                  <a:pt x="28397" y="125163"/>
                  <a:pt x="29373" y="127536"/>
                  <a:pt x="31297" y="128934"/>
                </a:cubicBezTo>
                <a:cubicBezTo>
                  <a:pt x="33222" y="130331"/>
                  <a:pt x="35753" y="130542"/>
                  <a:pt x="37889" y="129461"/>
                </a:cubicBezTo>
                <a:lnTo>
                  <a:pt x="75963" y="110108"/>
                </a:lnTo>
                <a:lnTo>
                  <a:pt x="114010" y="129461"/>
                </a:lnTo>
                <a:cubicBezTo>
                  <a:pt x="116119" y="130542"/>
                  <a:pt x="118677" y="130331"/>
                  <a:pt x="120602" y="128934"/>
                </a:cubicBezTo>
                <a:cubicBezTo>
                  <a:pt x="122526" y="127536"/>
                  <a:pt x="123502" y="125189"/>
                  <a:pt x="123133" y="122816"/>
                </a:cubicBezTo>
                <a:lnTo>
                  <a:pt x="116462" y="80656"/>
                </a:lnTo>
                <a:lnTo>
                  <a:pt x="146626" y="50466"/>
                </a:lnTo>
                <a:cubicBezTo>
                  <a:pt x="148313" y="48779"/>
                  <a:pt x="148893" y="46300"/>
                  <a:pt x="148155" y="44033"/>
                </a:cubicBezTo>
                <a:cubicBezTo>
                  <a:pt x="147417" y="41765"/>
                  <a:pt x="145492" y="40104"/>
                  <a:pt x="143119" y="39735"/>
                </a:cubicBezTo>
                <a:lnTo>
                  <a:pt x="100985" y="33038"/>
                </a:lnTo>
                <a:lnTo>
                  <a:pt x="81605" y="-4983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58" name="Text 56"/>
          <p:cNvSpPr/>
          <p:nvPr/>
        </p:nvSpPr>
        <p:spPr>
          <a:xfrm>
            <a:off x="691709" y="6862482"/>
            <a:ext cx="11092485" cy="404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Success Factors:</a:t>
            </a:r>
            <a:pPr>
              <a:lnSpc>
                <a:spcPct val="130000"/>
              </a:lnSpc>
            </a:pPr>
            <a:r>
              <a:rPr lang="en-US" sz="1063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Focus on subscription conversion, customer journey optimization, strategic discount rebalancing, and gender-targeted marketing to maximize revenue and customer lifetime value.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Recommendations &amp; Action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5438" y="1087438"/>
            <a:ext cx="5699125" cy="3365500"/>
          </a:xfrm>
          <a:custGeom>
            <a:avLst/>
            <a:gdLst/>
            <a:ahLst/>
            <a:cxnLst/>
            <a:rect l="l" t="t" r="r" b="b"/>
            <a:pathLst>
              <a:path w="5699125" h="3365500">
                <a:moveTo>
                  <a:pt x="63507" y="0"/>
                </a:moveTo>
                <a:lnTo>
                  <a:pt x="5635618" y="0"/>
                </a:lnTo>
                <a:cubicBezTo>
                  <a:pt x="5670692" y="0"/>
                  <a:pt x="5699125" y="28433"/>
                  <a:pt x="5699125" y="63507"/>
                </a:cubicBezTo>
                <a:lnTo>
                  <a:pt x="5699125" y="3301993"/>
                </a:lnTo>
                <a:cubicBezTo>
                  <a:pt x="5699125" y="3337067"/>
                  <a:pt x="5670692" y="3365500"/>
                  <a:pt x="5635618" y="3365500"/>
                </a:cubicBezTo>
                <a:lnTo>
                  <a:pt x="63507" y="3365500"/>
                </a:lnTo>
                <a:cubicBezTo>
                  <a:pt x="28433" y="3365500"/>
                  <a:pt x="0" y="3337067"/>
                  <a:pt x="0" y="3301993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2C3138"/>
              </a:gs>
            </a:gsLst>
            <a:lin ang="2700000" scaled="1"/>
          </a:gradFill>
          <a:ln w="25400">
            <a:solidFill>
              <a:srgbClr val="A99A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0375" y="1222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" name="Shape 4"/>
          <p:cNvSpPr/>
          <p:nvPr/>
        </p:nvSpPr>
        <p:spPr>
          <a:xfrm>
            <a:off x="543719" y="1317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6458" y="32445"/>
                </a:moveTo>
                <a:cubicBezTo>
                  <a:pt x="119881" y="29728"/>
                  <a:pt x="122039" y="25524"/>
                  <a:pt x="122039" y="20836"/>
                </a:cubicBezTo>
                <a:cubicBezTo>
                  <a:pt x="122039" y="12613"/>
                  <a:pt x="115379" y="5953"/>
                  <a:pt x="107156" y="5953"/>
                </a:cubicBezTo>
                <a:cubicBezTo>
                  <a:pt x="98933" y="5953"/>
                  <a:pt x="92273" y="12613"/>
                  <a:pt x="92273" y="20836"/>
                </a:cubicBezTo>
                <a:cubicBezTo>
                  <a:pt x="92273" y="25524"/>
                  <a:pt x="94469" y="29728"/>
                  <a:pt x="97854" y="32445"/>
                </a:cubicBezTo>
                <a:lnTo>
                  <a:pt x="72405" y="72479"/>
                </a:lnTo>
                <a:cubicBezTo>
                  <a:pt x="68684" y="78321"/>
                  <a:pt x="60759" y="79772"/>
                  <a:pt x="55215" y="75605"/>
                </a:cubicBezTo>
                <a:lnTo>
                  <a:pt x="33077" y="59048"/>
                </a:lnTo>
                <a:cubicBezTo>
                  <a:pt x="34751" y="56666"/>
                  <a:pt x="35719" y="53727"/>
                  <a:pt x="35719" y="50602"/>
                </a:cubicBezTo>
                <a:cubicBezTo>
                  <a:pt x="35719" y="42379"/>
                  <a:pt x="29059" y="35719"/>
                  <a:pt x="20836" y="35719"/>
                </a:cubicBezTo>
                <a:cubicBezTo>
                  <a:pt x="12613" y="35719"/>
                  <a:pt x="5953" y="42379"/>
                  <a:pt x="5953" y="50602"/>
                </a:cubicBezTo>
                <a:cubicBezTo>
                  <a:pt x="5953" y="58713"/>
                  <a:pt x="12464" y="65336"/>
                  <a:pt x="20538" y="65484"/>
                </a:cubicBezTo>
                <a:lnTo>
                  <a:pt x="32668" y="146410"/>
                </a:lnTo>
                <a:cubicBezTo>
                  <a:pt x="34417" y="158055"/>
                  <a:pt x="44425" y="166688"/>
                  <a:pt x="56220" y="166688"/>
                </a:cubicBezTo>
                <a:lnTo>
                  <a:pt x="158093" y="166688"/>
                </a:lnTo>
                <a:cubicBezTo>
                  <a:pt x="169887" y="166688"/>
                  <a:pt x="179896" y="158055"/>
                  <a:pt x="181645" y="146410"/>
                </a:cubicBezTo>
                <a:lnTo>
                  <a:pt x="193774" y="65484"/>
                </a:lnTo>
                <a:cubicBezTo>
                  <a:pt x="201848" y="65336"/>
                  <a:pt x="208359" y="58713"/>
                  <a:pt x="208359" y="50602"/>
                </a:cubicBezTo>
                <a:cubicBezTo>
                  <a:pt x="208359" y="42379"/>
                  <a:pt x="201699" y="35719"/>
                  <a:pt x="193477" y="35719"/>
                </a:cubicBezTo>
                <a:cubicBezTo>
                  <a:pt x="185254" y="35719"/>
                  <a:pt x="178594" y="42379"/>
                  <a:pt x="178594" y="50602"/>
                </a:cubicBezTo>
                <a:cubicBezTo>
                  <a:pt x="178594" y="53727"/>
                  <a:pt x="179561" y="56666"/>
                  <a:pt x="181235" y="59048"/>
                </a:cubicBezTo>
                <a:lnTo>
                  <a:pt x="159134" y="75642"/>
                </a:lnTo>
                <a:cubicBezTo>
                  <a:pt x="153591" y="79809"/>
                  <a:pt x="145666" y="78358"/>
                  <a:pt x="141945" y="72517"/>
                </a:cubicBezTo>
                <a:lnTo>
                  <a:pt x="116458" y="3244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936625" y="1285875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Boost Subscriptions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0375" y="1698625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Promote exclusive benefits for subscribers including free express shipping, early access to sales, and member-only discounts to increase conversion rates.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0375" y="2796651"/>
            <a:ext cx="5429250" cy="1111250"/>
          </a:xfrm>
          <a:custGeom>
            <a:avLst/>
            <a:gdLst/>
            <a:ahLst/>
            <a:cxnLst/>
            <a:rect l="l" t="t" r="r" b="b"/>
            <a:pathLst>
              <a:path w="5429250" h="1111250">
                <a:moveTo>
                  <a:pt x="63497" y="0"/>
                </a:moveTo>
                <a:lnTo>
                  <a:pt x="5365753" y="0"/>
                </a:lnTo>
                <a:cubicBezTo>
                  <a:pt x="5400822" y="0"/>
                  <a:pt x="5429250" y="28428"/>
                  <a:pt x="5429250" y="63497"/>
                </a:cubicBezTo>
                <a:lnTo>
                  <a:pt x="5429250" y="1047753"/>
                </a:lnTo>
                <a:cubicBezTo>
                  <a:pt x="5429250" y="1082822"/>
                  <a:pt x="5400822" y="1111250"/>
                  <a:pt x="5365753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Shape 8"/>
          <p:cNvSpPr/>
          <p:nvPr/>
        </p:nvSpPr>
        <p:spPr>
          <a:xfrm>
            <a:off x="575469" y="293158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7337" y="10130"/>
                </a:moveTo>
                <a:cubicBezTo>
                  <a:pt x="40379" y="12250"/>
                  <a:pt x="41104" y="16436"/>
                  <a:pt x="38984" y="19450"/>
                </a:cubicBezTo>
                <a:lnTo>
                  <a:pt x="23357" y="41774"/>
                </a:lnTo>
                <a:cubicBezTo>
                  <a:pt x="22213" y="43393"/>
                  <a:pt x="20427" y="44425"/>
                  <a:pt x="18445" y="44593"/>
                </a:cubicBezTo>
                <a:cubicBezTo>
                  <a:pt x="16464" y="44760"/>
                  <a:pt x="14511" y="44090"/>
                  <a:pt x="13115" y="42695"/>
                </a:cubicBezTo>
                <a:lnTo>
                  <a:pt x="1953" y="31533"/>
                </a:lnTo>
                <a:cubicBezTo>
                  <a:pt x="-642" y="28910"/>
                  <a:pt x="-642" y="24668"/>
                  <a:pt x="1953" y="22045"/>
                </a:cubicBezTo>
                <a:cubicBezTo>
                  <a:pt x="4549" y="19422"/>
                  <a:pt x="8818" y="19450"/>
                  <a:pt x="11441" y="22045"/>
                </a:cubicBezTo>
                <a:lnTo>
                  <a:pt x="16966" y="27570"/>
                </a:lnTo>
                <a:lnTo>
                  <a:pt x="28017" y="11776"/>
                </a:lnTo>
                <a:cubicBezTo>
                  <a:pt x="30138" y="8734"/>
                  <a:pt x="34323" y="8009"/>
                  <a:pt x="37337" y="10130"/>
                </a:cubicBezTo>
                <a:close/>
                <a:moveTo>
                  <a:pt x="37337" y="54778"/>
                </a:moveTo>
                <a:cubicBezTo>
                  <a:pt x="40379" y="56899"/>
                  <a:pt x="41104" y="61085"/>
                  <a:pt x="38984" y="64098"/>
                </a:cubicBezTo>
                <a:lnTo>
                  <a:pt x="23357" y="86423"/>
                </a:lnTo>
                <a:cubicBezTo>
                  <a:pt x="22213" y="88041"/>
                  <a:pt x="20427" y="89074"/>
                  <a:pt x="18445" y="89241"/>
                </a:cubicBezTo>
                <a:cubicBezTo>
                  <a:pt x="16464" y="89408"/>
                  <a:pt x="14511" y="88739"/>
                  <a:pt x="13115" y="87344"/>
                </a:cubicBezTo>
                <a:lnTo>
                  <a:pt x="1953" y="76181"/>
                </a:lnTo>
                <a:cubicBezTo>
                  <a:pt x="-670" y="73558"/>
                  <a:pt x="-670" y="69317"/>
                  <a:pt x="1953" y="66722"/>
                </a:cubicBezTo>
                <a:cubicBezTo>
                  <a:pt x="4576" y="64126"/>
                  <a:pt x="8818" y="64098"/>
                  <a:pt x="11413" y="66722"/>
                </a:cubicBezTo>
                <a:lnTo>
                  <a:pt x="16939" y="72247"/>
                </a:lnTo>
                <a:lnTo>
                  <a:pt x="27989" y="56452"/>
                </a:lnTo>
                <a:cubicBezTo>
                  <a:pt x="30110" y="53411"/>
                  <a:pt x="34296" y="52685"/>
                  <a:pt x="37309" y="54806"/>
                </a:cubicBezTo>
                <a:close/>
                <a:moveTo>
                  <a:pt x="62508" y="26789"/>
                </a:moveTo>
                <a:cubicBezTo>
                  <a:pt x="62508" y="21850"/>
                  <a:pt x="66498" y="17859"/>
                  <a:pt x="71438" y="17859"/>
                </a:cubicBezTo>
                <a:lnTo>
                  <a:pt x="133945" y="17859"/>
                </a:lnTo>
                <a:cubicBezTo>
                  <a:pt x="138885" y="17859"/>
                  <a:pt x="142875" y="21850"/>
                  <a:pt x="142875" y="26789"/>
                </a:cubicBezTo>
                <a:cubicBezTo>
                  <a:pt x="142875" y="31728"/>
                  <a:pt x="138885" y="35719"/>
                  <a:pt x="133945" y="35719"/>
                </a:cubicBezTo>
                <a:lnTo>
                  <a:pt x="71438" y="35719"/>
                </a:lnTo>
                <a:cubicBezTo>
                  <a:pt x="66498" y="35719"/>
                  <a:pt x="62508" y="31728"/>
                  <a:pt x="62508" y="26789"/>
                </a:cubicBezTo>
                <a:close/>
                <a:moveTo>
                  <a:pt x="62508" y="71438"/>
                </a:moveTo>
                <a:cubicBezTo>
                  <a:pt x="62508" y="66498"/>
                  <a:pt x="66498" y="62508"/>
                  <a:pt x="71438" y="62508"/>
                </a:cubicBezTo>
                <a:lnTo>
                  <a:pt x="133945" y="62508"/>
                </a:lnTo>
                <a:cubicBezTo>
                  <a:pt x="138885" y="62508"/>
                  <a:pt x="142875" y="66498"/>
                  <a:pt x="142875" y="71438"/>
                </a:cubicBezTo>
                <a:cubicBezTo>
                  <a:pt x="142875" y="76377"/>
                  <a:pt x="138885" y="80367"/>
                  <a:pt x="133945" y="80367"/>
                </a:cubicBezTo>
                <a:lnTo>
                  <a:pt x="71438" y="80367"/>
                </a:lnTo>
                <a:cubicBezTo>
                  <a:pt x="66498" y="80367"/>
                  <a:pt x="62508" y="76377"/>
                  <a:pt x="62508" y="71438"/>
                </a:cubicBezTo>
                <a:close/>
                <a:moveTo>
                  <a:pt x="44648" y="116086"/>
                </a:moveTo>
                <a:cubicBezTo>
                  <a:pt x="44648" y="111147"/>
                  <a:pt x="48639" y="107156"/>
                  <a:pt x="53578" y="107156"/>
                </a:cubicBezTo>
                <a:lnTo>
                  <a:pt x="133945" y="107156"/>
                </a:lnTo>
                <a:cubicBezTo>
                  <a:pt x="138885" y="107156"/>
                  <a:pt x="142875" y="111147"/>
                  <a:pt x="142875" y="116086"/>
                </a:cubicBezTo>
                <a:cubicBezTo>
                  <a:pt x="142875" y="121025"/>
                  <a:pt x="138885" y="125016"/>
                  <a:pt x="133945" y="125016"/>
                </a:cubicBezTo>
                <a:lnTo>
                  <a:pt x="53578" y="125016"/>
                </a:lnTo>
                <a:cubicBezTo>
                  <a:pt x="48639" y="125016"/>
                  <a:pt x="44648" y="121025"/>
                  <a:pt x="44648" y="116086"/>
                </a:cubicBezTo>
                <a:close/>
                <a:moveTo>
                  <a:pt x="17859" y="104924"/>
                </a:moveTo>
                <a:cubicBezTo>
                  <a:pt x="24020" y="104924"/>
                  <a:pt x="29021" y="109925"/>
                  <a:pt x="29021" y="116086"/>
                </a:cubicBezTo>
                <a:cubicBezTo>
                  <a:pt x="29021" y="122246"/>
                  <a:pt x="24020" y="127248"/>
                  <a:pt x="17859" y="127248"/>
                </a:cubicBezTo>
                <a:cubicBezTo>
                  <a:pt x="11699" y="127248"/>
                  <a:pt x="6697" y="122246"/>
                  <a:pt x="6697" y="116086"/>
                </a:cubicBezTo>
                <a:cubicBezTo>
                  <a:pt x="6697" y="109925"/>
                  <a:pt x="11699" y="104924"/>
                  <a:pt x="17859" y="104924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1" name="Text 9"/>
          <p:cNvSpPr/>
          <p:nvPr/>
        </p:nvSpPr>
        <p:spPr>
          <a:xfrm>
            <a:off x="738188" y="2891901"/>
            <a:ext cx="512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320940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875" y="3177651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customers with 3+ purchases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4316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875" y="3399901"/>
            <a:ext cx="1674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 20% welcome discount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365390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875" y="3622151"/>
            <a:ext cx="196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Emphasize $120 higher order value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0375" y="4003151"/>
            <a:ext cx="5429250" cy="317500"/>
          </a:xfrm>
          <a:custGeom>
            <a:avLst/>
            <a:gdLst/>
            <a:ahLst/>
            <a:cxnLst/>
            <a:rect l="l" t="t" r="r" b="b"/>
            <a:pathLst>
              <a:path w="5429250" h="317500">
                <a:moveTo>
                  <a:pt x="63500" y="0"/>
                </a:moveTo>
                <a:lnTo>
                  <a:pt x="5365750" y="0"/>
                </a:lnTo>
                <a:cubicBezTo>
                  <a:pt x="5400797" y="0"/>
                  <a:pt x="5429250" y="28453"/>
                  <a:pt x="5429250" y="63500"/>
                </a:cubicBezTo>
                <a:lnTo>
                  <a:pt x="5429250" y="254000"/>
                </a:lnTo>
                <a:cubicBezTo>
                  <a:pt x="5429250" y="289047"/>
                  <a:pt x="5400797" y="317500"/>
                  <a:pt x="536575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5E6D55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19" name="Text 17"/>
          <p:cNvSpPr/>
          <p:nvPr/>
        </p:nvSpPr>
        <p:spPr>
          <a:xfrm>
            <a:off x="523875" y="4066651"/>
            <a:ext cx="536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+40% subscription rate, +25% customer LTV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62146" y="1082146"/>
            <a:ext cx="5712354" cy="3378729"/>
          </a:xfrm>
          <a:custGeom>
            <a:avLst/>
            <a:gdLst/>
            <a:ahLst/>
            <a:cxnLst/>
            <a:rect l="l" t="t" r="r" b="b"/>
            <a:pathLst>
              <a:path w="5712354" h="3378729">
                <a:moveTo>
                  <a:pt x="63486" y="0"/>
                </a:moveTo>
                <a:lnTo>
                  <a:pt x="5648868" y="0"/>
                </a:lnTo>
                <a:cubicBezTo>
                  <a:pt x="5683930" y="0"/>
                  <a:pt x="5712354" y="28424"/>
                  <a:pt x="5712354" y="63486"/>
                </a:cubicBezTo>
                <a:lnTo>
                  <a:pt x="5712354" y="3315243"/>
                </a:lnTo>
                <a:cubicBezTo>
                  <a:pt x="5712354" y="3350305"/>
                  <a:pt x="5683930" y="3378729"/>
                  <a:pt x="5648868" y="3378729"/>
                </a:cubicBezTo>
                <a:lnTo>
                  <a:pt x="63486" y="3378729"/>
                </a:lnTo>
                <a:cubicBezTo>
                  <a:pt x="28424" y="3378729"/>
                  <a:pt x="0" y="3350305"/>
                  <a:pt x="0" y="3315243"/>
                </a:cubicBezTo>
                <a:lnTo>
                  <a:pt x="0" y="63486"/>
                </a:lnTo>
                <a:cubicBezTo>
                  <a:pt x="0" y="28424"/>
                  <a:pt x="28424" y="0"/>
                  <a:pt x="63486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792" y="121179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22" name="Shape 20"/>
          <p:cNvSpPr/>
          <p:nvPr/>
        </p:nvSpPr>
        <p:spPr>
          <a:xfrm>
            <a:off x="6398948" y="130704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1492" y="-9637"/>
                </a:moveTo>
                <a:cubicBezTo>
                  <a:pt x="86506" y="-12688"/>
                  <a:pt x="80218" y="-12688"/>
                  <a:pt x="75233" y="-9637"/>
                </a:cubicBezTo>
                <a:cubicBezTo>
                  <a:pt x="66154" y="-4093"/>
                  <a:pt x="60536" y="-2604"/>
                  <a:pt x="49895" y="-2828"/>
                </a:cubicBezTo>
                <a:cubicBezTo>
                  <a:pt x="44053" y="-2977"/>
                  <a:pt x="38621" y="186"/>
                  <a:pt x="35793" y="5321"/>
                </a:cubicBezTo>
                <a:cubicBezTo>
                  <a:pt x="30696" y="14660"/>
                  <a:pt x="26566" y="18790"/>
                  <a:pt x="17227" y="23887"/>
                </a:cubicBezTo>
                <a:cubicBezTo>
                  <a:pt x="12092" y="26677"/>
                  <a:pt x="8967" y="32147"/>
                  <a:pt x="9079" y="37988"/>
                </a:cubicBezTo>
                <a:cubicBezTo>
                  <a:pt x="9339" y="48630"/>
                  <a:pt x="7813" y="54248"/>
                  <a:pt x="2270" y="63326"/>
                </a:cubicBezTo>
                <a:cubicBezTo>
                  <a:pt x="-781" y="68312"/>
                  <a:pt x="-781" y="74600"/>
                  <a:pt x="2270" y="79586"/>
                </a:cubicBezTo>
                <a:cubicBezTo>
                  <a:pt x="7813" y="88664"/>
                  <a:pt x="9302" y="94283"/>
                  <a:pt x="9079" y="104924"/>
                </a:cubicBezTo>
                <a:cubicBezTo>
                  <a:pt x="8930" y="110765"/>
                  <a:pt x="12092" y="116198"/>
                  <a:pt x="17227" y="119025"/>
                </a:cubicBezTo>
                <a:cubicBezTo>
                  <a:pt x="25450" y="123527"/>
                  <a:pt x="29617" y="127248"/>
                  <a:pt x="34007" y="134466"/>
                </a:cubicBezTo>
                <a:lnTo>
                  <a:pt x="15887" y="170594"/>
                </a:lnTo>
                <a:cubicBezTo>
                  <a:pt x="13692" y="175022"/>
                  <a:pt x="15478" y="180380"/>
                  <a:pt x="19869" y="182575"/>
                </a:cubicBezTo>
                <a:lnTo>
                  <a:pt x="51867" y="198574"/>
                </a:lnTo>
                <a:cubicBezTo>
                  <a:pt x="56145" y="200695"/>
                  <a:pt x="61354" y="199095"/>
                  <a:pt x="63661" y="194928"/>
                </a:cubicBezTo>
                <a:lnTo>
                  <a:pt x="83307" y="159544"/>
                </a:lnTo>
                <a:lnTo>
                  <a:pt x="102952" y="194928"/>
                </a:lnTo>
                <a:cubicBezTo>
                  <a:pt x="105259" y="199095"/>
                  <a:pt x="110468" y="200732"/>
                  <a:pt x="114746" y="198574"/>
                </a:cubicBezTo>
                <a:lnTo>
                  <a:pt x="146745" y="182575"/>
                </a:lnTo>
                <a:cubicBezTo>
                  <a:pt x="151172" y="180380"/>
                  <a:pt x="152958" y="175022"/>
                  <a:pt x="150726" y="170594"/>
                </a:cubicBezTo>
                <a:lnTo>
                  <a:pt x="132643" y="134429"/>
                </a:lnTo>
                <a:cubicBezTo>
                  <a:pt x="136996" y="127211"/>
                  <a:pt x="141201" y="123490"/>
                  <a:pt x="149423" y="118988"/>
                </a:cubicBezTo>
                <a:cubicBezTo>
                  <a:pt x="154558" y="116198"/>
                  <a:pt x="157683" y="110728"/>
                  <a:pt x="157572" y="104887"/>
                </a:cubicBezTo>
                <a:cubicBezTo>
                  <a:pt x="157311" y="94245"/>
                  <a:pt x="158837" y="88627"/>
                  <a:pt x="164381" y="79549"/>
                </a:cubicBezTo>
                <a:cubicBezTo>
                  <a:pt x="167432" y="74563"/>
                  <a:pt x="167432" y="68275"/>
                  <a:pt x="164381" y="63289"/>
                </a:cubicBezTo>
                <a:cubicBezTo>
                  <a:pt x="158837" y="54211"/>
                  <a:pt x="157349" y="48592"/>
                  <a:pt x="157572" y="37951"/>
                </a:cubicBezTo>
                <a:cubicBezTo>
                  <a:pt x="157721" y="32110"/>
                  <a:pt x="154558" y="26677"/>
                  <a:pt x="149423" y="23850"/>
                </a:cubicBezTo>
                <a:cubicBezTo>
                  <a:pt x="140084" y="18752"/>
                  <a:pt x="135954" y="14622"/>
                  <a:pt x="130857" y="5283"/>
                </a:cubicBezTo>
                <a:cubicBezTo>
                  <a:pt x="128067" y="149"/>
                  <a:pt x="122597" y="-2977"/>
                  <a:pt x="116756" y="-2865"/>
                </a:cubicBezTo>
                <a:cubicBezTo>
                  <a:pt x="106114" y="-2604"/>
                  <a:pt x="100496" y="-4130"/>
                  <a:pt x="91418" y="-9674"/>
                </a:cubicBezTo>
                <a:close/>
                <a:moveTo>
                  <a:pt x="83344" y="35719"/>
                </a:moveTo>
                <a:cubicBezTo>
                  <a:pt x="103057" y="35719"/>
                  <a:pt x="119063" y="51724"/>
                  <a:pt x="119063" y="71438"/>
                </a:cubicBezTo>
                <a:cubicBezTo>
                  <a:pt x="119063" y="91151"/>
                  <a:pt x="103057" y="107156"/>
                  <a:pt x="83344" y="107156"/>
                </a:cubicBezTo>
                <a:cubicBezTo>
                  <a:pt x="63630" y="107156"/>
                  <a:pt x="47625" y="91151"/>
                  <a:pt x="47625" y="71438"/>
                </a:cubicBezTo>
                <a:cubicBezTo>
                  <a:pt x="47625" y="51724"/>
                  <a:pt x="63630" y="35719"/>
                  <a:pt x="83344" y="35719"/>
                </a:cubicBezTo>
                <a:close/>
              </a:path>
            </a:pathLst>
          </a:custGeom>
          <a:solidFill>
            <a:srgbClr val="EAECEE"/>
          </a:solidFill>
          <a:ln/>
        </p:spPr>
      </p:sp>
      <p:sp>
        <p:nvSpPr>
          <p:cNvPr id="23" name="Text 21"/>
          <p:cNvSpPr/>
          <p:nvPr/>
        </p:nvSpPr>
        <p:spPr>
          <a:xfrm>
            <a:off x="6768042" y="1275294"/>
            <a:ext cx="2436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Loyalty Programs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91792" y="1688044"/>
            <a:ext cx="55165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Reward repeat buyers to move them into the "Loyal" segment with tiered benefits, exclusive access, and personalized offers based on purchase history.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91792" y="2807232"/>
            <a:ext cx="5453063" cy="1111250"/>
          </a:xfrm>
          <a:custGeom>
            <a:avLst/>
            <a:gdLst/>
            <a:ahLst/>
            <a:cxnLst/>
            <a:rect l="l" t="t" r="r" b="b"/>
            <a:pathLst>
              <a:path w="5453063" h="1111250">
                <a:moveTo>
                  <a:pt x="63497" y="0"/>
                </a:moveTo>
                <a:lnTo>
                  <a:pt x="5389566" y="0"/>
                </a:lnTo>
                <a:cubicBezTo>
                  <a:pt x="5424634" y="0"/>
                  <a:pt x="5453063" y="28428"/>
                  <a:pt x="5453063" y="63497"/>
                </a:cubicBezTo>
                <a:lnTo>
                  <a:pt x="5453063" y="1047753"/>
                </a:lnTo>
                <a:cubicBezTo>
                  <a:pt x="5453063" y="1082822"/>
                  <a:pt x="5424634" y="1111250"/>
                  <a:pt x="5389566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6886" y="294216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64880" y="1451"/>
                </a:moveTo>
                <a:cubicBezTo>
                  <a:pt x="69038" y="-474"/>
                  <a:pt x="73837" y="-474"/>
                  <a:pt x="77995" y="1451"/>
                </a:cubicBezTo>
                <a:lnTo>
                  <a:pt x="138996" y="29635"/>
                </a:lnTo>
                <a:cubicBezTo>
                  <a:pt x="141368" y="30724"/>
                  <a:pt x="142875" y="33096"/>
                  <a:pt x="142875" y="35719"/>
                </a:cubicBezTo>
                <a:cubicBezTo>
                  <a:pt x="142875" y="38342"/>
                  <a:pt x="141368" y="40714"/>
                  <a:pt x="138996" y="41802"/>
                </a:cubicBezTo>
                <a:lnTo>
                  <a:pt x="77995" y="69986"/>
                </a:lnTo>
                <a:cubicBezTo>
                  <a:pt x="73837" y="71912"/>
                  <a:pt x="69038" y="71912"/>
                  <a:pt x="64880" y="69986"/>
                </a:cubicBezTo>
                <a:lnTo>
                  <a:pt x="3879" y="41802"/>
                </a:lnTo>
                <a:cubicBezTo>
                  <a:pt x="1507" y="40686"/>
                  <a:pt x="0" y="38314"/>
                  <a:pt x="0" y="35719"/>
                </a:cubicBezTo>
                <a:cubicBezTo>
                  <a:pt x="0" y="33124"/>
                  <a:pt x="1507" y="30724"/>
                  <a:pt x="3879" y="29635"/>
                </a:cubicBezTo>
                <a:lnTo>
                  <a:pt x="64880" y="1451"/>
                </a:lnTo>
                <a:close/>
                <a:moveTo>
                  <a:pt x="13422" y="60945"/>
                </a:moveTo>
                <a:lnTo>
                  <a:pt x="59271" y="82125"/>
                </a:lnTo>
                <a:cubicBezTo>
                  <a:pt x="67001" y="85697"/>
                  <a:pt x="75902" y="85697"/>
                  <a:pt x="83632" y="82125"/>
                </a:cubicBezTo>
                <a:lnTo>
                  <a:pt x="129480" y="60945"/>
                </a:lnTo>
                <a:lnTo>
                  <a:pt x="138996" y="65354"/>
                </a:lnTo>
                <a:cubicBezTo>
                  <a:pt x="141368" y="66442"/>
                  <a:pt x="142875" y="68814"/>
                  <a:pt x="142875" y="71438"/>
                </a:cubicBezTo>
                <a:cubicBezTo>
                  <a:pt x="142875" y="74061"/>
                  <a:pt x="141368" y="76433"/>
                  <a:pt x="138996" y="77521"/>
                </a:cubicBezTo>
                <a:lnTo>
                  <a:pt x="77995" y="105705"/>
                </a:lnTo>
                <a:cubicBezTo>
                  <a:pt x="73837" y="107631"/>
                  <a:pt x="69038" y="107631"/>
                  <a:pt x="64880" y="105705"/>
                </a:cubicBezTo>
                <a:lnTo>
                  <a:pt x="3879" y="77521"/>
                </a:lnTo>
                <a:cubicBezTo>
                  <a:pt x="1507" y="76405"/>
                  <a:pt x="0" y="74033"/>
                  <a:pt x="0" y="71438"/>
                </a:cubicBezTo>
                <a:cubicBezTo>
                  <a:pt x="0" y="68842"/>
                  <a:pt x="1507" y="66442"/>
                  <a:pt x="3879" y="65354"/>
                </a:cubicBezTo>
                <a:lnTo>
                  <a:pt x="13395" y="60945"/>
                </a:lnTo>
                <a:close/>
                <a:moveTo>
                  <a:pt x="3879" y="101073"/>
                </a:moveTo>
                <a:lnTo>
                  <a:pt x="13395" y="96664"/>
                </a:lnTo>
                <a:lnTo>
                  <a:pt x="59243" y="117844"/>
                </a:lnTo>
                <a:cubicBezTo>
                  <a:pt x="66973" y="121416"/>
                  <a:pt x="75874" y="121416"/>
                  <a:pt x="83604" y="117844"/>
                </a:cubicBezTo>
                <a:lnTo>
                  <a:pt x="129453" y="96664"/>
                </a:lnTo>
                <a:lnTo>
                  <a:pt x="138968" y="101073"/>
                </a:lnTo>
                <a:cubicBezTo>
                  <a:pt x="141340" y="102161"/>
                  <a:pt x="142847" y="104533"/>
                  <a:pt x="142847" y="107156"/>
                </a:cubicBezTo>
                <a:cubicBezTo>
                  <a:pt x="142847" y="109779"/>
                  <a:pt x="141340" y="112151"/>
                  <a:pt x="138968" y="113240"/>
                </a:cubicBezTo>
                <a:lnTo>
                  <a:pt x="77967" y="141424"/>
                </a:lnTo>
                <a:cubicBezTo>
                  <a:pt x="73809" y="143349"/>
                  <a:pt x="69010" y="143349"/>
                  <a:pt x="64852" y="141424"/>
                </a:cubicBezTo>
                <a:lnTo>
                  <a:pt x="3879" y="113240"/>
                </a:lnTo>
                <a:cubicBezTo>
                  <a:pt x="1507" y="112123"/>
                  <a:pt x="0" y="109751"/>
                  <a:pt x="0" y="107156"/>
                </a:cubicBezTo>
                <a:cubicBezTo>
                  <a:pt x="0" y="104561"/>
                  <a:pt x="1507" y="102161"/>
                  <a:pt x="3879" y="101073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27" name="Text 25"/>
          <p:cNvSpPr/>
          <p:nvPr/>
        </p:nvSpPr>
        <p:spPr>
          <a:xfrm>
            <a:off x="6569604" y="2902482"/>
            <a:ext cx="515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 Structure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2917" y="321998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29" name="Text 27"/>
          <p:cNvSpPr/>
          <p:nvPr/>
        </p:nvSpPr>
        <p:spPr>
          <a:xfrm>
            <a:off x="6609292" y="3188232"/>
            <a:ext cx="2198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Bronze: 2-4 purchases → 10% discount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2917" y="344223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1" name="Text 29"/>
          <p:cNvSpPr/>
          <p:nvPr/>
        </p:nvSpPr>
        <p:spPr>
          <a:xfrm>
            <a:off x="6609292" y="3410482"/>
            <a:ext cx="212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Silver: 5-9 purchases → 15% discount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2917" y="366448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3" name="Text 31"/>
          <p:cNvSpPr/>
          <p:nvPr/>
        </p:nvSpPr>
        <p:spPr>
          <a:xfrm>
            <a:off x="6609292" y="3632732"/>
            <a:ext cx="210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Gold: 10+ purchases → 20% discount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91792" y="4013732"/>
            <a:ext cx="5453063" cy="317500"/>
          </a:xfrm>
          <a:custGeom>
            <a:avLst/>
            <a:gdLst/>
            <a:ahLst/>
            <a:cxnLst/>
            <a:rect l="l" t="t" r="r" b="b"/>
            <a:pathLst>
              <a:path w="5453063" h="317500">
                <a:moveTo>
                  <a:pt x="63500" y="0"/>
                </a:moveTo>
                <a:lnTo>
                  <a:pt x="5389563" y="0"/>
                </a:lnTo>
                <a:cubicBezTo>
                  <a:pt x="5424609" y="0"/>
                  <a:pt x="5453063" y="28453"/>
                  <a:pt x="5453063" y="63500"/>
                </a:cubicBezTo>
                <a:lnTo>
                  <a:pt x="5453063" y="254000"/>
                </a:lnTo>
                <a:cubicBezTo>
                  <a:pt x="5453063" y="289047"/>
                  <a:pt x="5424609" y="317500"/>
                  <a:pt x="53895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6D55">
                  <a:alpha val="20000"/>
                </a:srgbClr>
              </a:gs>
              <a:gs pos="100000">
                <a:srgbClr val="A99A8D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35" name="Text 33"/>
          <p:cNvSpPr/>
          <p:nvPr/>
        </p:nvSpPr>
        <p:spPr>
          <a:xfrm>
            <a:off x="6355292" y="4077232"/>
            <a:ext cx="5389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+30% repeat purchase rate, +20% retention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0146" y="4593172"/>
            <a:ext cx="5712354" cy="3378729"/>
          </a:xfrm>
          <a:custGeom>
            <a:avLst/>
            <a:gdLst/>
            <a:ahLst/>
            <a:cxnLst/>
            <a:rect l="l" t="t" r="r" b="b"/>
            <a:pathLst>
              <a:path w="5712354" h="3378729">
                <a:moveTo>
                  <a:pt x="63486" y="0"/>
                </a:moveTo>
                <a:lnTo>
                  <a:pt x="5648868" y="0"/>
                </a:lnTo>
                <a:cubicBezTo>
                  <a:pt x="5683930" y="0"/>
                  <a:pt x="5712354" y="28424"/>
                  <a:pt x="5712354" y="63486"/>
                </a:cubicBezTo>
                <a:lnTo>
                  <a:pt x="5712354" y="3315243"/>
                </a:lnTo>
                <a:cubicBezTo>
                  <a:pt x="5712354" y="3350305"/>
                  <a:pt x="5683930" y="3378729"/>
                  <a:pt x="5648868" y="3378729"/>
                </a:cubicBezTo>
                <a:lnTo>
                  <a:pt x="63486" y="3378729"/>
                </a:lnTo>
                <a:cubicBezTo>
                  <a:pt x="28424" y="3378729"/>
                  <a:pt x="0" y="3350305"/>
                  <a:pt x="0" y="3315243"/>
                </a:cubicBezTo>
                <a:lnTo>
                  <a:pt x="0" y="63486"/>
                </a:lnTo>
                <a:cubicBezTo>
                  <a:pt x="0" y="28424"/>
                  <a:pt x="28424" y="0"/>
                  <a:pt x="63486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9792" y="47228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38" name="Shape 36"/>
          <p:cNvSpPr/>
          <p:nvPr/>
        </p:nvSpPr>
        <p:spPr>
          <a:xfrm>
            <a:off x="521229" y="481806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Text 37"/>
          <p:cNvSpPr/>
          <p:nvPr/>
        </p:nvSpPr>
        <p:spPr>
          <a:xfrm>
            <a:off x="926042" y="4786313"/>
            <a:ext cx="2039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Discount Policy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9792" y="5199063"/>
            <a:ext cx="55165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sales boosts with margin control by implementing strategic discount thresholds, moving from 22% to 15% average discount while maintaining conversion rates.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9792" y="6318250"/>
            <a:ext cx="5453063" cy="1111250"/>
          </a:xfrm>
          <a:custGeom>
            <a:avLst/>
            <a:gdLst/>
            <a:ahLst/>
            <a:cxnLst/>
            <a:rect l="l" t="t" r="r" b="b"/>
            <a:pathLst>
              <a:path w="5453063" h="1111250">
                <a:moveTo>
                  <a:pt x="63497" y="0"/>
                </a:moveTo>
                <a:lnTo>
                  <a:pt x="5389566" y="0"/>
                </a:lnTo>
                <a:cubicBezTo>
                  <a:pt x="5424634" y="0"/>
                  <a:pt x="5453063" y="28428"/>
                  <a:pt x="5453063" y="63497"/>
                </a:cubicBezTo>
                <a:lnTo>
                  <a:pt x="5453063" y="1047753"/>
                </a:lnTo>
                <a:cubicBezTo>
                  <a:pt x="5453063" y="1082822"/>
                  <a:pt x="5424634" y="1111250"/>
                  <a:pt x="5389566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Shape 40"/>
          <p:cNvSpPr/>
          <p:nvPr/>
        </p:nvSpPr>
        <p:spPr>
          <a:xfrm>
            <a:off x="555956" y="6453188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42987" y="66973"/>
                </a:moveTo>
                <a:lnTo>
                  <a:pt x="93873" y="66973"/>
                </a:lnTo>
                <a:cubicBezTo>
                  <a:pt x="88934" y="66973"/>
                  <a:pt x="84944" y="62982"/>
                  <a:pt x="84944" y="58043"/>
                </a:cubicBezTo>
                <a:lnTo>
                  <a:pt x="84944" y="8930"/>
                </a:lnTo>
                <a:cubicBezTo>
                  <a:pt x="84944" y="3990"/>
                  <a:pt x="88962" y="-56"/>
                  <a:pt x="93845" y="586"/>
                </a:cubicBezTo>
                <a:cubicBezTo>
                  <a:pt x="123704" y="4549"/>
                  <a:pt x="147368" y="28212"/>
                  <a:pt x="151330" y="58071"/>
                </a:cubicBezTo>
                <a:cubicBezTo>
                  <a:pt x="151972" y="62954"/>
                  <a:pt x="147926" y="66973"/>
                  <a:pt x="142987" y="66973"/>
                </a:cubicBezTo>
                <a:close/>
                <a:moveTo>
                  <a:pt x="62117" y="10381"/>
                </a:moveTo>
                <a:cubicBezTo>
                  <a:pt x="67168" y="9320"/>
                  <a:pt x="71549" y="13450"/>
                  <a:pt x="71549" y="18613"/>
                </a:cubicBezTo>
                <a:lnTo>
                  <a:pt x="71549" y="73670"/>
                </a:lnTo>
                <a:cubicBezTo>
                  <a:pt x="71549" y="75233"/>
                  <a:pt x="72107" y="76740"/>
                  <a:pt x="73084" y="77939"/>
                </a:cubicBezTo>
                <a:lnTo>
                  <a:pt x="109947" y="122420"/>
                </a:lnTo>
                <a:cubicBezTo>
                  <a:pt x="113212" y="126355"/>
                  <a:pt x="112514" y="132299"/>
                  <a:pt x="108021" y="134727"/>
                </a:cubicBezTo>
                <a:cubicBezTo>
                  <a:pt x="98506" y="139917"/>
                  <a:pt x="87595" y="142875"/>
                  <a:pt x="76014" y="142875"/>
                </a:cubicBezTo>
                <a:cubicBezTo>
                  <a:pt x="39039" y="142875"/>
                  <a:pt x="9041" y="112877"/>
                  <a:pt x="9041" y="75902"/>
                </a:cubicBezTo>
                <a:cubicBezTo>
                  <a:pt x="9041" y="43672"/>
                  <a:pt x="31784" y="16771"/>
                  <a:pt x="62117" y="10381"/>
                </a:cubicBezTo>
                <a:close/>
                <a:moveTo>
                  <a:pt x="133331" y="80367"/>
                </a:moveTo>
                <a:lnTo>
                  <a:pt x="151191" y="80367"/>
                </a:lnTo>
                <a:cubicBezTo>
                  <a:pt x="156353" y="80367"/>
                  <a:pt x="160483" y="84748"/>
                  <a:pt x="159423" y="89799"/>
                </a:cubicBezTo>
                <a:cubicBezTo>
                  <a:pt x="156576" y="103305"/>
                  <a:pt x="149656" y="115305"/>
                  <a:pt x="140001" y="124458"/>
                </a:cubicBezTo>
                <a:cubicBezTo>
                  <a:pt x="136568" y="127722"/>
                  <a:pt x="131183" y="127025"/>
                  <a:pt x="128169" y="123369"/>
                </a:cubicBezTo>
                <a:lnTo>
                  <a:pt x="104617" y="94990"/>
                </a:lnTo>
                <a:cubicBezTo>
                  <a:pt x="99789" y="89157"/>
                  <a:pt x="103947" y="80367"/>
                  <a:pt x="111482" y="80367"/>
                </a:cubicBezTo>
                <a:lnTo>
                  <a:pt x="133303" y="80367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3" name="Text 41"/>
          <p:cNvSpPr/>
          <p:nvPr/>
        </p:nvSpPr>
        <p:spPr>
          <a:xfrm>
            <a:off x="727604" y="6413500"/>
            <a:ext cx="515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Strategy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60917" y="6731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5" name="Text 43"/>
          <p:cNvSpPr/>
          <p:nvPr/>
        </p:nvSpPr>
        <p:spPr>
          <a:xfrm>
            <a:off x="767292" y="6699250"/>
            <a:ext cx="182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discount to 15% average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60917" y="6953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7" name="Text 45"/>
          <p:cNvSpPr/>
          <p:nvPr/>
        </p:nvSpPr>
        <p:spPr>
          <a:xfrm>
            <a:off x="767292" y="6921500"/>
            <a:ext cx="161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premium products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60917" y="7175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9" name="Text 47"/>
          <p:cNvSpPr/>
          <p:nvPr/>
        </p:nvSpPr>
        <p:spPr>
          <a:xfrm>
            <a:off x="767292" y="7143750"/>
            <a:ext cx="155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high-spending users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49792" y="7524750"/>
            <a:ext cx="5453063" cy="317500"/>
          </a:xfrm>
          <a:custGeom>
            <a:avLst/>
            <a:gdLst/>
            <a:ahLst/>
            <a:cxnLst/>
            <a:rect l="l" t="t" r="r" b="b"/>
            <a:pathLst>
              <a:path w="5453063" h="317500">
                <a:moveTo>
                  <a:pt x="63500" y="0"/>
                </a:moveTo>
                <a:lnTo>
                  <a:pt x="5389563" y="0"/>
                </a:lnTo>
                <a:cubicBezTo>
                  <a:pt x="5424609" y="0"/>
                  <a:pt x="5453063" y="28453"/>
                  <a:pt x="5453063" y="63500"/>
                </a:cubicBezTo>
                <a:lnTo>
                  <a:pt x="5453063" y="254000"/>
                </a:lnTo>
                <a:cubicBezTo>
                  <a:pt x="5453063" y="289047"/>
                  <a:pt x="5424609" y="317500"/>
                  <a:pt x="53895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5E6D55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51" name="Text 49"/>
          <p:cNvSpPr/>
          <p:nvPr/>
        </p:nvSpPr>
        <p:spPr>
          <a:xfrm>
            <a:off x="513292" y="7588250"/>
            <a:ext cx="5389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+7% margin improvement, maintained conversion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67438" y="4598464"/>
            <a:ext cx="5699125" cy="3365500"/>
          </a:xfrm>
          <a:custGeom>
            <a:avLst/>
            <a:gdLst/>
            <a:ahLst/>
            <a:cxnLst/>
            <a:rect l="l" t="t" r="r" b="b"/>
            <a:pathLst>
              <a:path w="5699125" h="3365500">
                <a:moveTo>
                  <a:pt x="63507" y="0"/>
                </a:moveTo>
                <a:lnTo>
                  <a:pt x="5635618" y="0"/>
                </a:lnTo>
                <a:cubicBezTo>
                  <a:pt x="5670692" y="0"/>
                  <a:pt x="5699125" y="28433"/>
                  <a:pt x="5699125" y="63507"/>
                </a:cubicBezTo>
                <a:lnTo>
                  <a:pt x="5699125" y="3301993"/>
                </a:lnTo>
                <a:cubicBezTo>
                  <a:pt x="5699125" y="3337067"/>
                  <a:pt x="5670692" y="3365500"/>
                  <a:pt x="5635618" y="3365500"/>
                </a:cubicBezTo>
                <a:lnTo>
                  <a:pt x="63507" y="3365500"/>
                </a:lnTo>
                <a:cubicBezTo>
                  <a:pt x="28433" y="3365500"/>
                  <a:pt x="0" y="3337067"/>
                  <a:pt x="0" y="3301993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gradFill rotWithShape="1" flip="none">
            <a:gsLst>
              <a:gs pos="0">
                <a:srgbClr val="5E6D55">
                  <a:alpha val="20000"/>
                </a:srgbClr>
              </a:gs>
              <a:gs pos="100000">
                <a:srgbClr val="2C3138"/>
              </a:gs>
            </a:gsLst>
            <a:lin ang="2700000" scaled="1"/>
          </a:gradFill>
          <a:ln w="25400">
            <a:solidFill>
              <a:srgbClr val="5E6D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02375" y="47334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54" name="Shape 52"/>
          <p:cNvSpPr/>
          <p:nvPr/>
        </p:nvSpPr>
        <p:spPr>
          <a:xfrm>
            <a:off x="6397625" y="48286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1599" y="7032"/>
                </a:moveTo>
                <a:cubicBezTo>
                  <a:pt x="175878" y="8930"/>
                  <a:pt x="178594" y="13171"/>
                  <a:pt x="178594" y="17859"/>
                </a:cubicBezTo>
                <a:lnTo>
                  <a:pt x="178594" y="172641"/>
                </a:lnTo>
                <a:cubicBezTo>
                  <a:pt x="178594" y="177329"/>
                  <a:pt x="175878" y="181570"/>
                  <a:pt x="171599" y="183468"/>
                </a:cubicBezTo>
                <a:cubicBezTo>
                  <a:pt x="167320" y="185365"/>
                  <a:pt x="162371" y="184658"/>
                  <a:pt x="158837" y="181570"/>
                </a:cubicBezTo>
                <a:lnTo>
                  <a:pt x="141498" y="166427"/>
                </a:lnTo>
                <a:cubicBezTo>
                  <a:pt x="125276" y="152251"/>
                  <a:pt x="104775" y="143991"/>
                  <a:pt x="83307" y="142987"/>
                </a:cubicBezTo>
                <a:lnTo>
                  <a:pt x="83307" y="178594"/>
                </a:lnTo>
                <a:cubicBezTo>
                  <a:pt x="83307" y="185179"/>
                  <a:pt x="77986" y="190500"/>
                  <a:pt x="71400" y="190500"/>
                </a:cubicBezTo>
                <a:lnTo>
                  <a:pt x="59494" y="190500"/>
                </a:lnTo>
                <a:cubicBezTo>
                  <a:pt x="52908" y="190500"/>
                  <a:pt x="47588" y="185179"/>
                  <a:pt x="47588" y="178594"/>
                </a:cubicBezTo>
                <a:lnTo>
                  <a:pt x="47588" y="142875"/>
                </a:lnTo>
                <a:cubicBezTo>
                  <a:pt x="21320" y="142875"/>
                  <a:pt x="0" y="121555"/>
                  <a:pt x="0" y="95250"/>
                </a:cubicBezTo>
                <a:cubicBezTo>
                  <a:pt x="0" y="68945"/>
                  <a:pt x="21320" y="47625"/>
                  <a:pt x="47625" y="47625"/>
                </a:cubicBezTo>
                <a:lnTo>
                  <a:pt x="79065" y="47625"/>
                </a:lnTo>
                <a:cubicBezTo>
                  <a:pt x="102059" y="47551"/>
                  <a:pt x="124234" y="39179"/>
                  <a:pt x="141536" y="24073"/>
                </a:cubicBezTo>
                <a:lnTo>
                  <a:pt x="158874" y="8930"/>
                </a:lnTo>
                <a:cubicBezTo>
                  <a:pt x="162371" y="5842"/>
                  <a:pt x="167394" y="5135"/>
                  <a:pt x="171636" y="7032"/>
                </a:cubicBezTo>
                <a:close/>
                <a:moveTo>
                  <a:pt x="83344" y="119063"/>
                </a:moveTo>
                <a:lnTo>
                  <a:pt x="83344" y="119137"/>
                </a:lnTo>
                <a:cubicBezTo>
                  <a:pt x="109500" y="120142"/>
                  <a:pt x="134615" y="129741"/>
                  <a:pt x="154781" y="146447"/>
                </a:cubicBezTo>
                <a:lnTo>
                  <a:pt x="154781" y="44016"/>
                </a:lnTo>
                <a:cubicBezTo>
                  <a:pt x="134615" y="60722"/>
                  <a:pt x="109500" y="70321"/>
                  <a:pt x="83344" y="71326"/>
                </a:cubicBezTo>
                <a:lnTo>
                  <a:pt x="83344" y="119063"/>
                </a:lnTo>
                <a:close/>
              </a:path>
            </a:pathLst>
          </a:custGeom>
          <a:solidFill>
            <a:srgbClr val="EAECEE"/>
          </a:solidFill>
          <a:ln/>
        </p:spPr>
      </p:sp>
      <p:sp>
        <p:nvSpPr>
          <p:cNvPr id="55" name="Text 53"/>
          <p:cNvSpPr/>
          <p:nvPr/>
        </p:nvSpPr>
        <p:spPr>
          <a:xfrm>
            <a:off x="6778625" y="4796901"/>
            <a:ext cx="1738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Positioning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02375" y="5209651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Highlight top-rated and best-selling products in campaigns, featuring Premium Winter Jacket (4.9★) and Organic Cotton Tee in marketing materials and homepage promotions.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02375" y="6307669"/>
            <a:ext cx="5429250" cy="1111250"/>
          </a:xfrm>
          <a:custGeom>
            <a:avLst/>
            <a:gdLst/>
            <a:ahLst/>
            <a:cxnLst/>
            <a:rect l="l" t="t" r="r" b="b"/>
            <a:pathLst>
              <a:path w="5429250" h="1111250">
                <a:moveTo>
                  <a:pt x="63497" y="0"/>
                </a:moveTo>
                <a:lnTo>
                  <a:pt x="5365753" y="0"/>
                </a:lnTo>
                <a:cubicBezTo>
                  <a:pt x="5400822" y="0"/>
                  <a:pt x="5429250" y="28428"/>
                  <a:pt x="5429250" y="63497"/>
                </a:cubicBezTo>
                <a:lnTo>
                  <a:pt x="5429250" y="1047753"/>
                </a:lnTo>
                <a:cubicBezTo>
                  <a:pt x="5429250" y="1082822"/>
                  <a:pt x="5400822" y="1111250"/>
                  <a:pt x="5365753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8" name="Shape 56"/>
          <p:cNvSpPr/>
          <p:nvPr/>
        </p:nvSpPr>
        <p:spPr>
          <a:xfrm>
            <a:off x="6408539" y="6442607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6367" y="-5274"/>
                </a:moveTo>
                <a:cubicBezTo>
                  <a:pt x="85223" y="-7507"/>
                  <a:pt x="82907" y="-8930"/>
                  <a:pt x="80395" y="-8930"/>
                </a:cubicBezTo>
                <a:cubicBezTo>
                  <a:pt x="77884" y="-8930"/>
                  <a:pt x="75567" y="-7507"/>
                  <a:pt x="74423" y="-5274"/>
                </a:cubicBezTo>
                <a:lnTo>
                  <a:pt x="53885" y="34965"/>
                </a:lnTo>
                <a:lnTo>
                  <a:pt x="9265" y="42053"/>
                </a:lnTo>
                <a:cubicBezTo>
                  <a:pt x="6781" y="42444"/>
                  <a:pt x="4716" y="44202"/>
                  <a:pt x="3935" y="46602"/>
                </a:cubicBezTo>
                <a:cubicBezTo>
                  <a:pt x="3153" y="49002"/>
                  <a:pt x="3795" y="51625"/>
                  <a:pt x="5553" y="53411"/>
                </a:cubicBezTo>
                <a:lnTo>
                  <a:pt x="37477" y="85362"/>
                </a:lnTo>
                <a:lnTo>
                  <a:pt x="30445" y="129983"/>
                </a:lnTo>
                <a:cubicBezTo>
                  <a:pt x="30054" y="132466"/>
                  <a:pt x="31086" y="134978"/>
                  <a:pt x="33124" y="136457"/>
                </a:cubicBezTo>
                <a:cubicBezTo>
                  <a:pt x="35161" y="137936"/>
                  <a:pt x="37840" y="138159"/>
                  <a:pt x="40100" y="137015"/>
                </a:cubicBezTo>
                <a:lnTo>
                  <a:pt x="80395" y="116532"/>
                </a:lnTo>
                <a:lnTo>
                  <a:pt x="120662" y="137015"/>
                </a:lnTo>
                <a:cubicBezTo>
                  <a:pt x="122895" y="138159"/>
                  <a:pt x="125602" y="137936"/>
                  <a:pt x="127639" y="136457"/>
                </a:cubicBezTo>
                <a:cubicBezTo>
                  <a:pt x="129676" y="134978"/>
                  <a:pt x="130708" y="132494"/>
                  <a:pt x="130318" y="129983"/>
                </a:cubicBezTo>
                <a:lnTo>
                  <a:pt x="123258" y="85362"/>
                </a:lnTo>
                <a:lnTo>
                  <a:pt x="155181" y="53411"/>
                </a:lnTo>
                <a:cubicBezTo>
                  <a:pt x="156967" y="51625"/>
                  <a:pt x="157581" y="49002"/>
                  <a:pt x="156800" y="46602"/>
                </a:cubicBezTo>
                <a:cubicBezTo>
                  <a:pt x="156018" y="44202"/>
                  <a:pt x="153981" y="42444"/>
                  <a:pt x="151470" y="42053"/>
                </a:cubicBezTo>
                <a:lnTo>
                  <a:pt x="106877" y="34965"/>
                </a:lnTo>
                <a:lnTo>
                  <a:pt x="86367" y="-5274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59" name="Text 57"/>
          <p:cNvSpPr/>
          <p:nvPr/>
        </p:nvSpPr>
        <p:spPr>
          <a:xfrm>
            <a:off x="6580188" y="6402919"/>
            <a:ext cx="512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Campaign Focus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13500" y="67204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61" name="Text 59"/>
          <p:cNvSpPr/>
          <p:nvPr/>
        </p:nvSpPr>
        <p:spPr>
          <a:xfrm>
            <a:off x="6619875" y="6688669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4.8+ rated products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413500" y="69426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63" name="Text 61"/>
          <p:cNvSpPr/>
          <p:nvPr/>
        </p:nvSpPr>
        <p:spPr>
          <a:xfrm>
            <a:off x="6619875" y="6910919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Showcase bestsellers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13500" y="71649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65" name="Text 63"/>
          <p:cNvSpPr/>
          <p:nvPr/>
        </p:nvSpPr>
        <p:spPr>
          <a:xfrm>
            <a:off x="6619875" y="7133169"/>
            <a:ext cx="163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Emphasize quality &amp; reviews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02375" y="7514169"/>
            <a:ext cx="5429250" cy="317500"/>
          </a:xfrm>
          <a:custGeom>
            <a:avLst/>
            <a:gdLst/>
            <a:ahLst/>
            <a:cxnLst/>
            <a:rect l="l" t="t" r="r" b="b"/>
            <a:pathLst>
              <a:path w="5429250" h="317500">
                <a:moveTo>
                  <a:pt x="63500" y="0"/>
                </a:moveTo>
                <a:lnTo>
                  <a:pt x="5365750" y="0"/>
                </a:lnTo>
                <a:cubicBezTo>
                  <a:pt x="5400797" y="0"/>
                  <a:pt x="5429250" y="28453"/>
                  <a:pt x="5429250" y="63500"/>
                </a:cubicBezTo>
                <a:lnTo>
                  <a:pt x="5429250" y="254000"/>
                </a:lnTo>
                <a:cubicBezTo>
                  <a:pt x="5429250" y="289047"/>
                  <a:pt x="5400797" y="317500"/>
                  <a:pt x="536575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6D55">
                  <a:alpha val="20000"/>
                </a:srgbClr>
              </a:gs>
              <a:gs pos="100000">
                <a:srgbClr val="A99A8D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67" name="Text 65"/>
          <p:cNvSpPr/>
          <p:nvPr/>
        </p:nvSpPr>
        <p:spPr>
          <a:xfrm>
            <a:off x="6365875" y="7577669"/>
            <a:ext cx="536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+15% conversion on featured products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20146" y="8104190"/>
            <a:ext cx="11554354" cy="576792"/>
          </a:xfrm>
          <a:custGeom>
            <a:avLst/>
            <a:gdLst/>
            <a:ahLst/>
            <a:cxnLst/>
            <a:rect l="l" t="t" r="r" b="b"/>
            <a:pathLst>
              <a:path w="11554354" h="576792">
                <a:moveTo>
                  <a:pt x="63499" y="0"/>
                </a:moveTo>
                <a:lnTo>
                  <a:pt x="11490855" y="0"/>
                </a:lnTo>
                <a:cubicBezTo>
                  <a:pt x="11525925" y="0"/>
                  <a:pt x="11554354" y="28429"/>
                  <a:pt x="11554354" y="63499"/>
                </a:cubicBezTo>
                <a:lnTo>
                  <a:pt x="11554354" y="513293"/>
                </a:lnTo>
                <a:cubicBezTo>
                  <a:pt x="11554354" y="548362"/>
                  <a:pt x="11525925" y="576792"/>
                  <a:pt x="11490855" y="576792"/>
                </a:cubicBezTo>
                <a:lnTo>
                  <a:pt x="63499" y="576792"/>
                </a:lnTo>
                <a:cubicBezTo>
                  <a:pt x="28429" y="576792"/>
                  <a:pt x="0" y="548362"/>
                  <a:pt x="0" y="513293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 w="8467">
            <a:solidFill>
              <a:srgbClr val="A99A8D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3917" y="822854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79375"/>
                </a:moveTo>
                <a:lnTo>
                  <a:pt x="6077" y="79375"/>
                </a:lnTo>
                <a:cubicBezTo>
                  <a:pt x="-99" y="79375"/>
                  <a:pt x="-3894" y="72653"/>
                  <a:pt x="-719" y="67345"/>
                </a:cubicBezTo>
                <a:lnTo>
                  <a:pt x="12402" y="45467"/>
                </a:lnTo>
                <a:cubicBezTo>
                  <a:pt x="14560" y="41870"/>
                  <a:pt x="18430" y="39688"/>
                  <a:pt x="22622" y="39688"/>
                </a:cubicBezTo>
                <a:lnTo>
                  <a:pt x="46186" y="39688"/>
                </a:lnTo>
                <a:cubicBezTo>
                  <a:pt x="65063" y="7714"/>
                  <a:pt x="93216" y="6102"/>
                  <a:pt x="112043" y="8855"/>
                </a:cubicBezTo>
                <a:cubicBezTo>
                  <a:pt x="115218" y="9327"/>
                  <a:pt x="117698" y="11807"/>
                  <a:pt x="118145" y="14957"/>
                </a:cubicBezTo>
                <a:cubicBezTo>
                  <a:pt x="120898" y="33784"/>
                  <a:pt x="119286" y="61937"/>
                  <a:pt x="87313" y="80814"/>
                </a:cubicBezTo>
                <a:lnTo>
                  <a:pt x="87313" y="104378"/>
                </a:lnTo>
                <a:cubicBezTo>
                  <a:pt x="87313" y="108570"/>
                  <a:pt x="85130" y="112440"/>
                  <a:pt x="81533" y="114598"/>
                </a:cubicBezTo>
                <a:lnTo>
                  <a:pt x="59655" y="127719"/>
                </a:lnTo>
                <a:cubicBezTo>
                  <a:pt x="54372" y="130894"/>
                  <a:pt x="47625" y="127074"/>
                  <a:pt x="47625" y="120923"/>
                </a:cubicBezTo>
                <a:lnTo>
                  <a:pt x="47625" y="95250"/>
                </a:lnTo>
                <a:cubicBezTo>
                  <a:pt x="47625" y="86494"/>
                  <a:pt x="40506" y="79375"/>
                  <a:pt x="31750" y="79375"/>
                </a:cubicBezTo>
                <a:lnTo>
                  <a:pt x="31725" y="79375"/>
                </a:lnTo>
                <a:close/>
                <a:moveTo>
                  <a:pt x="99219" y="39688"/>
                </a:moveTo>
                <a:cubicBezTo>
                  <a:pt x="99219" y="33116"/>
                  <a:pt x="93884" y="27781"/>
                  <a:pt x="87313" y="27781"/>
                </a:cubicBezTo>
                <a:cubicBezTo>
                  <a:pt x="80741" y="27781"/>
                  <a:pt x="75406" y="33116"/>
                  <a:pt x="75406" y="39688"/>
                </a:cubicBezTo>
                <a:cubicBezTo>
                  <a:pt x="75406" y="46259"/>
                  <a:pt x="80741" y="51594"/>
                  <a:pt x="87313" y="51594"/>
                </a:cubicBezTo>
                <a:cubicBezTo>
                  <a:pt x="93884" y="51594"/>
                  <a:pt x="99219" y="46259"/>
                  <a:pt x="99219" y="39688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70" name="Text 68"/>
          <p:cNvSpPr/>
          <p:nvPr/>
        </p:nvSpPr>
        <p:spPr>
          <a:xfrm>
            <a:off x="616479" y="8202089"/>
            <a:ext cx="11223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Priority: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Start with subscription campaigns and loyalty programs for immediate impact, followed by discount policy optimization and product positioning. Expected combined impact: +25% revenue, +30% customer retention.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 &amp; Expected Impact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5438" y="1087438"/>
            <a:ext cx="4111625" cy="3667125"/>
          </a:xfrm>
          <a:custGeom>
            <a:avLst/>
            <a:gdLst/>
            <a:ahLst/>
            <a:cxnLst/>
            <a:rect l="l" t="t" r="r" b="b"/>
            <a:pathLst>
              <a:path w="4111625" h="3667125">
                <a:moveTo>
                  <a:pt x="63515" y="0"/>
                </a:moveTo>
                <a:lnTo>
                  <a:pt x="4048110" y="0"/>
                </a:lnTo>
                <a:cubicBezTo>
                  <a:pt x="4083189" y="0"/>
                  <a:pt x="4111625" y="28436"/>
                  <a:pt x="4111625" y="63515"/>
                </a:cubicBezTo>
                <a:lnTo>
                  <a:pt x="4111625" y="3603610"/>
                </a:lnTo>
                <a:cubicBezTo>
                  <a:pt x="4111625" y="3638689"/>
                  <a:pt x="4083189" y="3667125"/>
                  <a:pt x="4048110" y="3667125"/>
                </a:cubicBezTo>
                <a:lnTo>
                  <a:pt x="63515" y="3667125"/>
                </a:lnTo>
                <a:cubicBezTo>
                  <a:pt x="28436" y="3667125"/>
                  <a:pt x="0" y="3638689"/>
                  <a:pt x="0" y="3603610"/>
                </a:cubicBezTo>
                <a:lnTo>
                  <a:pt x="0" y="63515"/>
                </a:lnTo>
                <a:cubicBezTo>
                  <a:pt x="0" y="28460"/>
                  <a:pt x="28460" y="0"/>
                  <a:pt x="63515" y="0"/>
                </a:cubicBezTo>
                <a:close/>
              </a:path>
            </a:pathLst>
          </a:custGeom>
          <a:gradFill rotWithShape="1" flip="none">
            <a:gsLst>
              <a:gs pos="0">
                <a:srgbClr val="A99A8D">
                  <a:alpha val="20000"/>
                </a:srgbClr>
              </a:gs>
              <a:gs pos="100000">
                <a:srgbClr val="2C3138"/>
              </a:gs>
            </a:gsLst>
            <a:lin ang="2700000" scaled="1"/>
          </a:gradFill>
          <a:ln w="25400">
            <a:solidFill>
              <a:srgbClr val="A99A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094" y="12541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" name="Text 4"/>
          <p:cNvSpPr/>
          <p:nvPr/>
        </p:nvSpPr>
        <p:spPr>
          <a:xfrm>
            <a:off x="698500" y="1222375"/>
            <a:ext cx="3698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Timeline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6250" y="1571625"/>
            <a:ext cx="3825875" cy="857250"/>
          </a:xfrm>
          <a:custGeom>
            <a:avLst/>
            <a:gdLst/>
            <a:ahLst/>
            <a:cxnLst/>
            <a:rect l="l" t="t" r="r" b="b"/>
            <a:pathLst>
              <a:path w="3825875" h="857250">
                <a:moveTo>
                  <a:pt x="31750" y="0"/>
                </a:moveTo>
                <a:lnTo>
                  <a:pt x="3762378" y="0"/>
                </a:lnTo>
                <a:cubicBezTo>
                  <a:pt x="3797447" y="0"/>
                  <a:pt x="3825875" y="28428"/>
                  <a:pt x="3825875" y="63497"/>
                </a:cubicBezTo>
                <a:lnTo>
                  <a:pt x="3825875" y="793753"/>
                </a:lnTo>
                <a:cubicBezTo>
                  <a:pt x="3825875" y="828822"/>
                  <a:pt x="3797447" y="857250"/>
                  <a:pt x="3762378" y="857250"/>
                </a:cubicBezTo>
                <a:lnTo>
                  <a:pt x="31750" y="857250"/>
                </a:lnTo>
                <a:cubicBezTo>
                  <a:pt x="14215" y="857250"/>
                  <a:pt x="0" y="843035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Shape 6"/>
          <p:cNvSpPr/>
          <p:nvPr/>
        </p:nvSpPr>
        <p:spPr>
          <a:xfrm>
            <a:off x="476250" y="1571625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750" y="0"/>
                </a:moveTo>
                <a:lnTo>
                  <a:pt x="31750" y="0"/>
                </a:lnTo>
                <a:lnTo>
                  <a:pt x="31750" y="857250"/>
                </a:lnTo>
                <a:lnTo>
                  <a:pt x="31750" y="857250"/>
                </a:lnTo>
                <a:cubicBezTo>
                  <a:pt x="14227" y="857250"/>
                  <a:pt x="0" y="843023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9" name="Text 7"/>
          <p:cNvSpPr/>
          <p:nvPr/>
        </p:nvSpPr>
        <p:spPr>
          <a:xfrm>
            <a:off x="587375" y="1666875"/>
            <a:ext cx="174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Subscription Push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24378" y="1682750"/>
            <a:ext cx="64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1-4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7375" y="1952625"/>
            <a:ext cx="36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targeted subscription campaigns for 3+ purchase customers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6250" y="2492375"/>
            <a:ext cx="3825875" cy="666750"/>
          </a:xfrm>
          <a:custGeom>
            <a:avLst/>
            <a:gdLst/>
            <a:ahLst/>
            <a:cxnLst/>
            <a:rect l="l" t="t" r="r" b="b"/>
            <a:pathLst>
              <a:path w="3825875" h="666750">
                <a:moveTo>
                  <a:pt x="31750" y="0"/>
                </a:moveTo>
                <a:lnTo>
                  <a:pt x="3762374" y="0"/>
                </a:lnTo>
                <a:cubicBezTo>
                  <a:pt x="3797445" y="0"/>
                  <a:pt x="3825875" y="28430"/>
                  <a:pt x="3825875" y="63501"/>
                </a:cubicBezTo>
                <a:lnTo>
                  <a:pt x="3825875" y="603249"/>
                </a:lnTo>
                <a:cubicBezTo>
                  <a:pt x="3825875" y="638320"/>
                  <a:pt x="3797445" y="666750"/>
                  <a:pt x="3762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Shape 11"/>
          <p:cNvSpPr/>
          <p:nvPr/>
        </p:nvSpPr>
        <p:spPr>
          <a:xfrm>
            <a:off x="476250" y="2492375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4" name="Text 12"/>
          <p:cNvSpPr/>
          <p:nvPr/>
        </p:nvSpPr>
        <p:spPr>
          <a:xfrm>
            <a:off x="587375" y="2587625"/>
            <a:ext cx="1658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Loyalty Program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89982" y="2603500"/>
            <a:ext cx="68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5-8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7375" y="2873375"/>
            <a:ext cx="368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 out tiered loyalty program with Bronze/Silver/Gold benefits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6250" y="3222625"/>
            <a:ext cx="3825875" cy="666750"/>
          </a:xfrm>
          <a:custGeom>
            <a:avLst/>
            <a:gdLst/>
            <a:ahLst/>
            <a:cxnLst/>
            <a:rect l="l" t="t" r="r" b="b"/>
            <a:pathLst>
              <a:path w="3825875" h="666750">
                <a:moveTo>
                  <a:pt x="31750" y="0"/>
                </a:moveTo>
                <a:lnTo>
                  <a:pt x="3762374" y="0"/>
                </a:lnTo>
                <a:cubicBezTo>
                  <a:pt x="3797445" y="0"/>
                  <a:pt x="3825875" y="28430"/>
                  <a:pt x="3825875" y="63501"/>
                </a:cubicBezTo>
                <a:lnTo>
                  <a:pt x="3825875" y="603249"/>
                </a:lnTo>
                <a:cubicBezTo>
                  <a:pt x="3825875" y="638320"/>
                  <a:pt x="3797445" y="666750"/>
                  <a:pt x="3762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Shape 16"/>
          <p:cNvSpPr/>
          <p:nvPr/>
        </p:nvSpPr>
        <p:spPr>
          <a:xfrm>
            <a:off x="476250" y="3222625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9" name="Text 17"/>
          <p:cNvSpPr/>
          <p:nvPr/>
        </p:nvSpPr>
        <p:spPr>
          <a:xfrm>
            <a:off x="587375" y="3317875"/>
            <a:ext cx="202406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Discount Optimization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54181" y="3333750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9-12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7375" y="3603625"/>
            <a:ext cx="368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strategic discount policy and product positioning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6250" y="3952875"/>
            <a:ext cx="3825875" cy="666750"/>
          </a:xfrm>
          <a:custGeom>
            <a:avLst/>
            <a:gdLst/>
            <a:ahLst/>
            <a:cxnLst/>
            <a:rect l="l" t="t" r="r" b="b"/>
            <a:pathLst>
              <a:path w="3825875" h="666750">
                <a:moveTo>
                  <a:pt x="31750" y="0"/>
                </a:moveTo>
                <a:lnTo>
                  <a:pt x="3762374" y="0"/>
                </a:lnTo>
                <a:cubicBezTo>
                  <a:pt x="3797445" y="0"/>
                  <a:pt x="3825875" y="28430"/>
                  <a:pt x="3825875" y="63501"/>
                </a:cubicBezTo>
                <a:lnTo>
                  <a:pt x="3825875" y="603249"/>
                </a:lnTo>
                <a:cubicBezTo>
                  <a:pt x="3825875" y="638320"/>
                  <a:pt x="3797445" y="666750"/>
                  <a:pt x="3762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1"/>
          <p:cNvSpPr/>
          <p:nvPr/>
        </p:nvSpPr>
        <p:spPr>
          <a:xfrm>
            <a:off x="476250" y="3952875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24" name="Text 22"/>
          <p:cNvSpPr/>
          <p:nvPr/>
        </p:nvSpPr>
        <p:spPr>
          <a:xfrm>
            <a:off x="587375" y="4048125"/>
            <a:ext cx="1928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4: Performance Review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75559" y="4064000"/>
            <a:ext cx="595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13+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7375" y="4333875"/>
            <a:ext cx="368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KPIs and adjust strategies based on performance data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0146" y="4860396"/>
            <a:ext cx="4124854" cy="2386542"/>
          </a:xfrm>
          <a:custGeom>
            <a:avLst/>
            <a:gdLst/>
            <a:ahLst/>
            <a:cxnLst/>
            <a:rect l="l" t="t" r="r" b="b"/>
            <a:pathLst>
              <a:path w="4124854" h="2386542">
                <a:moveTo>
                  <a:pt x="63506" y="0"/>
                </a:moveTo>
                <a:lnTo>
                  <a:pt x="4061348" y="0"/>
                </a:lnTo>
                <a:cubicBezTo>
                  <a:pt x="4096422" y="0"/>
                  <a:pt x="4124854" y="28433"/>
                  <a:pt x="4124854" y="63506"/>
                </a:cubicBezTo>
                <a:lnTo>
                  <a:pt x="4124854" y="2323036"/>
                </a:lnTo>
                <a:cubicBezTo>
                  <a:pt x="4124854" y="2358109"/>
                  <a:pt x="4096422" y="2386542"/>
                  <a:pt x="4061348" y="2386542"/>
                </a:cubicBezTo>
                <a:lnTo>
                  <a:pt x="63506" y="2386542"/>
                </a:lnTo>
                <a:cubicBezTo>
                  <a:pt x="28433" y="2386542"/>
                  <a:pt x="0" y="2358109"/>
                  <a:pt x="0" y="2323036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2C3138"/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9635" y="502179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89297" y="29766"/>
                </a:moveTo>
                <a:cubicBezTo>
                  <a:pt x="89297" y="24290"/>
                  <a:pt x="84851" y="19844"/>
                  <a:pt x="79375" y="19844"/>
                </a:cubicBezTo>
                <a:cubicBezTo>
                  <a:pt x="73899" y="19844"/>
                  <a:pt x="69453" y="24290"/>
                  <a:pt x="69453" y="29766"/>
                </a:cubicBezTo>
                <a:cubicBezTo>
                  <a:pt x="69453" y="35242"/>
                  <a:pt x="73899" y="39688"/>
                  <a:pt x="79375" y="39688"/>
                </a:cubicBezTo>
                <a:cubicBezTo>
                  <a:pt x="84851" y="39688"/>
                  <a:pt x="89297" y="35242"/>
                  <a:pt x="89297" y="29766"/>
                </a:cubicBezTo>
                <a:close/>
                <a:moveTo>
                  <a:pt x="79375" y="128984"/>
                </a:moveTo>
                <a:cubicBezTo>
                  <a:pt x="90320" y="128984"/>
                  <a:pt x="99219" y="120086"/>
                  <a:pt x="99219" y="109141"/>
                </a:cubicBezTo>
                <a:cubicBezTo>
                  <a:pt x="99219" y="104118"/>
                  <a:pt x="97358" y="99498"/>
                  <a:pt x="94258" y="96025"/>
                </a:cubicBezTo>
                <a:lnTo>
                  <a:pt x="115807" y="52958"/>
                </a:lnTo>
                <a:cubicBezTo>
                  <a:pt x="117636" y="49268"/>
                  <a:pt x="116148" y="44803"/>
                  <a:pt x="112489" y="42974"/>
                </a:cubicBezTo>
                <a:cubicBezTo>
                  <a:pt x="108831" y="41145"/>
                  <a:pt x="104335" y="42633"/>
                  <a:pt x="102505" y="46292"/>
                </a:cubicBezTo>
                <a:lnTo>
                  <a:pt x="80956" y="89359"/>
                </a:lnTo>
                <a:cubicBezTo>
                  <a:pt x="80429" y="89328"/>
                  <a:pt x="79902" y="89297"/>
                  <a:pt x="79375" y="89297"/>
                </a:cubicBezTo>
                <a:cubicBezTo>
                  <a:pt x="68430" y="89297"/>
                  <a:pt x="59531" y="98196"/>
                  <a:pt x="59531" y="109141"/>
                </a:cubicBezTo>
                <a:cubicBezTo>
                  <a:pt x="59531" y="120086"/>
                  <a:pt x="68430" y="128984"/>
                  <a:pt x="79375" y="128984"/>
                </a:cubicBezTo>
                <a:close/>
                <a:moveTo>
                  <a:pt x="54570" y="44648"/>
                </a:moveTo>
                <a:cubicBezTo>
                  <a:pt x="54570" y="39172"/>
                  <a:pt x="50124" y="34727"/>
                  <a:pt x="44648" y="34727"/>
                </a:cubicBezTo>
                <a:cubicBezTo>
                  <a:pt x="39172" y="34727"/>
                  <a:pt x="34727" y="39172"/>
                  <a:pt x="34727" y="44648"/>
                </a:cubicBezTo>
                <a:cubicBezTo>
                  <a:pt x="34727" y="50124"/>
                  <a:pt x="39172" y="54570"/>
                  <a:pt x="44648" y="54570"/>
                </a:cubicBezTo>
                <a:cubicBezTo>
                  <a:pt x="50124" y="54570"/>
                  <a:pt x="54570" y="50124"/>
                  <a:pt x="54570" y="44648"/>
                </a:cubicBezTo>
                <a:close/>
                <a:moveTo>
                  <a:pt x="29766" y="89297"/>
                </a:moveTo>
                <a:cubicBezTo>
                  <a:pt x="35242" y="89297"/>
                  <a:pt x="39688" y="84851"/>
                  <a:pt x="39688" y="79375"/>
                </a:cubicBezTo>
                <a:cubicBezTo>
                  <a:pt x="39688" y="73899"/>
                  <a:pt x="35242" y="69453"/>
                  <a:pt x="29766" y="69453"/>
                </a:cubicBezTo>
                <a:cubicBezTo>
                  <a:pt x="24290" y="69453"/>
                  <a:pt x="19844" y="73899"/>
                  <a:pt x="19844" y="79375"/>
                </a:cubicBezTo>
                <a:cubicBezTo>
                  <a:pt x="19844" y="84851"/>
                  <a:pt x="24290" y="89297"/>
                  <a:pt x="29766" y="89297"/>
                </a:cubicBezTo>
                <a:close/>
                <a:moveTo>
                  <a:pt x="138906" y="79375"/>
                </a:moveTo>
                <a:cubicBezTo>
                  <a:pt x="138906" y="73899"/>
                  <a:pt x="134460" y="69453"/>
                  <a:pt x="128984" y="69453"/>
                </a:cubicBezTo>
                <a:cubicBezTo>
                  <a:pt x="123508" y="69453"/>
                  <a:pt x="119062" y="73899"/>
                  <a:pt x="119062" y="79375"/>
                </a:cubicBezTo>
                <a:cubicBezTo>
                  <a:pt x="119062" y="84851"/>
                  <a:pt x="123508" y="89297"/>
                  <a:pt x="128984" y="89297"/>
                </a:cubicBezTo>
                <a:cubicBezTo>
                  <a:pt x="134460" y="89297"/>
                  <a:pt x="138906" y="84851"/>
                  <a:pt x="138906" y="79375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29" name="Text 27"/>
          <p:cNvSpPr/>
          <p:nvPr/>
        </p:nvSpPr>
        <p:spPr>
          <a:xfrm>
            <a:off x="648229" y="4990044"/>
            <a:ext cx="3746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9792" y="5307544"/>
            <a:ext cx="1881187" cy="857250"/>
          </a:xfrm>
          <a:custGeom>
            <a:avLst/>
            <a:gdLst/>
            <a:ahLst/>
            <a:cxnLst/>
            <a:rect l="l" t="t" r="r" b="b"/>
            <a:pathLst>
              <a:path w="1881187" h="857250">
                <a:moveTo>
                  <a:pt x="63497" y="0"/>
                </a:moveTo>
                <a:lnTo>
                  <a:pt x="1817691" y="0"/>
                </a:lnTo>
                <a:cubicBezTo>
                  <a:pt x="1852759" y="0"/>
                  <a:pt x="1881187" y="28428"/>
                  <a:pt x="1881187" y="63497"/>
                </a:cubicBezTo>
                <a:lnTo>
                  <a:pt x="1881187" y="793753"/>
                </a:lnTo>
                <a:cubicBezTo>
                  <a:pt x="1881187" y="828822"/>
                  <a:pt x="1852759" y="857250"/>
                  <a:pt x="1817691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Shape 29"/>
          <p:cNvSpPr/>
          <p:nvPr/>
        </p:nvSpPr>
        <p:spPr>
          <a:xfrm>
            <a:off x="1296458" y="54027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32" name="Text 30"/>
          <p:cNvSpPr/>
          <p:nvPr/>
        </p:nvSpPr>
        <p:spPr>
          <a:xfrm>
            <a:off x="505354" y="5656794"/>
            <a:ext cx="177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+40%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3292" y="5879044"/>
            <a:ext cx="1754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 Rate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428875" y="5307544"/>
            <a:ext cx="1881187" cy="857250"/>
          </a:xfrm>
          <a:custGeom>
            <a:avLst/>
            <a:gdLst/>
            <a:ahLst/>
            <a:cxnLst/>
            <a:rect l="l" t="t" r="r" b="b"/>
            <a:pathLst>
              <a:path w="1881187" h="857250">
                <a:moveTo>
                  <a:pt x="63497" y="0"/>
                </a:moveTo>
                <a:lnTo>
                  <a:pt x="1817691" y="0"/>
                </a:lnTo>
                <a:cubicBezTo>
                  <a:pt x="1852759" y="0"/>
                  <a:pt x="1881187" y="28428"/>
                  <a:pt x="1881187" y="63497"/>
                </a:cubicBezTo>
                <a:lnTo>
                  <a:pt x="1881187" y="793753"/>
                </a:lnTo>
                <a:cubicBezTo>
                  <a:pt x="1881187" y="828822"/>
                  <a:pt x="1852759" y="857250"/>
                  <a:pt x="1817691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Shape 33"/>
          <p:cNvSpPr/>
          <p:nvPr/>
        </p:nvSpPr>
        <p:spPr>
          <a:xfrm>
            <a:off x="3275542" y="54027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2483" y="27794"/>
                </a:moveTo>
                <a:lnTo>
                  <a:pt x="166688" y="31775"/>
                </a:lnTo>
                <a:lnTo>
                  <a:pt x="166688" y="11906"/>
                </a:lnTo>
                <a:cubicBezTo>
                  <a:pt x="166688" y="5321"/>
                  <a:pt x="172008" y="0"/>
                  <a:pt x="178594" y="0"/>
                </a:cubicBezTo>
                <a:cubicBezTo>
                  <a:pt x="185179" y="0"/>
                  <a:pt x="190500" y="5321"/>
                  <a:pt x="190500" y="11906"/>
                </a:cubicBezTo>
                <a:lnTo>
                  <a:pt x="190500" y="59531"/>
                </a:lnTo>
                <a:cubicBezTo>
                  <a:pt x="190500" y="66117"/>
                  <a:pt x="185179" y="71438"/>
                  <a:pt x="178594" y="71438"/>
                </a:cubicBezTo>
                <a:lnTo>
                  <a:pt x="130969" y="71438"/>
                </a:lnTo>
                <a:cubicBezTo>
                  <a:pt x="124383" y="71438"/>
                  <a:pt x="119063" y="66117"/>
                  <a:pt x="119063" y="59531"/>
                </a:cubicBezTo>
                <a:cubicBezTo>
                  <a:pt x="119063" y="52946"/>
                  <a:pt x="124383" y="47625"/>
                  <a:pt x="130969" y="47625"/>
                </a:cubicBezTo>
                <a:lnTo>
                  <a:pt x="148791" y="47625"/>
                </a:lnTo>
                <a:lnTo>
                  <a:pt x="145963" y="44946"/>
                </a:lnTo>
                <a:cubicBezTo>
                  <a:pt x="145889" y="44872"/>
                  <a:pt x="145814" y="44797"/>
                  <a:pt x="145740" y="44723"/>
                </a:cubicBezTo>
                <a:cubicBezTo>
                  <a:pt x="117835" y="16818"/>
                  <a:pt x="72628" y="16818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5075" y="-9265"/>
                  <a:pt x="125276" y="-9302"/>
                  <a:pt x="162483" y="27794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36" name="Text 34"/>
          <p:cNvSpPr/>
          <p:nvPr/>
        </p:nvSpPr>
        <p:spPr>
          <a:xfrm>
            <a:off x="2484438" y="5656794"/>
            <a:ext cx="177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+30%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492375" y="5879044"/>
            <a:ext cx="1754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Purchases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9792" y="6260044"/>
            <a:ext cx="1881187" cy="857250"/>
          </a:xfrm>
          <a:custGeom>
            <a:avLst/>
            <a:gdLst/>
            <a:ahLst/>
            <a:cxnLst/>
            <a:rect l="l" t="t" r="r" b="b"/>
            <a:pathLst>
              <a:path w="1881187" h="857250">
                <a:moveTo>
                  <a:pt x="63497" y="0"/>
                </a:moveTo>
                <a:lnTo>
                  <a:pt x="1817691" y="0"/>
                </a:lnTo>
                <a:cubicBezTo>
                  <a:pt x="1852759" y="0"/>
                  <a:pt x="1881187" y="28428"/>
                  <a:pt x="1881187" y="63497"/>
                </a:cubicBezTo>
                <a:lnTo>
                  <a:pt x="1881187" y="793753"/>
                </a:lnTo>
                <a:cubicBezTo>
                  <a:pt x="1881187" y="828822"/>
                  <a:pt x="1852759" y="857250"/>
                  <a:pt x="1817691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Shape 37"/>
          <p:cNvSpPr/>
          <p:nvPr/>
        </p:nvSpPr>
        <p:spPr>
          <a:xfrm>
            <a:off x="1332177" y="6355294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40" name="Text 38"/>
          <p:cNvSpPr/>
          <p:nvPr/>
        </p:nvSpPr>
        <p:spPr>
          <a:xfrm>
            <a:off x="505354" y="6609294"/>
            <a:ext cx="177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+25%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13292" y="6831544"/>
            <a:ext cx="1754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Growth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428875" y="6260044"/>
            <a:ext cx="1881187" cy="857250"/>
          </a:xfrm>
          <a:custGeom>
            <a:avLst/>
            <a:gdLst/>
            <a:ahLst/>
            <a:cxnLst/>
            <a:rect l="l" t="t" r="r" b="b"/>
            <a:pathLst>
              <a:path w="1881187" h="857250">
                <a:moveTo>
                  <a:pt x="63497" y="0"/>
                </a:moveTo>
                <a:lnTo>
                  <a:pt x="1817691" y="0"/>
                </a:lnTo>
                <a:cubicBezTo>
                  <a:pt x="1852759" y="0"/>
                  <a:pt x="1881187" y="28428"/>
                  <a:pt x="1881187" y="63497"/>
                </a:cubicBezTo>
                <a:lnTo>
                  <a:pt x="1881187" y="793753"/>
                </a:lnTo>
                <a:cubicBezTo>
                  <a:pt x="1881187" y="828822"/>
                  <a:pt x="1852759" y="857250"/>
                  <a:pt x="1817691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Shape 41"/>
          <p:cNvSpPr/>
          <p:nvPr/>
        </p:nvSpPr>
        <p:spPr>
          <a:xfrm>
            <a:off x="3275542" y="63552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44" name="Text 42"/>
          <p:cNvSpPr/>
          <p:nvPr/>
        </p:nvSpPr>
        <p:spPr>
          <a:xfrm>
            <a:off x="2484438" y="6609294"/>
            <a:ext cx="177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492375" y="6831544"/>
            <a:ext cx="1754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Retention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79938" y="1087438"/>
            <a:ext cx="7286625" cy="7389812"/>
          </a:xfrm>
          <a:custGeom>
            <a:avLst/>
            <a:gdLst/>
            <a:ahLst/>
            <a:cxnLst/>
            <a:rect l="l" t="t" r="r" b="b"/>
            <a:pathLst>
              <a:path w="7286625" h="7389812">
                <a:moveTo>
                  <a:pt x="63467" y="0"/>
                </a:moveTo>
                <a:lnTo>
                  <a:pt x="7223158" y="0"/>
                </a:lnTo>
                <a:cubicBezTo>
                  <a:pt x="7258210" y="0"/>
                  <a:pt x="7286625" y="28415"/>
                  <a:pt x="7286625" y="63467"/>
                </a:cubicBezTo>
                <a:lnTo>
                  <a:pt x="7286625" y="7326346"/>
                </a:lnTo>
                <a:cubicBezTo>
                  <a:pt x="7286625" y="7361398"/>
                  <a:pt x="7258210" y="7389812"/>
                  <a:pt x="7223158" y="7389812"/>
                </a:cubicBezTo>
                <a:lnTo>
                  <a:pt x="63467" y="7389812"/>
                </a:lnTo>
                <a:cubicBezTo>
                  <a:pt x="28415" y="7389812"/>
                  <a:pt x="0" y="7361398"/>
                  <a:pt x="0" y="7326346"/>
                </a:cubicBezTo>
                <a:lnTo>
                  <a:pt x="0" y="63467"/>
                </a:lnTo>
                <a:cubicBezTo>
                  <a:pt x="0" y="28438"/>
                  <a:pt x="28438" y="0"/>
                  <a:pt x="63467" y="0"/>
                </a:cubicBezTo>
                <a:close/>
              </a:path>
            </a:pathLst>
          </a:custGeom>
          <a:gradFill rotWithShape="1" flip="none">
            <a:gsLst>
              <a:gs pos="0">
                <a:srgbClr val="5E6D55">
                  <a:alpha val="20000"/>
                </a:srgbClr>
              </a:gs>
              <a:gs pos="100000">
                <a:srgbClr val="2C3138"/>
              </a:gs>
            </a:gsLst>
            <a:lin ang="2700000" scaled="1"/>
          </a:gradFill>
          <a:ln w="25400">
            <a:solidFill>
              <a:srgbClr val="5E6D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38688" y="1254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48" name="Text 46"/>
          <p:cNvSpPr/>
          <p:nvPr/>
        </p:nvSpPr>
        <p:spPr>
          <a:xfrm>
            <a:off x="4953000" y="1222375"/>
            <a:ext cx="6873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Business Impact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730750" y="1571625"/>
            <a:ext cx="7000875" cy="1754188"/>
          </a:xfrm>
          <a:custGeom>
            <a:avLst/>
            <a:gdLst/>
            <a:ahLst/>
            <a:cxnLst/>
            <a:rect l="l" t="t" r="r" b="b"/>
            <a:pathLst>
              <a:path w="7000875" h="1754188">
                <a:moveTo>
                  <a:pt x="31750" y="0"/>
                </a:moveTo>
                <a:lnTo>
                  <a:pt x="6937373" y="0"/>
                </a:lnTo>
                <a:cubicBezTo>
                  <a:pt x="6972444" y="0"/>
                  <a:pt x="7000875" y="28431"/>
                  <a:pt x="7000875" y="63502"/>
                </a:cubicBezTo>
                <a:lnTo>
                  <a:pt x="7000875" y="1690686"/>
                </a:lnTo>
                <a:cubicBezTo>
                  <a:pt x="7000875" y="1725757"/>
                  <a:pt x="6972444" y="1754188"/>
                  <a:pt x="6937373" y="1754187"/>
                </a:cubicBezTo>
                <a:lnTo>
                  <a:pt x="31750" y="1754188"/>
                </a:lnTo>
                <a:cubicBezTo>
                  <a:pt x="14215" y="1754188"/>
                  <a:pt x="0" y="1739973"/>
                  <a:pt x="0" y="1722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0" name="Shape 48"/>
          <p:cNvSpPr/>
          <p:nvPr/>
        </p:nvSpPr>
        <p:spPr>
          <a:xfrm>
            <a:off x="4730750" y="1571625"/>
            <a:ext cx="31750" cy="1754188"/>
          </a:xfrm>
          <a:custGeom>
            <a:avLst/>
            <a:gdLst/>
            <a:ahLst/>
            <a:cxnLst/>
            <a:rect l="l" t="t" r="r" b="b"/>
            <a:pathLst>
              <a:path w="31750" h="1754188">
                <a:moveTo>
                  <a:pt x="31750" y="0"/>
                </a:moveTo>
                <a:lnTo>
                  <a:pt x="31750" y="0"/>
                </a:lnTo>
                <a:lnTo>
                  <a:pt x="31750" y="1754188"/>
                </a:lnTo>
                <a:lnTo>
                  <a:pt x="31750" y="1754188"/>
                </a:lnTo>
                <a:cubicBezTo>
                  <a:pt x="14227" y="1754188"/>
                  <a:pt x="0" y="1739961"/>
                  <a:pt x="0" y="1722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51" name="Shape 49"/>
          <p:cNvSpPr/>
          <p:nvPr/>
        </p:nvSpPr>
        <p:spPr>
          <a:xfrm>
            <a:off x="4923234" y="1730375"/>
            <a:ext cx="99219" cy="158750"/>
          </a:xfrm>
          <a:custGeom>
            <a:avLst/>
            <a:gdLst/>
            <a:ahLst/>
            <a:cxnLst/>
            <a:rect l="l" t="t" r="r" b="b"/>
            <a:pathLst>
              <a:path w="99219" h="158750">
                <a:moveTo>
                  <a:pt x="42168" y="7441"/>
                </a:moveTo>
                <a:cubicBezTo>
                  <a:pt x="42168" y="3318"/>
                  <a:pt x="45486" y="0"/>
                  <a:pt x="49609" y="0"/>
                </a:cubicBezTo>
                <a:cubicBezTo>
                  <a:pt x="53733" y="0"/>
                  <a:pt x="57051" y="3318"/>
                  <a:pt x="57051" y="7441"/>
                </a:cubicBezTo>
                <a:lnTo>
                  <a:pt x="57051" y="19844"/>
                </a:lnTo>
                <a:lnTo>
                  <a:pt x="74414" y="19844"/>
                </a:lnTo>
                <a:cubicBezTo>
                  <a:pt x="79902" y="19844"/>
                  <a:pt x="84336" y="24278"/>
                  <a:pt x="84336" y="29766"/>
                </a:cubicBezTo>
                <a:cubicBezTo>
                  <a:pt x="84336" y="35254"/>
                  <a:pt x="79902" y="39688"/>
                  <a:pt x="74414" y="39688"/>
                </a:cubicBezTo>
                <a:lnTo>
                  <a:pt x="38788" y="39688"/>
                </a:lnTo>
                <a:cubicBezTo>
                  <a:pt x="31068" y="39688"/>
                  <a:pt x="24805" y="45951"/>
                  <a:pt x="24805" y="53671"/>
                </a:cubicBezTo>
                <a:cubicBezTo>
                  <a:pt x="24805" y="60647"/>
                  <a:pt x="29921" y="66539"/>
                  <a:pt x="36804" y="67531"/>
                </a:cubicBezTo>
                <a:lnTo>
                  <a:pt x="65205" y="71593"/>
                </a:lnTo>
                <a:cubicBezTo>
                  <a:pt x="81886" y="73980"/>
                  <a:pt x="94258" y="88243"/>
                  <a:pt x="94258" y="105079"/>
                </a:cubicBezTo>
                <a:cubicBezTo>
                  <a:pt x="94258" y="123775"/>
                  <a:pt x="79096" y="138906"/>
                  <a:pt x="60430" y="138906"/>
                </a:cubicBezTo>
                <a:lnTo>
                  <a:pt x="57051" y="138906"/>
                </a:lnTo>
                <a:lnTo>
                  <a:pt x="57051" y="151309"/>
                </a:lnTo>
                <a:cubicBezTo>
                  <a:pt x="57051" y="155432"/>
                  <a:pt x="53733" y="158750"/>
                  <a:pt x="49609" y="158750"/>
                </a:cubicBezTo>
                <a:cubicBezTo>
                  <a:pt x="45486" y="158750"/>
                  <a:pt x="42168" y="155432"/>
                  <a:pt x="42168" y="151309"/>
                </a:cubicBezTo>
                <a:lnTo>
                  <a:pt x="42168" y="138906"/>
                </a:lnTo>
                <a:lnTo>
                  <a:pt x="19844" y="138906"/>
                </a:lnTo>
                <a:cubicBezTo>
                  <a:pt x="14356" y="138906"/>
                  <a:pt x="9922" y="134472"/>
                  <a:pt x="9922" y="128984"/>
                </a:cubicBezTo>
                <a:cubicBezTo>
                  <a:pt x="9922" y="123496"/>
                  <a:pt x="14356" y="119062"/>
                  <a:pt x="19844" y="119062"/>
                </a:cubicBezTo>
                <a:lnTo>
                  <a:pt x="60430" y="119062"/>
                </a:lnTo>
                <a:cubicBezTo>
                  <a:pt x="68151" y="119062"/>
                  <a:pt x="74414" y="112799"/>
                  <a:pt x="74414" y="105079"/>
                </a:cubicBezTo>
                <a:cubicBezTo>
                  <a:pt x="74414" y="98103"/>
                  <a:pt x="69298" y="92211"/>
                  <a:pt x="62415" y="91219"/>
                </a:cubicBezTo>
                <a:lnTo>
                  <a:pt x="34013" y="87157"/>
                </a:lnTo>
                <a:cubicBezTo>
                  <a:pt x="17332" y="84801"/>
                  <a:pt x="4961" y="70507"/>
                  <a:pt x="4961" y="53671"/>
                </a:cubicBezTo>
                <a:cubicBezTo>
                  <a:pt x="4961" y="35006"/>
                  <a:pt x="20123" y="19844"/>
                  <a:pt x="38788" y="19844"/>
                </a:cubicBezTo>
                <a:lnTo>
                  <a:pt x="42168" y="19844"/>
                </a:lnTo>
                <a:lnTo>
                  <a:pt x="42168" y="7441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52" name="Text 50"/>
          <p:cNvSpPr/>
          <p:nvPr/>
        </p:nvSpPr>
        <p:spPr>
          <a:xfrm>
            <a:off x="5072063" y="1698625"/>
            <a:ext cx="6611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Optimization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873625" y="2032000"/>
            <a:ext cx="126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 Revenue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130359" y="2016125"/>
            <a:ext cx="547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+$450K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873625" y="2317750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Discount Optimization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154834" y="2301875"/>
            <a:ext cx="52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+$180K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873625" y="2603500"/>
            <a:ext cx="960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Loyalty Program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130691" y="2587625"/>
            <a:ext cx="547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+$320K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873625" y="2876021"/>
            <a:ext cx="6731000" cy="5292"/>
          </a:xfrm>
          <a:custGeom>
            <a:avLst/>
            <a:gdLst/>
            <a:ahLst/>
            <a:cxnLst/>
            <a:rect l="l" t="t" r="r" b="b"/>
            <a:pathLst>
              <a:path w="6731000" h="5292">
                <a:moveTo>
                  <a:pt x="0" y="0"/>
                </a:moveTo>
                <a:lnTo>
                  <a:pt x="6731000" y="0"/>
                </a:lnTo>
                <a:lnTo>
                  <a:pt x="6731000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60" name="Text 58"/>
          <p:cNvSpPr/>
          <p:nvPr/>
        </p:nvSpPr>
        <p:spPr>
          <a:xfrm>
            <a:off x="4873625" y="2958044"/>
            <a:ext cx="150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 Increase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963920" y="2942169"/>
            <a:ext cx="738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+$950K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730750" y="3418419"/>
            <a:ext cx="7000875" cy="1270000"/>
          </a:xfrm>
          <a:custGeom>
            <a:avLst/>
            <a:gdLst/>
            <a:ahLst/>
            <a:cxnLst/>
            <a:rect l="l" t="t" r="r" b="b"/>
            <a:pathLst>
              <a:path w="7000875" h="1270000">
                <a:moveTo>
                  <a:pt x="31750" y="0"/>
                </a:moveTo>
                <a:lnTo>
                  <a:pt x="6937375" y="0"/>
                </a:lnTo>
                <a:cubicBezTo>
                  <a:pt x="6972422" y="0"/>
                  <a:pt x="7000875" y="28453"/>
                  <a:pt x="7000875" y="63500"/>
                </a:cubicBezTo>
                <a:lnTo>
                  <a:pt x="7000875" y="1206500"/>
                </a:lnTo>
                <a:cubicBezTo>
                  <a:pt x="7000875" y="1241547"/>
                  <a:pt x="6972422" y="1270000"/>
                  <a:pt x="6937375" y="1270000"/>
                </a:cubicBez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3" name="Shape 61"/>
          <p:cNvSpPr/>
          <p:nvPr/>
        </p:nvSpPr>
        <p:spPr>
          <a:xfrm>
            <a:off x="4730750" y="3418419"/>
            <a:ext cx="31750" cy="1270000"/>
          </a:xfrm>
          <a:custGeom>
            <a:avLst/>
            <a:gdLst/>
            <a:ahLst/>
            <a:cxnLst/>
            <a:rect l="l" t="t" r="r" b="b"/>
            <a:pathLst>
              <a:path w="31750" h="1270000">
                <a:moveTo>
                  <a:pt x="31750" y="0"/>
                </a:moveTo>
                <a:lnTo>
                  <a:pt x="31750" y="0"/>
                </a:lnTo>
                <a:lnTo>
                  <a:pt x="31750" y="1270000"/>
                </a:ln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64" name="Shape 62"/>
          <p:cNvSpPr/>
          <p:nvPr/>
        </p:nvSpPr>
        <p:spPr>
          <a:xfrm>
            <a:off x="4873625" y="3577169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65" name="Text 63"/>
          <p:cNvSpPr/>
          <p:nvPr/>
        </p:nvSpPr>
        <p:spPr>
          <a:xfrm>
            <a:off x="5072063" y="3545419"/>
            <a:ext cx="6611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Experience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889500" y="38946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7" name="Text 65"/>
          <p:cNvSpPr/>
          <p:nvPr/>
        </p:nvSpPr>
        <p:spPr>
          <a:xfrm>
            <a:off x="5095875" y="3862919"/>
            <a:ext cx="220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personalization and targeting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889500" y="41486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69" name="Text 67"/>
          <p:cNvSpPr/>
          <p:nvPr/>
        </p:nvSpPr>
        <p:spPr>
          <a:xfrm>
            <a:off x="5095875" y="4116919"/>
            <a:ext cx="227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customer journey progression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889500" y="44026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71" name="Text 69"/>
          <p:cNvSpPr/>
          <p:nvPr/>
        </p:nvSpPr>
        <p:spPr>
          <a:xfrm>
            <a:off x="5095875" y="4370919"/>
            <a:ext cx="164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CEE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decision making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20146" y="8580440"/>
            <a:ext cx="11554354" cy="386292"/>
          </a:xfrm>
          <a:custGeom>
            <a:avLst/>
            <a:gdLst/>
            <a:ahLst/>
            <a:cxnLst/>
            <a:rect l="l" t="t" r="r" b="b"/>
            <a:pathLst>
              <a:path w="11554354" h="386292">
                <a:moveTo>
                  <a:pt x="63499" y="0"/>
                </a:moveTo>
                <a:lnTo>
                  <a:pt x="11490856" y="0"/>
                </a:lnTo>
                <a:cubicBezTo>
                  <a:pt x="11525925" y="0"/>
                  <a:pt x="11554354" y="28429"/>
                  <a:pt x="11554354" y="63499"/>
                </a:cubicBezTo>
                <a:lnTo>
                  <a:pt x="11554354" y="322793"/>
                </a:lnTo>
                <a:cubicBezTo>
                  <a:pt x="11554354" y="357862"/>
                  <a:pt x="11525925" y="386292"/>
                  <a:pt x="11490856" y="386292"/>
                </a:cubicBezTo>
                <a:lnTo>
                  <a:pt x="63499" y="386292"/>
                </a:lnTo>
                <a:cubicBezTo>
                  <a:pt x="28429" y="386292"/>
                  <a:pt x="0" y="357862"/>
                  <a:pt x="0" y="322793"/>
                </a:cubicBezTo>
                <a:lnTo>
                  <a:pt x="0" y="63499"/>
                </a:lnTo>
                <a:cubicBezTo>
                  <a:pt x="0" y="28429"/>
                  <a:pt x="28429" y="0"/>
                  <a:pt x="63499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 w="8467">
            <a:solidFill>
              <a:srgbClr val="A99A8D">
                <a:alpha val="30196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3917" y="870479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74" name="Text 72"/>
          <p:cNvSpPr/>
          <p:nvPr/>
        </p:nvSpPr>
        <p:spPr>
          <a:xfrm>
            <a:off x="616479" y="8678339"/>
            <a:ext cx="1122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 Monitoring: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insights will be continuously monitored through the Power BI dashboard, enabling real-time performance tracking and strategy adjustments as customer behavior evolves.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1c6a5e50b58304bd1150913bfbbf63c53f5634bc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31288" b="31288"/>
          <a:stretch/>
        </p:blipFill>
        <p:spPr>
          <a:xfrm>
            <a:off x="0" y="0"/>
            <a:ext cx="12192000" cy="8141368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8141368"/>
          </a:xfrm>
          <a:custGeom>
            <a:avLst/>
            <a:gdLst/>
            <a:ahLst/>
            <a:cxnLst/>
            <a:rect l="l" t="t" r="r" b="b"/>
            <a:pathLst>
              <a:path w="12192000" h="8141368">
                <a:moveTo>
                  <a:pt x="0" y="0"/>
                </a:moveTo>
                <a:lnTo>
                  <a:pt x="12192000" y="0"/>
                </a:lnTo>
                <a:lnTo>
                  <a:pt x="12192000" y="8141368"/>
                </a:lnTo>
                <a:lnTo>
                  <a:pt x="0" y="814136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2C3138">
                  <a:alpha val="92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36884" y="803359"/>
            <a:ext cx="3433011" cy="513347"/>
          </a:xfrm>
          <a:custGeom>
            <a:avLst/>
            <a:gdLst/>
            <a:ahLst/>
            <a:cxnLst/>
            <a:rect l="l" t="t" r="r" b="b"/>
            <a:pathLst>
              <a:path w="3433011" h="513347">
                <a:moveTo>
                  <a:pt x="0" y="0"/>
                </a:moveTo>
                <a:lnTo>
                  <a:pt x="3433011" y="0"/>
                </a:lnTo>
                <a:lnTo>
                  <a:pt x="3433011" y="513347"/>
                </a:lnTo>
                <a:lnTo>
                  <a:pt x="0" y="513347"/>
                </a:lnTo>
                <a:lnTo>
                  <a:pt x="0" y="0"/>
                </a:lnTo>
                <a:close/>
              </a:path>
            </a:pathLst>
          </a:custGeom>
          <a:solidFill>
            <a:srgbClr val="A99A8D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36884" y="803359"/>
            <a:ext cx="32084" cy="513347"/>
          </a:xfrm>
          <a:custGeom>
            <a:avLst/>
            <a:gdLst/>
            <a:ahLst/>
            <a:cxnLst/>
            <a:rect l="l" t="t" r="r" b="b"/>
            <a:pathLst>
              <a:path w="32084" h="513347">
                <a:moveTo>
                  <a:pt x="0" y="0"/>
                </a:moveTo>
                <a:lnTo>
                  <a:pt x="32084" y="0"/>
                </a:lnTo>
                <a:lnTo>
                  <a:pt x="32084" y="513347"/>
                </a:lnTo>
                <a:lnTo>
                  <a:pt x="0" y="513347"/>
                </a:lnTo>
                <a:lnTo>
                  <a:pt x="0" y="0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6" name="Shape 3"/>
          <p:cNvSpPr/>
          <p:nvPr/>
        </p:nvSpPr>
        <p:spPr>
          <a:xfrm>
            <a:off x="641684" y="939716"/>
            <a:ext cx="240632" cy="240632"/>
          </a:xfrm>
          <a:custGeom>
            <a:avLst/>
            <a:gdLst/>
            <a:ahLst/>
            <a:cxnLst/>
            <a:rect l="l" t="t" r="r" b="b"/>
            <a:pathLst>
              <a:path w="240632" h="240632">
                <a:moveTo>
                  <a:pt x="30079" y="30079"/>
                </a:moveTo>
                <a:cubicBezTo>
                  <a:pt x="30079" y="21760"/>
                  <a:pt x="23358" y="15039"/>
                  <a:pt x="15039" y="15039"/>
                </a:cubicBezTo>
                <a:cubicBezTo>
                  <a:pt x="6721" y="15039"/>
                  <a:pt x="0" y="21760"/>
                  <a:pt x="0" y="30079"/>
                </a:cubicBezTo>
                <a:lnTo>
                  <a:pt x="0" y="187993"/>
                </a:lnTo>
                <a:cubicBezTo>
                  <a:pt x="0" y="208767"/>
                  <a:pt x="16825" y="225592"/>
                  <a:pt x="37599" y="225592"/>
                </a:cubicBezTo>
                <a:lnTo>
                  <a:pt x="225592" y="225592"/>
                </a:lnTo>
                <a:cubicBezTo>
                  <a:pt x="233911" y="225592"/>
                  <a:pt x="240632" y="218871"/>
                  <a:pt x="240632" y="210553"/>
                </a:cubicBezTo>
                <a:cubicBezTo>
                  <a:pt x="240632" y="202234"/>
                  <a:pt x="233911" y="195513"/>
                  <a:pt x="225592" y="195513"/>
                </a:cubicBezTo>
                <a:lnTo>
                  <a:pt x="37599" y="195513"/>
                </a:lnTo>
                <a:cubicBezTo>
                  <a:pt x="33463" y="195513"/>
                  <a:pt x="30079" y="192129"/>
                  <a:pt x="30079" y="187993"/>
                </a:cubicBezTo>
                <a:lnTo>
                  <a:pt x="30079" y="30079"/>
                </a:lnTo>
                <a:close/>
                <a:moveTo>
                  <a:pt x="221174" y="70780"/>
                </a:moveTo>
                <a:cubicBezTo>
                  <a:pt x="227049" y="64905"/>
                  <a:pt x="227049" y="55364"/>
                  <a:pt x="221174" y="49489"/>
                </a:cubicBezTo>
                <a:cubicBezTo>
                  <a:pt x="215299" y="43614"/>
                  <a:pt x="205759" y="43614"/>
                  <a:pt x="199884" y="49489"/>
                </a:cubicBezTo>
                <a:lnTo>
                  <a:pt x="150395" y="99026"/>
                </a:lnTo>
                <a:lnTo>
                  <a:pt x="123418" y="72095"/>
                </a:lnTo>
                <a:cubicBezTo>
                  <a:pt x="117543" y="66221"/>
                  <a:pt x="108002" y="66221"/>
                  <a:pt x="102127" y="72095"/>
                </a:cubicBezTo>
                <a:lnTo>
                  <a:pt x="57009" y="117214"/>
                </a:lnTo>
                <a:cubicBezTo>
                  <a:pt x="51134" y="123089"/>
                  <a:pt x="51134" y="132629"/>
                  <a:pt x="57009" y="138504"/>
                </a:cubicBezTo>
                <a:cubicBezTo>
                  <a:pt x="62884" y="144379"/>
                  <a:pt x="72424" y="144379"/>
                  <a:pt x="78299" y="138504"/>
                </a:cubicBezTo>
                <a:lnTo>
                  <a:pt x="112796" y="104007"/>
                </a:lnTo>
                <a:lnTo>
                  <a:pt x="139773" y="130984"/>
                </a:lnTo>
                <a:cubicBezTo>
                  <a:pt x="145648" y="136859"/>
                  <a:pt x="155189" y="136859"/>
                  <a:pt x="161063" y="130984"/>
                </a:cubicBezTo>
                <a:lnTo>
                  <a:pt x="221221" y="70827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7" name="Text 4"/>
          <p:cNvSpPr/>
          <p:nvPr/>
        </p:nvSpPr>
        <p:spPr>
          <a:xfrm>
            <a:off x="1038726" y="931695"/>
            <a:ext cx="2566737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6" b="1" spc="152" kern="0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0842" y="1573380"/>
            <a:ext cx="11839074" cy="144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47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Driving Growth Through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47" b="1" dirty="0">
                <a:solidFill>
                  <a:srgbClr val="EAEC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Strategy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6884" y="3273843"/>
            <a:ext cx="7170821" cy="1804737"/>
          </a:xfrm>
          <a:custGeom>
            <a:avLst/>
            <a:gdLst/>
            <a:ahLst/>
            <a:cxnLst/>
            <a:rect l="l" t="t" r="r" b="b"/>
            <a:pathLst>
              <a:path w="7170821" h="1804737">
                <a:moveTo>
                  <a:pt x="32084" y="0"/>
                </a:moveTo>
                <a:lnTo>
                  <a:pt x="7106645" y="0"/>
                </a:lnTo>
                <a:cubicBezTo>
                  <a:pt x="7142088" y="0"/>
                  <a:pt x="7170821" y="28733"/>
                  <a:pt x="7170821" y="64176"/>
                </a:cubicBezTo>
                <a:lnTo>
                  <a:pt x="7170821" y="1740560"/>
                </a:lnTo>
                <a:cubicBezTo>
                  <a:pt x="7170821" y="1776004"/>
                  <a:pt x="7142088" y="1804737"/>
                  <a:pt x="7106645" y="1804737"/>
                </a:cubicBezTo>
                <a:lnTo>
                  <a:pt x="32084" y="1804737"/>
                </a:lnTo>
                <a:cubicBezTo>
                  <a:pt x="14365" y="1804737"/>
                  <a:pt x="0" y="1790372"/>
                  <a:pt x="0" y="1772653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2C3138">
              <a:alpha val="8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36884" y="3273843"/>
            <a:ext cx="32084" cy="1804737"/>
          </a:xfrm>
          <a:custGeom>
            <a:avLst/>
            <a:gdLst/>
            <a:ahLst/>
            <a:cxnLst/>
            <a:rect l="l" t="t" r="r" b="b"/>
            <a:pathLst>
              <a:path w="32084" h="1804737">
                <a:moveTo>
                  <a:pt x="32084" y="0"/>
                </a:moveTo>
                <a:lnTo>
                  <a:pt x="32084" y="0"/>
                </a:lnTo>
                <a:lnTo>
                  <a:pt x="32084" y="1804737"/>
                </a:lnTo>
                <a:lnTo>
                  <a:pt x="32084" y="1804737"/>
                </a:lnTo>
                <a:cubicBezTo>
                  <a:pt x="14365" y="1804737"/>
                  <a:pt x="0" y="1790372"/>
                  <a:pt x="0" y="1772653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1" name="Text 8"/>
          <p:cNvSpPr/>
          <p:nvPr/>
        </p:nvSpPr>
        <p:spPr>
          <a:xfrm>
            <a:off x="609600" y="3530516"/>
            <a:ext cx="6737684" cy="93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6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insights are the foundation of competitive advantage. By understanding behavior patterns, we can deliver exceptional customer experiences while optimizing business performance.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9600" y="4597316"/>
            <a:ext cx="6721642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b="1" dirty="0">
                <a:solidFill>
                  <a:srgbClr val="A99A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path forward: Transform data into actionable strategies that drive measurable growth.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3516" y="5337927"/>
            <a:ext cx="2740526" cy="1384968"/>
          </a:xfrm>
          <a:custGeom>
            <a:avLst/>
            <a:gdLst/>
            <a:ahLst/>
            <a:cxnLst/>
            <a:rect l="l" t="t" r="r" b="b"/>
            <a:pathLst>
              <a:path w="2740526" h="1384968">
                <a:moveTo>
                  <a:pt x="64166" y="0"/>
                </a:moveTo>
                <a:lnTo>
                  <a:pt x="2676361" y="0"/>
                </a:lnTo>
                <a:cubicBezTo>
                  <a:pt x="2711798" y="0"/>
                  <a:pt x="2740526" y="28728"/>
                  <a:pt x="2740526" y="64166"/>
                </a:cubicBezTo>
                <a:lnTo>
                  <a:pt x="2740526" y="1320803"/>
                </a:lnTo>
                <a:cubicBezTo>
                  <a:pt x="2740526" y="1356217"/>
                  <a:pt x="2711775" y="1384968"/>
                  <a:pt x="2676361" y="1384968"/>
                </a:cubicBezTo>
                <a:lnTo>
                  <a:pt x="64166" y="1384968"/>
                </a:lnTo>
                <a:cubicBezTo>
                  <a:pt x="28728" y="1384968"/>
                  <a:pt x="0" y="1356241"/>
                  <a:pt x="0" y="1320803"/>
                </a:cubicBezTo>
                <a:lnTo>
                  <a:pt x="0" y="64166"/>
                </a:lnTo>
                <a:cubicBezTo>
                  <a:pt x="0" y="28752"/>
                  <a:pt x="28752" y="0"/>
                  <a:pt x="64166" y="0"/>
                </a:cubicBezTo>
                <a:close/>
              </a:path>
            </a:pathLst>
          </a:custGeom>
          <a:solidFill>
            <a:srgbClr val="2C3138">
              <a:alpha val="60000"/>
            </a:srgbClr>
          </a:solidFill>
          <a:ln w="8467">
            <a:solidFill>
              <a:srgbClr val="A99A8D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566111" y="5533109"/>
            <a:ext cx="252663" cy="288758"/>
          </a:xfrm>
          <a:custGeom>
            <a:avLst/>
            <a:gdLst/>
            <a:ahLst/>
            <a:cxnLst/>
            <a:rect l="l" t="t" r="r" b="b"/>
            <a:pathLst>
              <a:path w="252663" h="288758">
                <a:moveTo>
                  <a:pt x="252663" y="116067"/>
                </a:moveTo>
                <a:cubicBezTo>
                  <a:pt x="244316" y="121594"/>
                  <a:pt x="234729" y="126050"/>
                  <a:pt x="224746" y="129603"/>
                </a:cubicBezTo>
                <a:cubicBezTo>
                  <a:pt x="198239" y="139078"/>
                  <a:pt x="163441" y="144379"/>
                  <a:pt x="126332" y="144379"/>
                </a:cubicBezTo>
                <a:cubicBezTo>
                  <a:pt x="89222" y="144379"/>
                  <a:pt x="54368" y="139021"/>
                  <a:pt x="27917" y="129603"/>
                </a:cubicBezTo>
                <a:cubicBezTo>
                  <a:pt x="17991" y="126050"/>
                  <a:pt x="8347" y="121594"/>
                  <a:pt x="0" y="116067"/>
                </a:cubicBezTo>
                <a:lnTo>
                  <a:pt x="0" y="162426"/>
                </a:lnTo>
                <a:cubicBezTo>
                  <a:pt x="0" y="187354"/>
                  <a:pt x="56567" y="207545"/>
                  <a:pt x="126332" y="207545"/>
                </a:cubicBezTo>
                <a:cubicBezTo>
                  <a:pt x="196096" y="207545"/>
                  <a:pt x="252663" y="187354"/>
                  <a:pt x="252663" y="162426"/>
                </a:cubicBezTo>
                <a:lnTo>
                  <a:pt x="252663" y="116067"/>
                </a:lnTo>
                <a:close/>
                <a:moveTo>
                  <a:pt x="252663" y="72189"/>
                </a:moveTo>
                <a:lnTo>
                  <a:pt x="252663" y="45118"/>
                </a:lnTo>
                <a:cubicBezTo>
                  <a:pt x="252663" y="20190"/>
                  <a:pt x="196096" y="0"/>
                  <a:pt x="126332" y="0"/>
                </a:cubicBezTo>
                <a:cubicBezTo>
                  <a:pt x="56567" y="0"/>
                  <a:pt x="0" y="20190"/>
                  <a:pt x="0" y="45118"/>
                </a:cubicBezTo>
                <a:lnTo>
                  <a:pt x="0" y="72189"/>
                </a:lnTo>
                <a:cubicBezTo>
                  <a:pt x="0" y="97117"/>
                  <a:pt x="56567" y="117308"/>
                  <a:pt x="126332" y="117308"/>
                </a:cubicBezTo>
                <a:cubicBezTo>
                  <a:pt x="196096" y="117308"/>
                  <a:pt x="252663" y="97117"/>
                  <a:pt x="252663" y="72189"/>
                </a:cubicBezTo>
                <a:close/>
                <a:moveTo>
                  <a:pt x="224746" y="219840"/>
                </a:moveTo>
                <a:cubicBezTo>
                  <a:pt x="198295" y="229258"/>
                  <a:pt x="163498" y="234616"/>
                  <a:pt x="126332" y="234616"/>
                </a:cubicBezTo>
                <a:cubicBezTo>
                  <a:pt x="89165" y="234616"/>
                  <a:pt x="54368" y="229258"/>
                  <a:pt x="27917" y="219840"/>
                </a:cubicBezTo>
                <a:cubicBezTo>
                  <a:pt x="17991" y="216286"/>
                  <a:pt x="8347" y="211831"/>
                  <a:pt x="0" y="206304"/>
                </a:cubicBezTo>
                <a:lnTo>
                  <a:pt x="0" y="243639"/>
                </a:lnTo>
                <a:cubicBezTo>
                  <a:pt x="0" y="268567"/>
                  <a:pt x="56567" y="288758"/>
                  <a:pt x="126332" y="288758"/>
                </a:cubicBezTo>
                <a:cubicBezTo>
                  <a:pt x="196096" y="288758"/>
                  <a:pt x="252663" y="268567"/>
                  <a:pt x="252663" y="243639"/>
                </a:cubicBezTo>
                <a:lnTo>
                  <a:pt x="252663" y="206304"/>
                </a:lnTo>
                <a:cubicBezTo>
                  <a:pt x="244316" y="211831"/>
                  <a:pt x="234729" y="216286"/>
                  <a:pt x="224746" y="219840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05" y="5918119"/>
            <a:ext cx="2494547" cy="320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74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3,900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2600" y="6303130"/>
            <a:ext cx="2422358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Transactions Analyzed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59221" y="5337927"/>
            <a:ext cx="2740526" cy="1384968"/>
          </a:xfrm>
          <a:custGeom>
            <a:avLst/>
            <a:gdLst/>
            <a:ahLst/>
            <a:cxnLst/>
            <a:rect l="l" t="t" r="r" b="b"/>
            <a:pathLst>
              <a:path w="2740526" h="1384968">
                <a:moveTo>
                  <a:pt x="64166" y="0"/>
                </a:moveTo>
                <a:lnTo>
                  <a:pt x="2676361" y="0"/>
                </a:lnTo>
                <a:cubicBezTo>
                  <a:pt x="2711798" y="0"/>
                  <a:pt x="2740526" y="28728"/>
                  <a:pt x="2740526" y="64166"/>
                </a:cubicBezTo>
                <a:lnTo>
                  <a:pt x="2740526" y="1320803"/>
                </a:lnTo>
                <a:cubicBezTo>
                  <a:pt x="2740526" y="1356217"/>
                  <a:pt x="2711775" y="1384968"/>
                  <a:pt x="2676361" y="1384968"/>
                </a:cubicBezTo>
                <a:lnTo>
                  <a:pt x="64166" y="1384968"/>
                </a:lnTo>
                <a:cubicBezTo>
                  <a:pt x="28728" y="1384968"/>
                  <a:pt x="0" y="1356241"/>
                  <a:pt x="0" y="1320803"/>
                </a:cubicBezTo>
                <a:lnTo>
                  <a:pt x="0" y="64166"/>
                </a:lnTo>
                <a:cubicBezTo>
                  <a:pt x="0" y="28752"/>
                  <a:pt x="28752" y="0"/>
                  <a:pt x="64166" y="0"/>
                </a:cubicBezTo>
                <a:close/>
              </a:path>
            </a:pathLst>
          </a:custGeom>
          <a:solidFill>
            <a:srgbClr val="2C3138">
              <a:alpha val="60000"/>
            </a:srgbClr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19863" y="5533109"/>
            <a:ext cx="216568" cy="288758"/>
          </a:xfrm>
          <a:custGeom>
            <a:avLst/>
            <a:gdLst/>
            <a:ahLst/>
            <a:cxnLst/>
            <a:rect l="l" t="t" r="r" b="b"/>
            <a:pathLst>
              <a:path w="216568" h="288758">
                <a:moveTo>
                  <a:pt x="165190" y="216568"/>
                </a:moveTo>
                <a:cubicBezTo>
                  <a:pt x="169307" y="203992"/>
                  <a:pt x="177541" y="192599"/>
                  <a:pt x="186847" y="182786"/>
                </a:cubicBezTo>
                <a:cubicBezTo>
                  <a:pt x="205289" y="163385"/>
                  <a:pt x="216568" y="137160"/>
                  <a:pt x="216568" y="108284"/>
                </a:cubicBezTo>
                <a:cubicBezTo>
                  <a:pt x="216568" y="48502"/>
                  <a:pt x="168066" y="0"/>
                  <a:pt x="108284" y="0"/>
                </a:cubicBezTo>
                <a:cubicBezTo>
                  <a:pt x="48502" y="0"/>
                  <a:pt x="0" y="48502"/>
                  <a:pt x="0" y="108284"/>
                </a:cubicBezTo>
                <a:cubicBezTo>
                  <a:pt x="0" y="137160"/>
                  <a:pt x="11280" y="163385"/>
                  <a:pt x="29722" y="182786"/>
                </a:cubicBezTo>
                <a:cubicBezTo>
                  <a:pt x="39027" y="192599"/>
                  <a:pt x="47318" y="203992"/>
                  <a:pt x="51379" y="216568"/>
                </a:cubicBezTo>
                <a:lnTo>
                  <a:pt x="165133" y="216568"/>
                </a:lnTo>
                <a:close/>
                <a:moveTo>
                  <a:pt x="162426" y="243639"/>
                </a:moveTo>
                <a:lnTo>
                  <a:pt x="54142" y="243639"/>
                </a:lnTo>
                <a:lnTo>
                  <a:pt x="54142" y="252663"/>
                </a:lnTo>
                <a:cubicBezTo>
                  <a:pt x="54142" y="277591"/>
                  <a:pt x="74333" y="297782"/>
                  <a:pt x="99261" y="297782"/>
                </a:cubicBezTo>
                <a:lnTo>
                  <a:pt x="117308" y="297782"/>
                </a:lnTo>
                <a:cubicBezTo>
                  <a:pt x="142236" y="297782"/>
                  <a:pt x="162426" y="277591"/>
                  <a:pt x="162426" y="252663"/>
                </a:cubicBezTo>
                <a:lnTo>
                  <a:pt x="162426" y="243639"/>
                </a:lnTo>
                <a:close/>
                <a:moveTo>
                  <a:pt x="103772" y="63166"/>
                </a:moveTo>
                <a:cubicBezTo>
                  <a:pt x="81326" y="63166"/>
                  <a:pt x="63166" y="81326"/>
                  <a:pt x="63166" y="103772"/>
                </a:cubicBezTo>
                <a:cubicBezTo>
                  <a:pt x="63166" y="111273"/>
                  <a:pt x="57131" y="117308"/>
                  <a:pt x="49630" y="117308"/>
                </a:cubicBezTo>
                <a:cubicBezTo>
                  <a:pt x="42129" y="117308"/>
                  <a:pt x="36095" y="111273"/>
                  <a:pt x="36095" y="103772"/>
                </a:cubicBezTo>
                <a:cubicBezTo>
                  <a:pt x="36095" y="66380"/>
                  <a:pt x="66380" y="36095"/>
                  <a:pt x="103772" y="36095"/>
                </a:cubicBezTo>
                <a:cubicBezTo>
                  <a:pt x="111273" y="36095"/>
                  <a:pt x="117308" y="42129"/>
                  <a:pt x="117308" y="49630"/>
                </a:cubicBezTo>
                <a:cubicBezTo>
                  <a:pt x="117308" y="57131"/>
                  <a:pt x="111273" y="63166"/>
                  <a:pt x="103772" y="63166"/>
                </a:cubicBez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19" name="Text 16"/>
          <p:cNvSpPr/>
          <p:nvPr/>
        </p:nvSpPr>
        <p:spPr>
          <a:xfrm>
            <a:off x="3382211" y="5918119"/>
            <a:ext cx="2494547" cy="320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74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418305" y="6303130"/>
            <a:ext cx="2422358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Recommendations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94926" y="5337927"/>
            <a:ext cx="2740526" cy="1384968"/>
          </a:xfrm>
          <a:custGeom>
            <a:avLst/>
            <a:gdLst/>
            <a:ahLst/>
            <a:cxnLst/>
            <a:rect l="l" t="t" r="r" b="b"/>
            <a:pathLst>
              <a:path w="2740526" h="1384968">
                <a:moveTo>
                  <a:pt x="64166" y="0"/>
                </a:moveTo>
                <a:lnTo>
                  <a:pt x="2676361" y="0"/>
                </a:lnTo>
                <a:cubicBezTo>
                  <a:pt x="2711798" y="0"/>
                  <a:pt x="2740526" y="28728"/>
                  <a:pt x="2740526" y="64166"/>
                </a:cubicBezTo>
                <a:lnTo>
                  <a:pt x="2740526" y="1320803"/>
                </a:lnTo>
                <a:cubicBezTo>
                  <a:pt x="2740526" y="1356217"/>
                  <a:pt x="2711775" y="1384968"/>
                  <a:pt x="2676361" y="1384968"/>
                </a:cubicBezTo>
                <a:lnTo>
                  <a:pt x="64166" y="1384968"/>
                </a:lnTo>
                <a:cubicBezTo>
                  <a:pt x="28728" y="1384968"/>
                  <a:pt x="0" y="1356241"/>
                  <a:pt x="0" y="1320803"/>
                </a:cubicBezTo>
                <a:lnTo>
                  <a:pt x="0" y="64166"/>
                </a:lnTo>
                <a:cubicBezTo>
                  <a:pt x="0" y="28752"/>
                  <a:pt x="28752" y="0"/>
                  <a:pt x="64166" y="0"/>
                </a:cubicBezTo>
                <a:close/>
              </a:path>
            </a:pathLst>
          </a:custGeom>
          <a:solidFill>
            <a:srgbClr val="2C3138">
              <a:alpha val="60000"/>
            </a:srgbClr>
          </a:solidFill>
          <a:ln w="8467">
            <a:solidFill>
              <a:srgbClr val="A99A8D">
                <a:alpha val="4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19474" y="5533109"/>
            <a:ext cx="288758" cy="288758"/>
          </a:xfrm>
          <a:custGeom>
            <a:avLst/>
            <a:gdLst/>
            <a:ahLst/>
            <a:cxnLst/>
            <a:rect l="l" t="t" r="r" b="b"/>
            <a:pathLst>
              <a:path w="288758" h="288758">
                <a:moveTo>
                  <a:pt x="72189" y="180474"/>
                </a:moveTo>
                <a:lnTo>
                  <a:pt x="13818" y="180474"/>
                </a:lnTo>
                <a:cubicBezTo>
                  <a:pt x="-226" y="180474"/>
                  <a:pt x="-8854" y="165190"/>
                  <a:pt x="-1636" y="153121"/>
                </a:cubicBezTo>
                <a:lnTo>
                  <a:pt x="28199" y="103378"/>
                </a:lnTo>
                <a:cubicBezTo>
                  <a:pt x="33106" y="95200"/>
                  <a:pt x="41904" y="90237"/>
                  <a:pt x="51435" y="90237"/>
                </a:cubicBezTo>
                <a:lnTo>
                  <a:pt x="105013" y="90237"/>
                </a:lnTo>
                <a:cubicBezTo>
                  <a:pt x="147932" y="17540"/>
                  <a:pt x="211944" y="13874"/>
                  <a:pt x="254750" y="20134"/>
                </a:cubicBezTo>
                <a:cubicBezTo>
                  <a:pt x="261969" y="21206"/>
                  <a:pt x="267609" y="26845"/>
                  <a:pt x="268624" y="34008"/>
                </a:cubicBezTo>
                <a:cubicBezTo>
                  <a:pt x="274884" y="76814"/>
                  <a:pt x="271218" y="140826"/>
                  <a:pt x="198521" y="183745"/>
                </a:cubicBezTo>
                <a:lnTo>
                  <a:pt x="198521" y="237323"/>
                </a:lnTo>
                <a:cubicBezTo>
                  <a:pt x="198521" y="246854"/>
                  <a:pt x="193558" y="255652"/>
                  <a:pt x="185380" y="260559"/>
                </a:cubicBezTo>
                <a:lnTo>
                  <a:pt x="135637" y="290393"/>
                </a:lnTo>
                <a:cubicBezTo>
                  <a:pt x="123624" y="297612"/>
                  <a:pt x="108284" y="288927"/>
                  <a:pt x="108284" y="274940"/>
                </a:cubicBezTo>
                <a:lnTo>
                  <a:pt x="108284" y="216568"/>
                </a:lnTo>
                <a:cubicBezTo>
                  <a:pt x="108284" y="196660"/>
                  <a:pt x="92098" y="180474"/>
                  <a:pt x="72189" y="180474"/>
                </a:cubicBezTo>
                <a:lnTo>
                  <a:pt x="72133" y="180474"/>
                </a:lnTo>
                <a:close/>
                <a:moveTo>
                  <a:pt x="225592" y="90237"/>
                </a:moveTo>
                <a:cubicBezTo>
                  <a:pt x="225592" y="75296"/>
                  <a:pt x="213462" y="63166"/>
                  <a:pt x="198521" y="63166"/>
                </a:cubicBezTo>
                <a:cubicBezTo>
                  <a:pt x="183580" y="63166"/>
                  <a:pt x="171450" y="75296"/>
                  <a:pt x="171450" y="90237"/>
                </a:cubicBezTo>
                <a:cubicBezTo>
                  <a:pt x="171450" y="105178"/>
                  <a:pt x="183580" y="117308"/>
                  <a:pt x="198521" y="117308"/>
                </a:cubicBezTo>
                <a:cubicBezTo>
                  <a:pt x="213462" y="117308"/>
                  <a:pt x="225592" y="105178"/>
                  <a:pt x="225592" y="90237"/>
                </a:cubicBez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23" name="Text 20"/>
          <p:cNvSpPr/>
          <p:nvPr/>
        </p:nvSpPr>
        <p:spPr>
          <a:xfrm>
            <a:off x="6317916" y="5918119"/>
            <a:ext cx="2494547" cy="320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74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+$950K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54011" y="6303130"/>
            <a:ext cx="2422358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Opportunity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130632" y="5337927"/>
            <a:ext cx="2740526" cy="1384968"/>
          </a:xfrm>
          <a:custGeom>
            <a:avLst/>
            <a:gdLst/>
            <a:ahLst/>
            <a:cxnLst/>
            <a:rect l="l" t="t" r="r" b="b"/>
            <a:pathLst>
              <a:path w="2740526" h="1384968">
                <a:moveTo>
                  <a:pt x="64166" y="0"/>
                </a:moveTo>
                <a:lnTo>
                  <a:pt x="2676361" y="0"/>
                </a:lnTo>
                <a:cubicBezTo>
                  <a:pt x="2711798" y="0"/>
                  <a:pt x="2740526" y="28728"/>
                  <a:pt x="2740526" y="64166"/>
                </a:cubicBezTo>
                <a:lnTo>
                  <a:pt x="2740526" y="1320803"/>
                </a:lnTo>
                <a:cubicBezTo>
                  <a:pt x="2740526" y="1356217"/>
                  <a:pt x="2711775" y="1384968"/>
                  <a:pt x="2676361" y="1384968"/>
                </a:cubicBezTo>
                <a:lnTo>
                  <a:pt x="64166" y="1384968"/>
                </a:lnTo>
                <a:cubicBezTo>
                  <a:pt x="28728" y="1384968"/>
                  <a:pt x="0" y="1356241"/>
                  <a:pt x="0" y="1320803"/>
                </a:cubicBezTo>
                <a:lnTo>
                  <a:pt x="0" y="64166"/>
                </a:lnTo>
                <a:cubicBezTo>
                  <a:pt x="0" y="28752"/>
                  <a:pt x="28752" y="0"/>
                  <a:pt x="64166" y="0"/>
                </a:cubicBezTo>
                <a:close/>
              </a:path>
            </a:pathLst>
          </a:custGeom>
          <a:solidFill>
            <a:srgbClr val="2C3138">
              <a:alpha val="60000"/>
            </a:srgbClr>
          </a:solidFill>
          <a:ln w="8467">
            <a:solidFill>
              <a:srgbClr val="5E6D55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55179" y="5533109"/>
            <a:ext cx="288758" cy="288758"/>
          </a:xfrm>
          <a:custGeom>
            <a:avLst/>
            <a:gdLst/>
            <a:ahLst/>
            <a:cxnLst/>
            <a:rect l="l" t="t" r="r" b="b"/>
            <a:pathLst>
              <a:path w="288758" h="288758">
                <a:moveTo>
                  <a:pt x="36095" y="36095"/>
                </a:moveTo>
                <a:cubicBezTo>
                  <a:pt x="36095" y="26112"/>
                  <a:pt x="28030" y="18047"/>
                  <a:pt x="18047" y="18047"/>
                </a:cubicBezTo>
                <a:cubicBezTo>
                  <a:pt x="8065" y="18047"/>
                  <a:pt x="0" y="26112"/>
                  <a:pt x="0" y="36095"/>
                </a:cubicBezTo>
                <a:lnTo>
                  <a:pt x="0" y="225592"/>
                </a:lnTo>
                <a:cubicBezTo>
                  <a:pt x="0" y="250520"/>
                  <a:pt x="20190" y="270711"/>
                  <a:pt x="45118" y="270711"/>
                </a:cubicBezTo>
                <a:lnTo>
                  <a:pt x="270711" y="270711"/>
                </a:lnTo>
                <a:cubicBezTo>
                  <a:pt x="280693" y="270711"/>
                  <a:pt x="288758" y="262646"/>
                  <a:pt x="288758" y="252663"/>
                </a:cubicBezTo>
                <a:cubicBezTo>
                  <a:pt x="288758" y="242681"/>
                  <a:pt x="280693" y="234616"/>
                  <a:pt x="270711" y="234616"/>
                </a:cubicBezTo>
                <a:lnTo>
                  <a:pt x="45118" y="234616"/>
                </a:lnTo>
                <a:cubicBezTo>
                  <a:pt x="40155" y="234616"/>
                  <a:pt x="36095" y="230555"/>
                  <a:pt x="36095" y="225592"/>
                </a:cubicBezTo>
                <a:lnTo>
                  <a:pt x="36095" y="36095"/>
                </a:lnTo>
                <a:close/>
                <a:moveTo>
                  <a:pt x="265409" y="84935"/>
                </a:moveTo>
                <a:cubicBezTo>
                  <a:pt x="272459" y="77886"/>
                  <a:pt x="272459" y="66437"/>
                  <a:pt x="265409" y="59387"/>
                </a:cubicBezTo>
                <a:cubicBezTo>
                  <a:pt x="258359" y="52337"/>
                  <a:pt x="246911" y="52337"/>
                  <a:pt x="239861" y="59387"/>
                </a:cubicBezTo>
                <a:lnTo>
                  <a:pt x="180474" y="118831"/>
                </a:lnTo>
                <a:lnTo>
                  <a:pt x="148101" y="86515"/>
                </a:lnTo>
                <a:cubicBezTo>
                  <a:pt x="141051" y="79465"/>
                  <a:pt x="129603" y="79465"/>
                  <a:pt x="122553" y="86515"/>
                </a:cubicBezTo>
                <a:lnTo>
                  <a:pt x="68411" y="140657"/>
                </a:lnTo>
                <a:cubicBezTo>
                  <a:pt x="61361" y="147706"/>
                  <a:pt x="61361" y="159155"/>
                  <a:pt x="68411" y="166205"/>
                </a:cubicBezTo>
                <a:cubicBezTo>
                  <a:pt x="75461" y="173255"/>
                  <a:pt x="86909" y="173255"/>
                  <a:pt x="93959" y="166205"/>
                </a:cubicBezTo>
                <a:lnTo>
                  <a:pt x="135355" y="124809"/>
                </a:lnTo>
                <a:lnTo>
                  <a:pt x="167728" y="157181"/>
                </a:lnTo>
                <a:cubicBezTo>
                  <a:pt x="174777" y="164231"/>
                  <a:pt x="186226" y="164231"/>
                  <a:pt x="193276" y="157181"/>
                </a:cubicBezTo>
                <a:lnTo>
                  <a:pt x="265466" y="84992"/>
                </a:lnTo>
                <a:close/>
              </a:path>
            </a:pathLst>
          </a:custGeom>
          <a:solidFill>
            <a:srgbClr val="5E6D55"/>
          </a:solidFill>
          <a:ln/>
        </p:spPr>
      </p:sp>
      <p:sp>
        <p:nvSpPr>
          <p:cNvPr id="27" name="Text 24"/>
          <p:cNvSpPr/>
          <p:nvPr/>
        </p:nvSpPr>
        <p:spPr>
          <a:xfrm>
            <a:off x="9253622" y="5918119"/>
            <a:ext cx="2494547" cy="320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74" b="1" dirty="0">
                <a:solidFill>
                  <a:srgbClr val="EAEC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+25%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289716" y="6303130"/>
            <a:ext cx="2422358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Growth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20842" y="7210764"/>
            <a:ext cx="11550316" cy="5347"/>
          </a:xfrm>
          <a:custGeom>
            <a:avLst/>
            <a:gdLst/>
            <a:ahLst/>
            <a:cxnLst/>
            <a:rect l="l" t="t" r="r" b="b"/>
            <a:pathLst>
              <a:path w="11550316" h="5347">
                <a:moveTo>
                  <a:pt x="0" y="0"/>
                </a:moveTo>
                <a:lnTo>
                  <a:pt x="11550316" y="0"/>
                </a:lnTo>
                <a:lnTo>
                  <a:pt x="11550316" y="5347"/>
                </a:lnTo>
                <a:lnTo>
                  <a:pt x="0" y="5347"/>
                </a:lnTo>
                <a:lnTo>
                  <a:pt x="0" y="0"/>
                </a:lnTo>
                <a:close/>
              </a:path>
            </a:pathLst>
          </a:custGeom>
          <a:solidFill>
            <a:srgbClr val="5E6D55">
              <a:alpha val="4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40895" y="7534275"/>
            <a:ext cx="160421" cy="160421"/>
          </a:xfrm>
          <a:custGeom>
            <a:avLst/>
            <a:gdLst/>
            <a:ahLst/>
            <a:cxnLst/>
            <a:rect l="l" t="t" r="r" b="b"/>
            <a:pathLst>
              <a:path w="160421" h="160421">
                <a:moveTo>
                  <a:pt x="15039" y="20053"/>
                </a:moveTo>
                <a:cubicBezTo>
                  <a:pt x="6736" y="20053"/>
                  <a:pt x="0" y="26789"/>
                  <a:pt x="0" y="35092"/>
                </a:cubicBezTo>
                <a:cubicBezTo>
                  <a:pt x="0" y="39823"/>
                  <a:pt x="2225" y="44272"/>
                  <a:pt x="6016" y="47124"/>
                </a:cubicBezTo>
                <a:lnTo>
                  <a:pt x="71187" y="96002"/>
                </a:lnTo>
                <a:cubicBezTo>
                  <a:pt x="76545" y="100013"/>
                  <a:pt x="83876" y="100013"/>
                  <a:pt x="89234" y="96002"/>
                </a:cubicBezTo>
                <a:lnTo>
                  <a:pt x="154405" y="47124"/>
                </a:lnTo>
                <a:cubicBezTo>
                  <a:pt x="158196" y="44272"/>
                  <a:pt x="160421" y="39823"/>
                  <a:pt x="160421" y="35092"/>
                </a:cubicBezTo>
                <a:cubicBezTo>
                  <a:pt x="160421" y="26789"/>
                  <a:pt x="153685" y="20053"/>
                  <a:pt x="145382" y="20053"/>
                </a:cubicBezTo>
                <a:lnTo>
                  <a:pt x="15039" y="20053"/>
                </a:lnTo>
                <a:close/>
                <a:moveTo>
                  <a:pt x="0" y="61411"/>
                </a:moveTo>
                <a:lnTo>
                  <a:pt x="0" y="120316"/>
                </a:lnTo>
                <a:cubicBezTo>
                  <a:pt x="0" y="131376"/>
                  <a:pt x="8992" y="140368"/>
                  <a:pt x="20053" y="140368"/>
                </a:cubicBezTo>
                <a:lnTo>
                  <a:pt x="140368" y="140368"/>
                </a:lnTo>
                <a:cubicBezTo>
                  <a:pt x="151429" y="140368"/>
                  <a:pt x="160421" y="131376"/>
                  <a:pt x="160421" y="120316"/>
                </a:cubicBezTo>
                <a:lnTo>
                  <a:pt x="160421" y="61411"/>
                </a:lnTo>
                <a:lnTo>
                  <a:pt x="98258" y="108034"/>
                </a:lnTo>
                <a:cubicBezTo>
                  <a:pt x="87574" y="116055"/>
                  <a:pt x="72847" y="116055"/>
                  <a:pt x="62163" y="108034"/>
                </a:cubicBezTo>
                <a:lnTo>
                  <a:pt x="0" y="61411"/>
                </a:lnTo>
                <a:close/>
              </a:path>
            </a:pathLst>
          </a:custGeom>
          <a:solidFill>
            <a:srgbClr val="A99A8D"/>
          </a:solidFill>
          <a:ln/>
        </p:spPr>
      </p:sp>
      <p:sp>
        <p:nvSpPr>
          <p:cNvPr id="31" name="Text 28"/>
          <p:cNvSpPr/>
          <p:nvPr/>
        </p:nvSpPr>
        <p:spPr>
          <a:xfrm>
            <a:off x="617621" y="7502191"/>
            <a:ext cx="3112168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AECE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for questions or implementation support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203114" y="7405938"/>
            <a:ext cx="1668379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37" dirty="0">
                <a:solidFill>
                  <a:srgbClr val="5E6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Analytics Team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211135" y="7630528"/>
            <a:ext cx="1660358" cy="19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11" dirty="0">
                <a:solidFill>
                  <a:srgbClr val="EAECE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January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Customer Shopping Behavior Analysis</dc:subject>
  <dc:creator>Kimi</dc:creator>
  <cp:lastModifiedBy>Kimi</cp:lastModifiedBy>
  <cp:revision>1</cp:revision>
  <dcterms:created xsi:type="dcterms:W3CDTF">2026-01-08T19:40:12Z</dcterms:created>
  <dcterms:modified xsi:type="dcterms:W3CDTF">2026-01-08T19:40:12Z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{"Label":"Customer Shopping Behavior Analysis","ContentProducer":"001191110108MACG2KBH8F10000","ProduceID":"19b9f19f-e722-8780-8000-000082f01b41","ReservedCode1":"","ContentPropagator":"001191110108MACG2KBH8F20000","PropagateID":"19b9f19f-e722-8780-8000-000082f01b41","ReservedCode2":""}</vt:lpwstr>
  </property>
</Properties>
</file>